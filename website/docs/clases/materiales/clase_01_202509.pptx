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257"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259" r:id="rId42"/>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4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36" autoAdjust="0"/>
    <p:restoredTop sz="94641" autoAdjust="0"/>
  </p:normalViewPr>
  <p:slideViewPr>
    <p:cSldViewPr snapToGrid="0">
      <p:cViewPr varScale="1">
        <p:scale>
          <a:sx n="105" d="100"/>
          <a:sy n="105" d="100"/>
        </p:scale>
        <p:origin x="85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7A4FEA-396E-4C76-A50A-D9C299A8C439}"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2D10DAD0-1221-4426-99EF-6C51E58E0030}">
      <dgm:prSet phldrT="[Texto]"/>
      <dgm:spPr/>
      <dgm:t>
        <a:bodyPr/>
        <a:lstStyle/>
        <a:p>
          <a:r>
            <a:rPr lang="es-ES" dirty="0">
              <a:latin typeface="Calibri "/>
              <a:cs typeface="Poppins" panose="00000500000000000000" pitchFamily="2" charset="0"/>
            </a:rPr>
            <a:t>Población</a:t>
          </a:r>
          <a:endParaRPr lang="en-US" dirty="0">
            <a:latin typeface="Calibri "/>
            <a:cs typeface="Poppins" panose="00000500000000000000" pitchFamily="2" charset="0"/>
          </a:endParaRPr>
        </a:p>
      </dgm:t>
    </dgm:pt>
    <dgm:pt modelId="{FA4C995C-406B-4B02-B8FE-B84CE71E7404}" type="parTrans" cxnId="{2B0F3FBD-5F51-429C-B3AD-CFA1F628883E}">
      <dgm:prSet/>
      <dgm:spPr/>
      <dgm:t>
        <a:bodyPr/>
        <a:lstStyle/>
        <a:p>
          <a:endParaRPr lang="en-US">
            <a:latin typeface="Calibri "/>
            <a:cs typeface="Poppins" panose="00000500000000000000" pitchFamily="2" charset="0"/>
          </a:endParaRPr>
        </a:p>
      </dgm:t>
    </dgm:pt>
    <dgm:pt modelId="{F7495174-C840-480E-B4EB-289F626C3356}" type="sibTrans" cxnId="{2B0F3FBD-5F51-429C-B3AD-CFA1F628883E}">
      <dgm:prSet/>
      <dgm:spPr/>
      <dgm:t>
        <a:bodyPr/>
        <a:lstStyle/>
        <a:p>
          <a:endParaRPr lang="en-US">
            <a:latin typeface="Calibri "/>
            <a:cs typeface="Poppins" panose="00000500000000000000" pitchFamily="2" charset="0"/>
          </a:endParaRPr>
        </a:p>
      </dgm:t>
    </dgm:pt>
    <dgm:pt modelId="{3C910ACA-369B-4BED-A809-A2864ECF37F3}">
      <dgm:prSet phldrT="[Texto]"/>
      <dgm:spPr/>
      <dgm:t>
        <a:bodyPr/>
        <a:lstStyle/>
        <a:p>
          <a:r>
            <a:rPr lang="es-ES" dirty="0">
              <a:latin typeface="Calibri "/>
              <a:cs typeface="Poppins" panose="00000500000000000000" pitchFamily="2" charset="0"/>
            </a:rPr>
            <a:t>En edad de trabajar</a:t>
          </a:r>
          <a:endParaRPr lang="en-US" dirty="0">
            <a:latin typeface="Calibri "/>
            <a:cs typeface="Poppins" panose="00000500000000000000" pitchFamily="2" charset="0"/>
          </a:endParaRPr>
        </a:p>
      </dgm:t>
    </dgm:pt>
    <dgm:pt modelId="{4F52BD6E-A756-4C0F-89C0-DEBE7B752F59}" type="parTrans" cxnId="{33134190-7E28-4BF4-A694-041257B97E0F}">
      <dgm:prSet/>
      <dgm:spPr/>
      <dgm:t>
        <a:bodyPr/>
        <a:lstStyle/>
        <a:p>
          <a:endParaRPr lang="en-US">
            <a:latin typeface="Calibri "/>
            <a:cs typeface="Poppins" panose="00000500000000000000" pitchFamily="2" charset="0"/>
          </a:endParaRPr>
        </a:p>
      </dgm:t>
    </dgm:pt>
    <dgm:pt modelId="{00EE34A5-900A-4C22-9ABF-D87D77EDDFCC}" type="sibTrans" cxnId="{33134190-7E28-4BF4-A694-041257B97E0F}">
      <dgm:prSet/>
      <dgm:spPr/>
      <dgm:t>
        <a:bodyPr/>
        <a:lstStyle/>
        <a:p>
          <a:endParaRPr lang="en-US">
            <a:latin typeface="Calibri "/>
            <a:cs typeface="Poppins" panose="00000500000000000000" pitchFamily="2" charset="0"/>
          </a:endParaRPr>
        </a:p>
      </dgm:t>
    </dgm:pt>
    <dgm:pt modelId="{B591D1B6-584B-4361-8023-6B1306455B35}">
      <dgm:prSet phldrT="[Texto]"/>
      <dgm:spPr/>
      <dgm:t>
        <a:bodyPr/>
        <a:lstStyle/>
        <a:p>
          <a:r>
            <a:rPr lang="es-ES" dirty="0">
              <a:latin typeface="Calibri "/>
              <a:cs typeface="Poppins" panose="00000500000000000000" pitchFamily="2" charset="0"/>
            </a:rPr>
            <a:t>Inactivos</a:t>
          </a:r>
          <a:endParaRPr lang="en-US" dirty="0">
            <a:latin typeface="Calibri "/>
            <a:cs typeface="Poppins" panose="00000500000000000000" pitchFamily="2" charset="0"/>
          </a:endParaRPr>
        </a:p>
      </dgm:t>
    </dgm:pt>
    <dgm:pt modelId="{1294673B-5640-45F7-A234-8ABEF9ECF689}" type="parTrans" cxnId="{B4F9A354-353C-4A8C-B530-CAD1874E92A3}">
      <dgm:prSet/>
      <dgm:spPr/>
      <dgm:t>
        <a:bodyPr/>
        <a:lstStyle/>
        <a:p>
          <a:endParaRPr lang="en-US">
            <a:latin typeface="Calibri "/>
            <a:cs typeface="Poppins" panose="00000500000000000000" pitchFamily="2" charset="0"/>
          </a:endParaRPr>
        </a:p>
      </dgm:t>
    </dgm:pt>
    <dgm:pt modelId="{C9FB671E-A150-4587-AA8F-9CC19FA452AD}" type="sibTrans" cxnId="{B4F9A354-353C-4A8C-B530-CAD1874E92A3}">
      <dgm:prSet/>
      <dgm:spPr/>
      <dgm:t>
        <a:bodyPr/>
        <a:lstStyle/>
        <a:p>
          <a:endParaRPr lang="en-US">
            <a:latin typeface="Calibri "/>
            <a:cs typeface="Poppins" panose="00000500000000000000" pitchFamily="2" charset="0"/>
          </a:endParaRPr>
        </a:p>
      </dgm:t>
    </dgm:pt>
    <dgm:pt modelId="{3717BA83-5CAF-4B01-8342-1236EACFCE4A}">
      <dgm:prSet phldrT="[Texto]"/>
      <dgm:spPr/>
      <dgm:t>
        <a:bodyPr/>
        <a:lstStyle/>
        <a:p>
          <a:r>
            <a:rPr lang="es-ES" dirty="0">
              <a:latin typeface="Calibri "/>
              <a:cs typeface="Poppins" panose="00000500000000000000" pitchFamily="2" charset="0"/>
            </a:rPr>
            <a:t>Fuerza de trabajo</a:t>
          </a:r>
          <a:endParaRPr lang="en-US" dirty="0">
            <a:latin typeface="Calibri "/>
            <a:cs typeface="Poppins" panose="00000500000000000000" pitchFamily="2" charset="0"/>
          </a:endParaRPr>
        </a:p>
      </dgm:t>
    </dgm:pt>
    <dgm:pt modelId="{C8AAD7E0-CD11-4ECA-9AC5-03320D7DC7A9}" type="parTrans" cxnId="{4194AE5A-9923-4FE1-A638-90A913A3A0F9}">
      <dgm:prSet/>
      <dgm:spPr/>
      <dgm:t>
        <a:bodyPr/>
        <a:lstStyle/>
        <a:p>
          <a:endParaRPr lang="en-US">
            <a:latin typeface="Calibri "/>
            <a:cs typeface="Poppins" panose="00000500000000000000" pitchFamily="2" charset="0"/>
          </a:endParaRPr>
        </a:p>
      </dgm:t>
    </dgm:pt>
    <dgm:pt modelId="{89DA86E1-A5E0-4883-A8C9-BE2E9BDDD2B4}" type="sibTrans" cxnId="{4194AE5A-9923-4FE1-A638-90A913A3A0F9}">
      <dgm:prSet/>
      <dgm:spPr/>
      <dgm:t>
        <a:bodyPr/>
        <a:lstStyle/>
        <a:p>
          <a:endParaRPr lang="en-US">
            <a:latin typeface="Calibri "/>
            <a:cs typeface="Poppins" panose="00000500000000000000" pitchFamily="2" charset="0"/>
          </a:endParaRPr>
        </a:p>
      </dgm:t>
    </dgm:pt>
    <dgm:pt modelId="{C4ADF148-E15C-4766-A8DB-9F947671C8E6}">
      <dgm:prSet phldrT="[Texto]"/>
      <dgm:spPr/>
      <dgm:t>
        <a:bodyPr/>
        <a:lstStyle/>
        <a:p>
          <a:r>
            <a:rPr lang="es-ES" dirty="0">
              <a:latin typeface="Calibri "/>
              <a:cs typeface="Poppins" panose="00000500000000000000" pitchFamily="2" charset="0"/>
            </a:rPr>
            <a:t>Ocupados</a:t>
          </a:r>
          <a:endParaRPr lang="en-US" dirty="0">
            <a:latin typeface="Calibri "/>
            <a:cs typeface="Poppins" panose="00000500000000000000" pitchFamily="2" charset="0"/>
          </a:endParaRPr>
        </a:p>
      </dgm:t>
    </dgm:pt>
    <dgm:pt modelId="{6EF51542-CF02-44F3-B1E9-7B47596D9FA0}" type="parTrans" cxnId="{2AAB16FB-5F8C-49B7-98BB-947BFEFC3277}">
      <dgm:prSet/>
      <dgm:spPr/>
      <dgm:t>
        <a:bodyPr/>
        <a:lstStyle/>
        <a:p>
          <a:endParaRPr lang="en-US">
            <a:latin typeface="Calibri "/>
            <a:cs typeface="Poppins" panose="00000500000000000000" pitchFamily="2" charset="0"/>
          </a:endParaRPr>
        </a:p>
      </dgm:t>
    </dgm:pt>
    <dgm:pt modelId="{ABF5AAB3-DF8A-421B-9725-50E132525B53}" type="sibTrans" cxnId="{2AAB16FB-5F8C-49B7-98BB-947BFEFC3277}">
      <dgm:prSet/>
      <dgm:spPr/>
      <dgm:t>
        <a:bodyPr/>
        <a:lstStyle/>
        <a:p>
          <a:endParaRPr lang="en-US">
            <a:latin typeface="Calibri "/>
            <a:cs typeface="Poppins" panose="00000500000000000000" pitchFamily="2" charset="0"/>
          </a:endParaRPr>
        </a:p>
      </dgm:t>
    </dgm:pt>
    <dgm:pt modelId="{10EE5DD0-DA03-473F-A6D2-AAA247E744AE}">
      <dgm:prSet phldrT="[Texto]"/>
      <dgm:spPr/>
      <dgm:t>
        <a:bodyPr/>
        <a:lstStyle/>
        <a:p>
          <a:r>
            <a:rPr lang="es-ES" dirty="0">
              <a:latin typeface="Calibri "/>
              <a:cs typeface="Poppins" panose="00000500000000000000" pitchFamily="2" charset="0"/>
            </a:rPr>
            <a:t>Desocupados</a:t>
          </a:r>
          <a:endParaRPr lang="en-US" dirty="0">
            <a:latin typeface="Calibri "/>
            <a:cs typeface="Poppins" panose="00000500000000000000" pitchFamily="2" charset="0"/>
          </a:endParaRPr>
        </a:p>
      </dgm:t>
    </dgm:pt>
    <dgm:pt modelId="{4090EDE9-F91E-4254-A140-6B46E7251E85}" type="parTrans" cxnId="{E2EC4C00-433B-42DB-95AE-35FF5FEF3825}">
      <dgm:prSet/>
      <dgm:spPr/>
      <dgm:t>
        <a:bodyPr/>
        <a:lstStyle/>
        <a:p>
          <a:endParaRPr lang="en-US">
            <a:latin typeface="Calibri "/>
            <a:cs typeface="Poppins" panose="00000500000000000000" pitchFamily="2" charset="0"/>
          </a:endParaRPr>
        </a:p>
      </dgm:t>
    </dgm:pt>
    <dgm:pt modelId="{1F271563-037A-4724-8ECC-D2AD0167B58B}" type="sibTrans" cxnId="{E2EC4C00-433B-42DB-95AE-35FF5FEF3825}">
      <dgm:prSet/>
      <dgm:spPr/>
      <dgm:t>
        <a:bodyPr/>
        <a:lstStyle/>
        <a:p>
          <a:endParaRPr lang="en-US">
            <a:latin typeface="Calibri "/>
            <a:cs typeface="Poppins" panose="00000500000000000000" pitchFamily="2" charset="0"/>
          </a:endParaRPr>
        </a:p>
      </dgm:t>
    </dgm:pt>
    <dgm:pt modelId="{329F9D95-1514-4B6E-BB74-F43EB1618943}">
      <dgm:prSet phldrT="[Texto]"/>
      <dgm:spPr/>
      <dgm:t>
        <a:bodyPr/>
        <a:lstStyle/>
        <a:p>
          <a:r>
            <a:rPr lang="es-ES" dirty="0">
              <a:latin typeface="Calibri "/>
              <a:cs typeface="Poppins" panose="00000500000000000000" pitchFamily="2" charset="0"/>
            </a:rPr>
            <a:t>Cesantes</a:t>
          </a:r>
          <a:endParaRPr lang="en-US" dirty="0">
            <a:latin typeface="Calibri "/>
            <a:cs typeface="Poppins" panose="00000500000000000000" pitchFamily="2" charset="0"/>
          </a:endParaRPr>
        </a:p>
      </dgm:t>
    </dgm:pt>
    <dgm:pt modelId="{1875B888-0E23-4E81-8664-101522486705}" type="parTrans" cxnId="{330ED3BC-E226-4CF6-9B67-C67F394F9B61}">
      <dgm:prSet/>
      <dgm:spPr/>
      <dgm:t>
        <a:bodyPr/>
        <a:lstStyle/>
        <a:p>
          <a:endParaRPr lang="en-US">
            <a:latin typeface="Calibri "/>
            <a:cs typeface="Poppins" panose="00000500000000000000" pitchFamily="2" charset="0"/>
          </a:endParaRPr>
        </a:p>
      </dgm:t>
    </dgm:pt>
    <dgm:pt modelId="{AC57FC6F-FB9E-4241-B854-65AA1AC84BE1}" type="sibTrans" cxnId="{330ED3BC-E226-4CF6-9B67-C67F394F9B61}">
      <dgm:prSet/>
      <dgm:spPr/>
      <dgm:t>
        <a:bodyPr/>
        <a:lstStyle/>
        <a:p>
          <a:endParaRPr lang="en-US">
            <a:latin typeface="Calibri "/>
            <a:cs typeface="Poppins" panose="00000500000000000000" pitchFamily="2" charset="0"/>
          </a:endParaRPr>
        </a:p>
      </dgm:t>
    </dgm:pt>
    <dgm:pt modelId="{C040B84B-08B0-4932-AF24-38FA32CC5028}">
      <dgm:prSet phldrT="[Texto]"/>
      <dgm:spPr/>
      <dgm:t>
        <a:bodyPr/>
        <a:lstStyle/>
        <a:p>
          <a:r>
            <a:rPr lang="es-ES" dirty="0">
              <a:latin typeface="Calibri "/>
              <a:cs typeface="Poppins" panose="00000500000000000000" pitchFamily="2" charset="0"/>
            </a:rPr>
            <a:t>Trabajo por primera vez</a:t>
          </a:r>
          <a:endParaRPr lang="en-US" dirty="0">
            <a:latin typeface="Calibri "/>
            <a:cs typeface="Poppins" panose="00000500000000000000" pitchFamily="2" charset="0"/>
          </a:endParaRPr>
        </a:p>
      </dgm:t>
    </dgm:pt>
    <dgm:pt modelId="{C2BFE401-47A4-4F1A-8DAE-2CB5FF48D83F}" type="parTrans" cxnId="{140BBD2B-4284-426B-B9DB-91535C38EE43}">
      <dgm:prSet/>
      <dgm:spPr/>
      <dgm:t>
        <a:bodyPr/>
        <a:lstStyle/>
        <a:p>
          <a:endParaRPr lang="en-US">
            <a:latin typeface="Calibri "/>
            <a:cs typeface="Poppins" panose="00000500000000000000" pitchFamily="2" charset="0"/>
          </a:endParaRPr>
        </a:p>
      </dgm:t>
    </dgm:pt>
    <dgm:pt modelId="{856F9A66-3E91-43DB-84E3-34BA014BEBF5}" type="sibTrans" cxnId="{140BBD2B-4284-426B-B9DB-91535C38EE43}">
      <dgm:prSet/>
      <dgm:spPr/>
      <dgm:t>
        <a:bodyPr/>
        <a:lstStyle/>
        <a:p>
          <a:endParaRPr lang="en-US">
            <a:latin typeface="Calibri "/>
            <a:cs typeface="Poppins" panose="00000500000000000000" pitchFamily="2" charset="0"/>
          </a:endParaRPr>
        </a:p>
      </dgm:t>
    </dgm:pt>
    <dgm:pt modelId="{7174C274-B652-4BD3-9DAA-0B281E27BBEB}">
      <dgm:prSet phldrT="[Texto]"/>
      <dgm:spPr/>
      <dgm:t>
        <a:bodyPr/>
        <a:lstStyle/>
        <a:p>
          <a:r>
            <a:rPr lang="es-ES" dirty="0">
              <a:latin typeface="Calibri "/>
              <a:cs typeface="Poppins" panose="00000500000000000000" pitchFamily="2" charset="0"/>
            </a:rPr>
            <a:t>No en edad de trabajar</a:t>
          </a:r>
          <a:endParaRPr lang="en-US" dirty="0">
            <a:latin typeface="Calibri "/>
            <a:cs typeface="Poppins" panose="00000500000000000000" pitchFamily="2" charset="0"/>
          </a:endParaRPr>
        </a:p>
      </dgm:t>
    </dgm:pt>
    <dgm:pt modelId="{63EA4FBE-3308-469C-908A-E5F555EEA065}" type="parTrans" cxnId="{22DBC162-0AB6-4D3C-BB7C-FF1BAC2C0B31}">
      <dgm:prSet/>
      <dgm:spPr/>
      <dgm:t>
        <a:bodyPr/>
        <a:lstStyle/>
        <a:p>
          <a:endParaRPr lang="en-US">
            <a:latin typeface="Calibri "/>
            <a:cs typeface="Poppins" panose="00000500000000000000" pitchFamily="2" charset="0"/>
          </a:endParaRPr>
        </a:p>
      </dgm:t>
    </dgm:pt>
    <dgm:pt modelId="{5C982961-7467-472E-9E1C-D4A1CA4099AD}" type="sibTrans" cxnId="{22DBC162-0AB6-4D3C-BB7C-FF1BAC2C0B31}">
      <dgm:prSet/>
      <dgm:spPr/>
      <dgm:t>
        <a:bodyPr/>
        <a:lstStyle/>
        <a:p>
          <a:endParaRPr lang="en-US">
            <a:latin typeface="Calibri "/>
            <a:cs typeface="Poppins" panose="00000500000000000000" pitchFamily="2" charset="0"/>
          </a:endParaRPr>
        </a:p>
      </dgm:t>
    </dgm:pt>
    <dgm:pt modelId="{3C03077F-C42D-40D8-A036-98C8C39E49AB}" type="pres">
      <dgm:prSet presAssocID="{B87A4FEA-396E-4C76-A50A-D9C299A8C439}" presName="diagram" presStyleCnt="0">
        <dgm:presLayoutVars>
          <dgm:chPref val="1"/>
          <dgm:dir/>
          <dgm:animOne val="branch"/>
          <dgm:animLvl val="lvl"/>
          <dgm:resizeHandles val="exact"/>
        </dgm:presLayoutVars>
      </dgm:prSet>
      <dgm:spPr/>
    </dgm:pt>
    <dgm:pt modelId="{47C0BA3D-F85E-4F48-96C0-3EA839CC22CD}" type="pres">
      <dgm:prSet presAssocID="{2D10DAD0-1221-4426-99EF-6C51E58E0030}" presName="root1" presStyleCnt="0"/>
      <dgm:spPr/>
    </dgm:pt>
    <dgm:pt modelId="{DB94F06A-659B-4112-AABC-2D30049D8391}" type="pres">
      <dgm:prSet presAssocID="{2D10DAD0-1221-4426-99EF-6C51E58E0030}" presName="LevelOneTextNode" presStyleLbl="node0" presStyleIdx="0" presStyleCnt="1">
        <dgm:presLayoutVars>
          <dgm:chPref val="3"/>
        </dgm:presLayoutVars>
      </dgm:prSet>
      <dgm:spPr/>
    </dgm:pt>
    <dgm:pt modelId="{C3BBD397-AF92-4E10-A1F4-DF3B2BD854E4}" type="pres">
      <dgm:prSet presAssocID="{2D10DAD0-1221-4426-99EF-6C51E58E0030}" presName="level2hierChild" presStyleCnt="0"/>
      <dgm:spPr/>
    </dgm:pt>
    <dgm:pt modelId="{BB5A6292-D805-4A8B-9667-7A4448E4881E}" type="pres">
      <dgm:prSet presAssocID="{63EA4FBE-3308-469C-908A-E5F555EEA065}" presName="conn2-1" presStyleLbl="parChTrans1D2" presStyleIdx="0" presStyleCnt="2"/>
      <dgm:spPr/>
    </dgm:pt>
    <dgm:pt modelId="{93BE02D1-EA1D-4F1F-9623-B1FB4D425995}" type="pres">
      <dgm:prSet presAssocID="{63EA4FBE-3308-469C-908A-E5F555EEA065}" presName="connTx" presStyleLbl="parChTrans1D2" presStyleIdx="0" presStyleCnt="2"/>
      <dgm:spPr/>
    </dgm:pt>
    <dgm:pt modelId="{8E529B22-0069-4133-8CBF-77F4BD5B2EC1}" type="pres">
      <dgm:prSet presAssocID="{7174C274-B652-4BD3-9DAA-0B281E27BBEB}" presName="root2" presStyleCnt="0"/>
      <dgm:spPr/>
    </dgm:pt>
    <dgm:pt modelId="{397ABF13-F1F6-439E-8975-54A8D4BED0B1}" type="pres">
      <dgm:prSet presAssocID="{7174C274-B652-4BD3-9DAA-0B281E27BBEB}" presName="LevelTwoTextNode" presStyleLbl="node2" presStyleIdx="0" presStyleCnt="2">
        <dgm:presLayoutVars>
          <dgm:chPref val="3"/>
        </dgm:presLayoutVars>
      </dgm:prSet>
      <dgm:spPr/>
    </dgm:pt>
    <dgm:pt modelId="{D2BCE196-0638-497C-805C-5A097899BA91}" type="pres">
      <dgm:prSet presAssocID="{7174C274-B652-4BD3-9DAA-0B281E27BBEB}" presName="level3hierChild" presStyleCnt="0"/>
      <dgm:spPr/>
    </dgm:pt>
    <dgm:pt modelId="{9D267C8A-4CAD-4C23-94A7-9FDCBF9FED88}" type="pres">
      <dgm:prSet presAssocID="{4F52BD6E-A756-4C0F-89C0-DEBE7B752F59}" presName="conn2-1" presStyleLbl="parChTrans1D2" presStyleIdx="1" presStyleCnt="2"/>
      <dgm:spPr/>
    </dgm:pt>
    <dgm:pt modelId="{9B6E6BCD-75B1-4CBC-8B89-EC9DEFE6F184}" type="pres">
      <dgm:prSet presAssocID="{4F52BD6E-A756-4C0F-89C0-DEBE7B752F59}" presName="connTx" presStyleLbl="parChTrans1D2" presStyleIdx="1" presStyleCnt="2"/>
      <dgm:spPr/>
    </dgm:pt>
    <dgm:pt modelId="{3E89DCA6-79B0-4D4A-871A-2D26F0403101}" type="pres">
      <dgm:prSet presAssocID="{3C910ACA-369B-4BED-A809-A2864ECF37F3}" presName="root2" presStyleCnt="0"/>
      <dgm:spPr/>
    </dgm:pt>
    <dgm:pt modelId="{37E237F3-4BC8-424B-A684-003B0708F47D}" type="pres">
      <dgm:prSet presAssocID="{3C910ACA-369B-4BED-A809-A2864ECF37F3}" presName="LevelTwoTextNode" presStyleLbl="node2" presStyleIdx="1" presStyleCnt="2">
        <dgm:presLayoutVars>
          <dgm:chPref val="3"/>
        </dgm:presLayoutVars>
      </dgm:prSet>
      <dgm:spPr/>
    </dgm:pt>
    <dgm:pt modelId="{55475AEB-0A50-44B6-8AA6-B7F0AAC18BC9}" type="pres">
      <dgm:prSet presAssocID="{3C910ACA-369B-4BED-A809-A2864ECF37F3}" presName="level3hierChild" presStyleCnt="0"/>
      <dgm:spPr/>
    </dgm:pt>
    <dgm:pt modelId="{671943EA-9CAB-4E7E-A49D-F7A145A544FE}" type="pres">
      <dgm:prSet presAssocID="{1294673B-5640-45F7-A234-8ABEF9ECF689}" presName="conn2-1" presStyleLbl="parChTrans1D3" presStyleIdx="0" presStyleCnt="2"/>
      <dgm:spPr/>
    </dgm:pt>
    <dgm:pt modelId="{CA07D490-C458-4CA2-B8A1-5574C90D1772}" type="pres">
      <dgm:prSet presAssocID="{1294673B-5640-45F7-A234-8ABEF9ECF689}" presName="connTx" presStyleLbl="parChTrans1D3" presStyleIdx="0" presStyleCnt="2"/>
      <dgm:spPr/>
    </dgm:pt>
    <dgm:pt modelId="{D5E97692-359E-44EB-80E0-D15DF360CB15}" type="pres">
      <dgm:prSet presAssocID="{B591D1B6-584B-4361-8023-6B1306455B35}" presName="root2" presStyleCnt="0"/>
      <dgm:spPr/>
    </dgm:pt>
    <dgm:pt modelId="{B9729D1C-EB89-4DD1-9120-B9C4EF52D68B}" type="pres">
      <dgm:prSet presAssocID="{B591D1B6-584B-4361-8023-6B1306455B35}" presName="LevelTwoTextNode" presStyleLbl="node3" presStyleIdx="0" presStyleCnt="2">
        <dgm:presLayoutVars>
          <dgm:chPref val="3"/>
        </dgm:presLayoutVars>
      </dgm:prSet>
      <dgm:spPr/>
    </dgm:pt>
    <dgm:pt modelId="{55C5C511-64AE-4638-AFCF-4DDB048C96EC}" type="pres">
      <dgm:prSet presAssocID="{B591D1B6-584B-4361-8023-6B1306455B35}" presName="level3hierChild" presStyleCnt="0"/>
      <dgm:spPr/>
    </dgm:pt>
    <dgm:pt modelId="{4368FE57-B963-414B-8A98-FF23F1F89DCF}" type="pres">
      <dgm:prSet presAssocID="{C8AAD7E0-CD11-4ECA-9AC5-03320D7DC7A9}" presName="conn2-1" presStyleLbl="parChTrans1D3" presStyleIdx="1" presStyleCnt="2"/>
      <dgm:spPr/>
    </dgm:pt>
    <dgm:pt modelId="{FD826F48-75D7-49AB-A60D-03EC188FAE34}" type="pres">
      <dgm:prSet presAssocID="{C8AAD7E0-CD11-4ECA-9AC5-03320D7DC7A9}" presName="connTx" presStyleLbl="parChTrans1D3" presStyleIdx="1" presStyleCnt="2"/>
      <dgm:spPr/>
    </dgm:pt>
    <dgm:pt modelId="{C7BE7B4E-6BAE-462D-B505-BB2ABB618B89}" type="pres">
      <dgm:prSet presAssocID="{3717BA83-5CAF-4B01-8342-1236EACFCE4A}" presName="root2" presStyleCnt="0"/>
      <dgm:spPr/>
    </dgm:pt>
    <dgm:pt modelId="{2BD23C33-F6C9-445B-BB16-E42A24B7ABC4}" type="pres">
      <dgm:prSet presAssocID="{3717BA83-5CAF-4B01-8342-1236EACFCE4A}" presName="LevelTwoTextNode" presStyleLbl="node3" presStyleIdx="1" presStyleCnt="2">
        <dgm:presLayoutVars>
          <dgm:chPref val="3"/>
        </dgm:presLayoutVars>
      </dgm:prSet>
      <dgm:spPr/>
    </dgm:pt>
    <dgm:pt modelId="{4B829CE9-F561-4073-BDD7-E7C0083B7C3B}" type="pres">
      <dgm:prSet presAssocID="{3717BA83-5CAF-4B01-8342-1236EACFCE4A}" presName="level3hierChild" presStyleCnt="0"/>
      <dgm:spPr/>
    </dgm:pt>
    <dgm:pt modelId="{62F0C892-7A86-4B01-AE2C-820F5BA87F3C}" type="pres">
      <dgm:prSet presAssocID="{6EF51542-CF02-44F3-B1E9-7B47596D9FA0}" presName="conn2-1" presStyleLbl="parChTrans1D4" presStyleIdx="0" presStyleCnt="4"/>
      <dgm:spPr/>
    </dgm:pt>
    <dgm:pt modelId="{65ABB6FD-2988-4E90-8A53-ED7ED8AD2CCA}" type="pres">
      <dgm:prSet presAssocID="{6EF51542-CF02-44F3-B1E9-7B47596D9FA0}" presName="connTx" presStyleLbl="parChTrans1D4" presStyleIdx="0" presStyleCnt="4"/>
      <dgm:spPr/>
    </dgm:pt>
    <dgm:pt modelId="{FE3888B6-FB77-4046-B83D-49748D7275E9}" type="pres">
      <dgm:prSet presAssocID="{C4ADF148-E15C-4766-A8DB-9F947671C8E6}" presName="root2" presStyleCnt="0"/>
      <dgm:spPr/>
    </dgm:pt>
    <dgm:pt modelId="{9DBBD673-E192-4B43-A9CF-315AB2F25E19}" type="pres">
      <dgm:prSet presAssocID="{C4ADF148-E15C-4766-A8DB-9F947671C8E6}" presName="LevelTwoTextNode" presStyleLbl="node4" presStyleIdx="0" presStyleCnt="4">
        <dgm:presLayoutVars>
          <dgm:chPref val="3"/>
        </dgm:presLayoutVars>
      </dgm:prSet>
      <dgm:spPr/>
    </dgm:pt>
    <dgm:pt modelId="{C5BDFEFB-9D9C-455C-8054-2EA2AF2BAA9D}" type="pres">
      <dgm:prSet presAssocID="{C4ADF148-E15C-4766-A8DB-9F947671C8E6}" presName="level3hierChild" presStyleCnt="0"/>
      <dgm:spPr/>
    </dgm:pt>
    <dgm:pt modelId="{707DCEAC-BBA6-4375-B777-DC46DA384EE7}" type="pres">
      <dgm:prSet presAssocID="{4090EDE9-F91E-4254-A140-6B46E7251E85}" presName="conn2-1" presStyleLbl="parChTrans1D4" presStyleIdx="1" presStyleCnt="4"/>
      <dgm:spPr/>
    </dgm:pt>
    <dgm:pt modelId="{F4163593-08C6-4A62-944D-9796E0760C48}" type="pres">
      <dgm:prSet presAssocID="{4090EDE9-F91E-4254-A140-6B46E7251E85}" presName="connTx" presStyleLbl="parChTrans1D4" presStyleIdx="1" presStyleCnt="4"/>
      <dgm:spPr/>
    </dgm:pt>
    <dgm:pt modelId="{5FD80272-7A29-4A7B-B090-A029407F7F6B}" type="pres">
      <dgm:prSet presAssocID="{10EE5DD0-DA03-473F-A6D2-AAA247E744AE}" presName="root2" presStyleCnt="0"/>
      <dgm:spPr/>
    </dgm:pt>
    <dgm:pt modelId="{4C5D5365-EF87-400F-81F8-736E020C9F7F}" type="pres">
      <dgm:prSet presAssocID="{10EE5DD0-DA03-473F-A6D2-AAA247E744AE}" presName="LevelTwoTextNode" presStyleLbl="node4" presStyleIdx="1" presStyleCnt="4">
        <dgm:presLayoutVars>
          <dgm:chPref val="3"/>
        </dgm:presLayoutVars>
      </dgm:prSet>
      <dgm:spPr/>
    </dgm:pt>
    <dgm:pt modelId="{DDB96889-CED6-4D76-91C7-76AD4666A153}" type="pres">
      <dgm:prSet presAssocID="{10EE5DD0-DA03-473F-A6D2-AAA247E744AE}" presName="level3hierChild" presStyleCnt="0"/>
      <dgm:spPr/>
    </dgm:pt>
    <dgm:pt modelId="{C22806E8-886D-440F-8B3A-107BEDFF0122}" type="pres">
      <dgm:prSet presAssocID="{1875B888-0E23-4E81-8664-101522486705}" presName="conn2-1" presStyleLbl="parChTrans1D4" presStyleIdx="2" presStyleCnt="4"/>
      <dgm:spPr/>
    </dgm:pt>
    <dgm:pt modelId="{EA2DAA9A-64E2-44BC-B7C6-F3334CA1FAEA}" type="pres">
      <dgm:prSet presAssocID="{1875B888-0E23-4E81-8664-101522486705}" presName="connTx" presStyleLbl="parChTrans1D4" presStyleIdx="2" presStyleCnt="4"/>
      <dgm:spPr/>
    </dgm:pt>
    <dgm:pt modelId="{D64AC64D-CC38-458D-9F03-C5D366522535}" type="pres">
      <dgm:prSet presAssocID="{329F9D95-1514-4B6E-BB74-F43EB1618943}" presName="root2" presStyleCnt="0"/>
      <dgm:spPr/>
    </dgm:pt>
    <dgm:pt modelId="{F7E1BA60-5D19-499D-A985-22720067F386}" type="pres">
      <dgm:prSet presAssocID="{329F9D95-1514-4B6E-BB74-F43EB1618943}" presName="LevelTwoTextNode" presStyleLbl="node4" presStyleIdx="2" presStyleCnt="4">
        <dgm:presLayoutVars>
          <dgm:chPref val="3"/>
        </dgm:presLayoutVars>
      </dgm:prSet>
      <dgm:spPr/>
    </dgm:pt>
    <dgm:pt modelId="{C1A1A024-2121-4248-94F7-BF39BCD58145}" type="pres">
      <dgm:prSet presAssocID="{329F9D95-1514-4B6E-BB74-F43EB1618943}" presName="level3hierChild" presStyleCnt="0"/>
      <dgm:spPr/>
    </dgm:pt>
    <dgm:pt modelId="{4E8DA6E3-03D7-4296-9F72-6EA8E834CB17}" type="pres">
      <dgm:prSet presAssocID="{C2BFE401-47A4-4F1A-8DAE-2CB5FF48D83F}" presName="conn2-1" presStyleLbl="parChTrans1D4" presStyleIdx="3" presStyleCnt="4"/>
      <dgm:spPr/>
    </dgm:pt>
    <dgm:pt modelId="{2C4FE83F-A055-49F3-8EF5-53D3D048B35B}" type="pres">
      <dgm:prSet presAssocID="{C2BFE401-47A4-4F1A-8DAE-2CB5FF48D83F}" presName="connTx" presStyleLbl="parChTrans1D4" presStyleIdx="3" presStyleCnt="4"/>
      <dgm:spPr/>
    </dgm:pt>
    <dgm:pt modelId="{FD4C4B14-39BF-4B7F-941E-572B8B34A8FB}" type="pres">
      <dgm:prSet presAssocID="{C040B84B-08B0-4932-AF24-38FA32CC5028}" presName="root2" presStyleCnt="0"/>
      <dgm:spPr/>
    </dgm:pt>
    <dgm:pt modelId="{F243758D-87DF-4DD8-B80B-93A58B7B5B48}" type="pres">
      <dgm:prSet presAssocID="{C040B84B-08B0-4932-AF24-38FA32CC5028}" presName="LevelTwoTextNode" presStyleLbl="node4" presStyleIdx="3" presStyleCnt="4">
        <dgm:presLayoutVars>
          <dgm:chPref val="3"/>
        </dgm:presLayoutVars>
      </dgm:prSet>
      <dgm:spPr/>
    </dgm:pt>
    <dgm:pt modelId="{BF7A6BA2-EC30-44DB-A15D-70BD61A670ED}" type="pres">
      <dgm:prSet presAssocID="{C040B84B-08B0-4932-AF24-38FA32CC5028}" presName="level3hierChild" presStyleCnt="0"/>
      <dgm:spPr/>
    </dgm:pt>
  </dgm:ptLst>
  <dgm:cxnLst>
    <dgm:cxn modelId="{BADC1D00-1D60-4D67-B51A-EF5049AED99F}" type="presOf" srcId="{B87A4FEA-396E-4C76-A50A-D9C299A8C439}" destId="{3C03077F-C42D-40D8-A036-98C8C39E49AB}" srcOrd="0" destOrd="0" presId="urn:microsoft.com/office/officeart/2005/8/layout/hierarchy2"/>
    <dgm:cxn modelId="{E2EC4C00-433B-42DB-95AE-35FF5FEF3825}" srcId="{3717BA83-5CAF-4B01-8342-1236EACFCE4A}" destId="{10EE5DD0-DA03-473F-A6D2-AAA247E744AE}" srcOrd="1" destOrd="0" parTransId="{4090EDE9-F91E-4254-A140-6B46E7251E85}" sibTransId="{1F271563-037A-4724-8ECC-D2AD0167B58B}"/>
    <dgm:cxn modelId="{8885390A-8B3B-44C6-88F3-0EAF6531CC80}" type="presOf" srcId="{63EA4FBE-3308-469C-908A-E5F555EEA065}" destId="{BB5A6292-D805-4A8B-9667-7A4448E4881E}" srcOrd="0" destOrd="0" presId="urn:microsoft.com/office/officeart/2005/8/layout/hierarchy2"/>
    <dgm:cxn modelId="{F4AB920C-D129-4085-A8D1-341B8FA01007}" type="presOf" srcId="{C2BFE401-47A4-4F1A-8DAE-2CB5FF48D83F}" destId="{4E8DA6E3-03D7-4296-9F72-6EA8E834CB17}" srcOrd="0" destOrd="0" presId="urn:microsoft.com/office/officeart/2005/8/layout/hierarchy2"/>
    <dgm:cxn modelId="{41160A1E-FF8E-4542-9099-413C94BA4CF8}" type="presOf" srcId="{4090EDE9-F91E-4254-A140-6B46E7251E85}" destId="{707DCEAC-BBA6-4375-B777-DC46DA384EE7}" srcOrd="0" destOrd="0" presId="urn:microsoft.com/office/officeart/2005/8/layout/hierarchy2"/>
    <dgm:cxn modelId="{5994062B-786B-445B-94E1-A6A13ACD14B9}" type="presOf" srcId="{6EF51542-CF02-44F3-B1E9-7B47596D9FA0}" destId="{62F0C892-7A86-4B01-AE2C-820F5BA87F3C}" srcOrd="0" destOrd="0" presId="urn:microsoft.com/office/officeart/2005/8/layout/hierarchy2"/>
    <dgm:cxn modelId="{140BBD2B-4284-426B-B9DB-91535C38EE43}" srcId="{10EE5DD0-DA03-473F-A6D2-AAA247E744AE}" destId="{C040B84B-08B0-4932-AF24-38FA32CC5028}" srcOrd="1" destOrd="0" parTransId="{C2BFE401-47A4-4F1A-8DAE-2CB5FF48D83F}" sibTransId="{856F9A66-3E91-43DB-84E3-34BA014BEBF5}"/>
    <dgm:cxn modelId="{AC530B33-C2B9-483C-9953-0B57533FE69E}" type="presOf" srcId="{3717BA83-5CAF-4B01-8342-1236EACFCE4A}" destId="{2BD23C33-F6C9-445B-BB16-E42A24B7ABC4}" srcOrd="0" destOrd="0" presId="urn:microsoft.com/office/officeart/2005/8/layout/hierarchy2"/>
    <dgm:cxn modelId="{AE6E0239-5FAA-4D18-A134-7D1BDEFFCFD8}" type="presOf" srcId="{C8AAD7E0-CD11-4ECA-9AC5-03320D7DC7A9}" destId="{4368FE57-B963-414B-8A98-FF23F1F89DCF}" srcOrd="0" destOrd="0" presId="urn:microsoft.com/office/officeart/2005/8/layout/hierarchy2"/>
    <dgm:cxn modelId="{7B0FB45D-685B-4BC2-B776-8973FAE13FE5}" type="presOf" srcId="{63EA4FBE-3308-469C-908A-E5F555EEA065}" destId="{93BE02D1-EA1D-4F1F-9623-B1FB4D425995}" srcOrd="1" destOrd="0" presId="urn:microsoft.com/office/officeart/2005/8/layout/hierarchy2"/>
    <dgm:cxn modelId="{22DBC162-0AB6-4D3C-BB7C-FF1BAC2C0B31}" srcId="{2D10DAD0-1221-4426-99EF-6C51E58E0030}" destId="{7174C274-B652-4BD3-9DAA-0B281E27BBEB}" srcOrd="0" destOrd="0" parTransId="{63EA4FBE-3308-469C-908A-E5F555EEA065}" sibTransId="{5C982961-7467-472E-9E1C-D4A1CA4099AD}"/>
    <dgm:cxn modelId="{09D9AF6A-CFE5-43FA-91EB-90D18220EFB6}" type="presOf" srcId="{C2BFE401-47A4-4F1A-8DAE-2CB5FF48D83F}" destId="{2C4FE83F-A055-49F3-8EF5-53D3D048B35B}" srcOrd="1" destOrd="0" presId="urn:microsoft.com/office/officeart/2005/8/layout/hierarchy2"/>
    <dgm:cxn modelId="{6412A96D-4586-4682-BBF6-BB58D324AFAC}" type="presOf" srcId="{B591D1B6-584B-4361-8023-6B1306455B35}" destId="{B9729D1C-EB89-4DD1-9120-B9C4EF52D68B}" srcOrd="0" destOrd="0" presId="urn:microsoft.com/office/officeart/2005/8/layout/hierarchy2"/>
    <dgm:cxn modelId="{23AD3974-7088-425D-AAF1-9EB0D01C9D50}" type="presOf" srcId="{1294673B-5640-45F7-A234-8ABEF9ECF689}" destId="{671943EA-9CAB-4E7E-A49D-F7A145A544FE}" srcOrd="0" destOrd="0" presId="urn:microsoft.com/office/officeart/2005/8/layout/hierarchy2"/>
    <dgm:cxn modelId="{B4F9A354-353C-4A8C-B530-CAD1874E92A3}" srcId="{3C910ACA-369B-4BED-A809-A2864ECF37F3}" destId="{B591D1B6-584B-4361-8023-6B1306455B35}" srcOrd="0" destOrd="0" parTransId="{1294673B-5640-45F7-A234-8ABEF9ECF689}" sibTransId="{C9FB671E-A150-4587-AA8F-9CC19FA452AD}"/>
    <dgm:cxn modelId="{907D625A-1832-462B-91D5-0DDC7F9A53F1}" type="presOf" srcId="{4090EDE9-F91E-4254-A140-6B46E7251E85}" destId="{F4163593-08C6-4A62-944D-9796E0760C48}" srcOrd="1" destOrd="0" presId="urn:microsoft.com/office/officeart/2005/8/layout/hierarchy2"/>
    <dgm:cxn modelId="{4194AE5A-9923-4FE1-A638-90A913A3A0F9}" srcId="{3C910ACA-369B-4BED-A809-A2864ECF37F3}" destId="{3717BA83-5CAF-4B01-8342-1236EACFCE4A}" srcOrd="1" destOrd="0" parTransId="{C8AAD7E0-CD11-4ECA-9AC5-03320D7DC7A9}" sibTransId="{89DA86E1-A5E0-4883-A8C9-BE2E9BDDD2B4}"/>
    <dgm:cxn modelId="{5AB16B89-4EF5-40B2-BF0C-9C7EFF6F008B}" type="presOf" srcId="{6EF51542-CF02-44F3-B1E9-7B47596D9FA0}" destId="{65ABB6FD-2988-4E90-8A53-ED7ED8AD2CCA}" srcOrd="1" destOrd="0" presId="urn:microsoft.com/office/officeart/2005/8/layout/hierarchy2"/>
    <dgm:cxn modelId="{33134190-7E28-4BF4-A694-041257B97E0F}" srcId="{2D10DAD0-1221-4426-99EF-6C51E58E0030}" destId="{3C910ACA-369B-4BED-A809-A2864ECF37F3}" srcOrd="1" destOrd="0" parTransId="{4F52BD6E-A756-4C0F-89C0-DEBE7B752F59}" sibTransId="{00EE34A5-900A-4C22-9ABF-D87D77EDDFCC}"/>
    <dgm:cxn modelId="{C28E5F91-E4DE-4CFC-A17E-A59298D4D88F}" type="presOf" srcId="{1875B888-0E23-4E81-8664-101522486705}" destId="{EA2DAA9A-64E2-44BC-B7C6-F3334CA1FAEA}" srcOrd="1" destOrd="0" presId="urn:microsoft.com/office/officeart/2005/8/layout/hierarchy2"/>
    <dgm:cxn modelId="{83E67294-32C9-4580-9BF5-CF9A9150C36B}" type="presOf" srcId="{C8AAD7E0-CD11-4ECA-9AC5-03320D7DC7A9}" destId="{FD826F48-75D7-49AB-A60D-03EC188FAE34}" srcOrd="1" destOrd="0" presId="urn:microsoft.com/office/officeart/2005/8/layout/hierarchy2"/>
    <dgm:cxn modelId="{9EB4E1A1-ECA4-405A-B5D6-0D9B5BBD7963}" type="presOf" srcId="{1294673B-5640-45F7-A234-8ABEF9ECF689}" destId="{CA07D490-C458-4CA2-B8A1-5574C90D1772}" srcOrd="1" destOrd="0" presId="urn:microsoft.com/office/officeart/2005/8/layout/hierarchy2"/>
    <dgm:cxn modelId="{1DB644A7-0871-4243-B075-D176AA0728DB}" type="presOf" srcId="{329F9D95-1514-4B6E-BB74-F43EB1618943}" destId="{F7E1BA60-5D19-499D-A985-22720067F386}" srcOrd="0" destOrd="0" presId="urn:microsoft.com/office/officeart/2005/8/layout/hierarchy2"/>
    <dgm:cxn modelId="{6050FEA8-88E9-4ED2-A093-6FD6CFB7AA3A}" type="presOf" srcId="{1875B888-0E23-4E81-8664-101522486705}" destId="{C22806E8-886D-440F-8B3A-107BEDFF0122}" srcOrd="0" destOrd="0" presId="urn:microsoft.com/office/officeart/2005/8/layout/hierarchy2"/>
    <dgm:cxn modelId="{F38B0BAA-EF88-4486-BAE1-9FCBF1E4D2E3}" type="presOf" srcId="{C4ADF148-E15C-4766-A8DB-9F947671C8E6}" destId="{9DBBD673-E192-4B43-A9CF-315AB2F25E19}" srcOrd="0" destOrd="0" presId="urn:microsoft.com/office/officeart/2005/8/layout/hierarchy2"/>
    <dgm:cxn modelId="{A23455B2-EBCB-49CB-B64C-BEAC6AA0D4C2}" type="presOf" srcId="{7174C274-B652-4BD3-9DAA-0B281E27BBEB}" destId="{397ABF13-F1F6-439E-8975-54A8D4BED0B1}" srcOrd="0" destOrd="0" presId="urn:microsoft.com/office/officeart/2005/8/layout/hierarchy2"/>
    <dgm:cxn modelId="{81E0CCBB-B12C-4056-8722-065C98E08AE8}" type="presOf" srcId="{C040B84B-08B0-4932-AF24-38FA32CC5028}" destId="{F243758D-87DF-4DD8-B80B-93A58B7B5B48}" srcOrd="0" destOrd="0" presId="urn:microsoft.com/office/officeart/2005/8/layout/hierarchy2"/>
    <dgm:cxn modelId="{330ED3BC-E226-4CF6-9B67-C67F394F9B61}" srcId="{10EE5DD0-DA03-473F-A6D2-AAA247E744AE}" destId="{329F9D95-1514-4B6E-BB74-F43EB1618943}" srcOrd="0" destOrd="0" parTransId="{1875B888-0E23-4E81-8664-101522486705}" sibTransId="{AC57FC6F-FB9E-4241-B854-65AA1AC84BE1}"/>
    <dgm:cxn modelId="{2B0F3FBD-5F51-429C-B3AD-CFA1F628883E}" srcId="{B87A4FEA-396E-4C76-A50A-D9C299A8C439}" destId="{2D10DAD0-1221-4426-99EF-6C51E58E0030}" srcOrd="0" destOrd="0" parTransId="{FA4C995C-406B-4B02-B8FE-B84CE71E7404}" sibTransId="{F7495174-C840-480E-B4EB-289F626C3356}"/>
    <dgm:cxn modelId="{3BDB53D3-1D6D-4AA3-93FA-1B37260D714F}" type="presOf" srcId="{4F52BD6E-A756-4C0F-89C0-DEBE7B752F59}" destId="{9B6E6BCD-75B1-4CBC-8B89-EC9DEFE6F184}" srcOrd="1" destOrd="0" presId="urn:microsoft.com/office/officeart/2005/8/layout/hierarchy2"/>
    <dgm:cxn modelId="{C1C1A7DE-F0ED-4DEB-8A61-F13BF616EA09}" type="presOf" srcId="{2D10DAD0-1221-4426-99EF-6C51E58E0030}" destId="{DB94F06A-659B-4112-AABC-2D30049D8391}" srcOrd="0" destOrd="0" presId="urn:microsoft.com/office/officeart/2005/8/layout/hierarchy2"/>
    <dgm:cxn modelId="{ABB5B7E3-816C-4057-B871-C1579C949245}" type="presOf" srcId="{3C910ACA-369B-4BED-A809-A2864ECF37F3}" destId="{37E237F3-4BC8-424B-A684-003B0708F47D}" srcOrd="0" destOrd="0" presId="urn:microsoft.com/office/officeart/2005/8/layout/hierarchy2"/>
    <dgm:cxn modelId="{24629FFA-C6E2-4B6F-933C-2CAA400D703D}" type="presOf" srcId="{4F52BD6E-A756-4C0F-89C0-DEBE7B752F59}" destId="{9D267C8A-4CAD-4C23-94A7-9FDCBF9FED88}" srcOrd="0" destOrd="0" presId="urn:microsoft.com/office/officeart/2005/8/layout/hierarchy2"/>
    <dgm:cxn modelId="{2AAB16FB-5F8C-49B7-98BB-947BFEFC3277}" srcId="{3717BA83-5CAF-4B01-8342-1236EACFCE4A}" destId="{C4ADF148-E15C-4766-A8DB-9F947671C8E6}" srcOrd="0" destOrd="0" parTransId="{6EF51542-CF02-44F3-B1E9-7B47596D9FA0}" sibTransId="{ABF5AAB3-DF8A-421B-9725-50E132525B53}"/>
    <dgm:cxn modelId="{FAFD08FD-5092-458D-B151-61F4564A960B}" type="presOf" srcId="{10EE5DD0-DA03-473F-A6D2-AAA247E744AE}" destId="{4C5D5365-EF87-400F-81F8-736E020C9F7F}" srcOrd="0" destOrd="0" presId="urn:microsoft.com/office/officeart/2005/8/layout/hierarchy2"/>
    <dgm:cxn modelId="{F78667DC-F349-413D-AB75-0399FD860566}" type="presParOf" srcId="{3C03077F-C42D-40D8-A036-98C8C39E49AB}" destId="{47C0BA3D-F85E-4F48-96C0-3EA839CC22CD}" srcOrd="0" destOrd="0" presId="urn:microsoft.com/office/officeart/2005/8/layout/hierarchy2"/>
    <dgm:cxn modelId="{A174C28E-2445-43CC-9B9E-3D72CCBB3BAB}" type="presParOf" srcId="{47C0BA3D-F85E-4F48-96C0-3EA839CC22CD}" destId="{DB94F06A-659B-4112-AABC-2D30049D8391}" srcOrd="0" destOrd="0" presId="urn:microsoft.com/office/officeart/2005/8/layout/hierarchy2"/>
    <dgm:cxn modelId="{E19BC1CD-2790-4235-B35F-0D010D125D1E}" type="presParOf" srcId="{47C0BA3D-F85E-4F48-96C0-3EA839CC22CD}" destId="{C3BBD397-AF92-4E10-A1F4-DF3B2BD854E4}" srcOrd="1" destOrd="0" presId="urn:microsoft.com/office/officeart/2005/8/layout/hierarchy2"/>
    <dgm:cxn modelId="{28B270CC-6AC9-4A28-97D4-7A667BC587C2}" type="presParOf" srcId="{C3BBD397-AF92-4E10-A1F4-DF3B2BD854E4}" destId="{BB5A6292-D805-4A8B-9667-7A4448E4881E}" srcOrd="0" destOrd="0" presId="urn:microsoft.com/office/officeart/2005/8/layout/hierarchy2"/>
    <dgm:cxn modelId="{8266DB70-FCCC-4290-BE31-ACF2AB0569BD}" type="presParOf" srcId="{BB5A6292-D805-4A8B-9667-7A4448E4881E}" destId="{93BE02D1-EA1D-4F1F-9623-B1FB4D425995}" srcOrd="0" destOrd="0" presId="urn:microsoft.com/office/officeart/2005/8/layout/hierarchy2"/>
    <dgm:cxn modelId="{E4FB7B0A-04D8-4923-A9BC-95C14F9A40E5}" type="presParOf" srcId="{C3BBD397-AF92-4E10-A1F4-DF3B2BD854E4}" destId="{8E529B22-0069-4133-8CBF-77F4BD5B2EC1}" srcOrd="1" destOrd="0" presId="urn:microsoft.com/office/officeart/2005/8/layout/hierarchy2"/>
    <dgm:cxn modelId="{A895F85E-DABD-4011-9A07-4052243BE0B3}" type="presParOf" srcId="{8E529B22-0069-4133-8CBF-77F4BD5B2EC1}" destId="{397ABF13-F1F6-439E-8975-54A8D4BED0B1}" srcOrd="0" destOrd="0" presId="urn:microsoft.com/office/officeart/2005/8/layout/hierarchy2"/>
    <dgm:cxn modelId="{6E79D11E-65F9-4113-91D0-74E477A711EE}" type="presParOf" srcId="{8E529B22-0069-4133-8CBF-77F4BD5B2EC1}" destId="{D2BCE196-0638-497C-805C-5A097899BA91}" srcOrd="1" destOrd="0" presId="urn:microsoft.com/office/officeart/2005/8/layout/hierarchy2"/>
    <dgm:cxn modelId="{ECAD2BA8-1D88-4263-85B5-17E7E814B3A6}" type="presParOf" srcId="{C3BBD397-AF92-4E10-A1F4-DF3B2BD854E4}" destId="{9D267C8A-4CAD-4C23-94A7-9FDCBF9FED88}" srcOrd="2" destOrd="0" presId="urn:microsoft.com/office/officeart/2005/8/layout/hierarchy2"/>
    <dgm:cxn modelId="{4955DFC0-5157-4195-A3FC-B22D50418DC5}" type="presParOf" srcId="{9D267C8A-4CAD-4C23-94A7-9FDCBF9FED88}" destId="{9B6E6BCD-75B1-4CBC-8B89-EC9DEFE6F184}" srcOrd="0" destOrd="0" presId="urn:microsoft.com/office/officeart/2005/8/layout/hierarchy2"/>
    <dgm:cxn modelId="{678950CF-599A-43D5-A552-5F9627AB16A6}" type="presParOf" srcId="{C3BBD397-AF92-4E10-A1F4-DF3B2BD854E4}" destId="{3E89DCA6-79B0-4D4A-871A-2D26F0403101}" srcOrd="3" destOrd="0" presId="urn:microsoft.com/office/officeart/2005/8/layout/hierarchy2"/>
    <dgm:cxn modelId="{1AC94DAE-E131-49D3-A485-6E9B93F70C17}" type="presParOf" srcId="{3E89DCA6-79B0-4D4A-871A-2D26F0403101}" destId="{37E237F3-4BC8-424B-A684-003B0708F47D}" srcOrd="0" destOrd="0" presId="urn:microsoft.com/office/officeart/2005/8/layout/hierarchy2"/>
    <dgm:cxn modelId="{A734045E-2379-44E7-861E-08716F475CD9}" type="presParOf" srcId="{3E89DCA6-79B0-4D4A-871A-2D26F0403101}" destId="{55475AEB-0A50-44B6-8AA6-B7F0AAC18BC9}" srcOrd="1" destOrd="0" presId="urn:microsoft.com/office/officeart/2005/8/layout/hierarchy2"/>
    <dgm:cxn modelId="{DAC1A976-3714-40D7-B691-A84F724E5CAD}" type="presParOf" srcId="{55475AEB-0A50-44B6-8AA6-B7F0AAC18BC9}" destId="{671943EA-9CAB-4E7E-A49D-F7A145A544FE}" srcOrd="0" destOrd="0" presId="urn:microsoft.com/office/officeart/2005/8/layout/hierarchy2"/>
    <dgm:cxn modelId="{611043AF-00C5-453F-910D-E27810CCF519}" type="presParOf" srcId="{671943EA-9CAB-4E7E-A49D-F7A145A544FE}" destId="{CA07D490-C458-4CA2-B8A1-5574C90D1772}" srcOrd="0" destOrd="0" presId="urn:microsoft.com/office/officeart/2005/8/layout/hierarchy2"/>
    <dgm:cxn modelId="{541838D2-9221-4306-AA1B-9313A98B7934}" type="presParOf" srcId="{55475AEB-0A50-44B6-8AA6-B7F0AAC18BC9}" destId="{D5E97692-359E-44EB-80E0-D15DF360CB15}" srcOrd="1" destOrd="0" presId="urn:microsoft.com/office/officeart/2005/8/layout/hierarchy2"/>
    <dgm:cxn modelId="{4CCF6D25-AE05-467B-B611-0BBFDAB85703}" type="presParOf" srcId="{D5E97692-359E-44EB-80E0-D15DF360CB15}" destId="{B9729D1C-EB89-4DD1-9120-B9C4EF52D68B}" srcOrd="0" destOrd="0" presId="urn:microsoft.com/office/officeart/2005/8/layout/hierarchy2"/>
    <dgm:cxn modelId="{8185A693-CCC8-40E0-B18A-12489A7ADECE}" type="presParOf" srcId="{D5E97692-359E-44EB-80E0-D15DF360CB15}" destId="{55C5C511-64AE-4638-AFCF-4DDB048C96EC}" srcOrd="1" destOrd="0" presId="urn:microsoft.com/office/officeart/2005/8/layout/hierarchy2"/>
    <dgm:cxn modelId="{4B8B021D-2362-4461-B8FE-DC72710B8B76}" type="presParOf" srcId="{55475AEB-0A50-44B6-8AA6-B7F0AAC18BC9}" destId="{4368FE57-B963-414B-8A98-FF23F1F89DCF}" srcOrd="2" destOrd="0" presId="urn:microsoft.com/office/officeart/2005/8/layout/hierarchy2"/>
    <dgm:cxn modelId="{D33AB1D5-DE64-4E34-A024-DFEDD19D6200}" type="presParOf" srcId="{4368FE57-B963-414B-8A98-FF23F1F89DCF}" destId="{FD826F48-75D7-49AB-A60D-03EC188FAE34}" srcOrd="0" destOrd="0" presId="urn:microsoft.com/office/officeart/2005/8/layout/hierarchy2"/>
    <dgm:cxn modelId="{D69DA31B-A8EC-4F20-8DF3-C8DEB7B14173}" type="presParOf" srcId="{55475AEB-0A50-44B6-8AA6-B7F0AAC18BC9}" destId="{C7BE7B4E-6BAE-462D-B505-BB2ABB618B89}" srcOrd="3" destOrd="0" presId="urn:microsoft.com/office/officeart/2005/8/layout/hierarchy2"/>
    <dgm:cxn modelId="{9471DE79-3D6C-4C90-B2B0-64D69E825525}" type="presParOf" srcId="{C7BE7B4E-6BAE-462D-B505-BB2ABB618B89}" destId="{2BD23C33-F6C9-445B-BB16-E42A24B7ABC4}" srcOrd="0" destOrd="0" presId="urn:microsoft.com/office/officeart/2005/8/layout/hierarchy2"/>
    <dgm:cxn modelId="{AA29C7F4-BC97-4D6B-8CB9-35BD1F99CF1B}" type="presParOf" srcId="{C7BE7B4E-6BAE-462D-B505-BB2ABB618B89}" destId="{4B829CE9-F561-4073-BDD7-E7C0083B7C3B}" srcOrd="1" destOrd="0" presId="urn:microsoft.com/office/officeart/2005/8/layout/hierarchy2"/>
    <dgm:cxn modelId="{B5E21D24-CC93-4354-9C8D-24241A839902}" type="presParOf" srcId="{4B829CE9-F561-4073-BDD7-E7C0083B7C3B}" destId="{62F0C892-7A86-4B01-AE2C-820F5BA87F3C}" srcOrd="0" destOrd="0" presId="urn:microsoft.com/office/officeart/2005/8/layout/hierarchy2"/>
    <dgm:cxn modelId="{6C9AFEF9-4C92-4233-86A9-61B4A4E10904}" type="presParOf" srcId="{62F0C892-7A86-4B01-AE2C-820F5BA87F3C}" destId="{65ABB6FD-2988-4E90-8A53-ED7ED8AD2CCA}" srcOrd="0" destOrd="0" presId="urn:microsoft.com/office/officeart/2005/8/layout/hierarchy2"/>
    <dgm:cxn modelId="{CBE8E4DC-4A31-4358-8260-39B05EF024ED}" type="presParOf" srcId="{4B829CE9-F561-4073-BDD7-E7C0083B7C3B}" destId="{FE3888B6-FB77-4046-B83D-49748D7275E9}" srcOrd="1" destOrd="0" presId="urn:microsoft.com/office/officeart/2005/8/layout/hierarchy2"/>
    <dgm:cxn modelId="{9A7D4D6D-DE90-402B-A5A0-F21B73EFCDEA}" type="presParOf" srcId="{FE3888B6-FB77-4046-B83D-49748D7275E9}" destId="{9DBBD673-E192-4B43-A9CF-315AB2F25E19}" srcOrd="0" destOrd="0" presId="urn:microsoft.com/office/officeart/2005/8/layout/hierarchy2"/>
    <dgm:cxn modelId="{542646CF-F0AA-4431-BCC6-FD127B9497F8}" type="presParOf" srcId="{FE3888B6-FB77-4046-B83D-49748D7275E9}" destId="{C5BDFEFB-9D9C-455C-8054-2EA2AF2BAA9D}" srcOrd="1" destOrd="0" presId="urn:microsoft.com/office/officeart/2005/8/layout/hierarchy2"/>
    <dgm:cxn modelId="{E003A857-3910-482E-B0D2-8EC620EDF436}" type="presParOf" srcId="{4B829CE9-F561-4073-BDD7-E7C0083B7C3B}" destId="{707DCEAC-BBA6-4375-B777-DC46DA384EE7}" srcOrd="2" destOrd="0" presId="urn:microsoft.com/office/officeart/2005/8/layout/hierarchy2"/>
    <dgm:cxn modelId="{CD642BF3-2B42-41BC-B476-00E2100B4218}" type="presParOf" srcId="{707DCEAC-BBA6-4375-B777-DC46DA384EE7}" destId="{F4163593-08C6-4A62-944D-9796E0760C48}" srcOrd="0" destOrd="0" presId="urn:microsoft.com/office/officeart/2005/8/layout/hierarchy2"/>
    <dgm:cxn modelId="{5D567476-7B84-41F7-9475-7303BDCB6A73}" type="presParOf" srcId="{4B829CE9-F561-4073-BDD7-E7C0083B7C3B}" destId="{5FD80272-7A29-4A7B-B090-A029407F7F6B}" srcOrd="3" destOrd="0" presId="urn:microsoft.com/office/officeart/2005/8/layout/hierarchy2"/>
    <dgm:cxn modelId="{B78986AD-0111-49E2-8935-42639E9B2D51}" type="presParOf" srcId="{5FD80272-7A29-4A7B-B090-A029407F7F6B}" destId="{4C5D5365-EF87-400F-81F8-736E020C9F7F}" srcOrd="0" destOrd="0" presId="urn:microsoft.com/office/officeart/2005/8/layout/hierarchy2"/>
    <dgm:cxn modelId="{2DBCDA11-905B-4243-B25C-A49C6596A956}" type="presParOf" srcId="{5FD80272-7A29-4A7B-B090-A029407F7F6B}" destId="{DDB96889-CED6-4D76-91C7-76AD4666A153}" srcOrd="1" destOrd="0" presId="urn:microsoft.com/office/officeart/2005/8/layout/hierarchy2"/>
    <dgm:cxn modelId="{7891EB89-CB00-4583-9034-05C378887706}" type="presParOf" srcId="{DDB96889-CED6-4D76-91C7-76AD4666A153}" destId="{C22806E8-886D-440F-8B3A-107BEDFF0122}" srcOrd="0" destOrd="0" presId="urn:microsoft.com/office/officeart/2005/8/layout/hierarchy2"/>
    <dgm:cxn modelId="{14F78A7F-3170-4E12-BDFC-B69CF921C2C3}" type="presParOf" srcId="{C22806E8-886D-440F-8B3A-107BEDFF0122}" destId="{EA2DAA9A-64E2-44BC-B7C6-F3334CA1FAEA}" srcOrd="0" destOrd="0" presId="urn:microsoft.com/office/officeart/2005/8/layout/hierarchy2"/>
    <dgm:cxn modelId="{EAEAE9BF-2B7D-4344-A659-AF1D4B0855B7}" type="presParOf" srcId="{DDB96889-CED6-4D76-91C7-76AD4666A153}" destId="{D64AC64D-CC38-458D-9F03-C5D366522535}" srcOrd="1" destOrd="0" presId="urn:microsoft.com/office/officeart/2005/8/layout/hierarchy2"/>
    <dgm:cxn modelId="{4FDE5772-9C3E-4D95-943E-C57E06B79B0F}" type="presParOf" srcId="{D64AC64D-CC38-458D-9F03-C5D366522535}" destId="{F7E1BA60-5D19-499D-A985-22720067F386}" srcOrd="0" destOrd="0" presId="urn:microsoft.com/office/officeart/2005/8/layout/hierarchy2"/>
    <dgm:cxn modelId="{0140C753-7EDC-4DE3-84D1-BCFACD0702A6}" type="presParOf" srcId="{D64AC64D-CC38-458D-9F03-C5D366522535}" destId="{C1A1A024-2121-4248-94F7-BF39BCD58145}" srcOrd="1" destOrd="0" presId="urn:microsoft.com/office/officeart/2005/8/layout/hierarchy2"/>
    <dgm:cxn modelId="{252991E3-7A10-4301-9B9A-877B33763E28}" type="presParOf" srcId="{DDB96889-CED6-4D76-91C7-76AD4666A153}" destId="{4E8DA6E3-03D7-4296-9F72-6EA8E834CB17}" srcOrd="2" destOrd="0" presId="urn:microsoft.com/office/officeart/2005/8/layout/hierarchy2"/>
    <dgm:cxn modelId="{519427B5-8352-4FEE-AE34-AB7903D4CD90}" type="presParOf" srcId="{4E8DA6E3-03D7-4296-9F72-6EA8E834CB17}" destId="{2C4FE83F-A055-49F3-8EF5-53D3D048B35B}" srcOrd="0" destOrd="0" presId="urn:microsoft.com/office/officeart/2005/8/layout/hierarchy2"/>
    <dgm:cxn modelId="{9181BFE7-624F-49A8-BDB6-EC6D0A685160}" type="presParOf" srcId="{DDB96889-CED6-4D76-91C7-76AD4666A153}" destId="{FD4C4B14-39BF-4B7F-941E-572B8B34A8FB}" srcOrd="3" destOrd="0" presId="urn:microsoft.com/office/officeart/2005/8/layout/hierarchy2"/>
    <dgm:cxn modelId="{B8C3970D-B069-4479-B31D-0F0C4259818B}" type="presParOf" srcId="{FD4C4B14-39BF-4B7F-941E-572B8B34A8FB}" destId="{F243758D-87DF-4DD8-B80B-93A58B7B5B48}" srcOrd="0" destOrd="0" presId="urn:microsoft.com/office/officeart/2005/8/layout/hierarchy2"/>
    <dgm:cxn modelId="{C26EC1CE-CC70-48FB-9E21-53D2996AAB14}" type="presParOf" srcId="{FD4C4B14-39BF-4B7F-941E-572B8B34A8FB}" destId="{BF7A6BA2-EC30-44DB-A15D-70BD61A670ED}"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94F06A-659B-4112-AABC-2D30049D8391}">
      <dsp:nvSpPr>
        <dsp:cNvPr id="0" name=""/>
        <dsp:cNvSpPr/>
      </dsp:nvSpPr>
      <dsp:spPr>
        <a:xfrm>
          <a:off x="3505" y="1226975"/>
          <a:ext cx="1122117" cy="5610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ES" sz="1500" kern="1200" dirty="0">
              <a:latin typeface="Calibri "/>
              <a:cs typeface="Poppins" panose="00000500000000000000" pitchFamily="2" charset="0"/>
            </a:rPr>
            <a:t>Población</a:t>
          </a:r>
          <a:endParaRPr lang="en-US" sz="1500" kern="1200" dirty="0">
            <a:latin typeface="Calibri "/>
            <a:cs typeface="Poppins" panose="00000500000000000000" pitchFamily="2" charset="0"/>
          </a:endParaRPr>
        </a:p>
      </dsp:txBody>
      <dsp:txXfrm>
        <a:off x="19938" y="1243408"/>
        <a:ext cx="1089251" cy="528192"/>
      </dsp:txXfrm>
    </dsp:sp>
    <dsp:sp modelId="{BB5A6292-D805-4A8B-9667-7A4448E4881E}">
      <dsp:nvSpPr>
        <dsp:cNvPr id="0" name=""/>
        <dsp:cNvSpPr/>
      </dsp:nvSpPr>
      <dsp:spPr>
        <a:xfrm rot="19457599">
          <a:off x="1073668" y="1333522"/>
          <a:ext cx="552756" cy="25356"/>
        </a:xfrm>
        <a:custGeom>
          <a:avLst/>
          <a:gdLst/>
          <a:ahLst/>
          <a:cxnLst/>
          <a:rect l="0" t="0" r="0" b="0"/>
          <a:pathLst>
            <a:path>
              <a:moveTo>
                <a:pt x="0" y="12678"/>
              </a:moveTo>
              <a:lnTo>
                <a:pt x="552756" y="1267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Calibri "/>
            <a:cs typeface="Poppins" panose="00000500000000000000" pitchFamily="2" charset="0"/>
          </a:endParaRPr>
        </a:p>
      </dsp:txBody>
      <dsp:txXfrm>
        <a:off x="1336228" y="1332381"/>
        <a:ext cx="27637" cy="27637"/>
      </dsp:txXfrm>
    </dsp:sp>
    <dsp:sp modelId="{397ABF13-F1F6-439E-8975-54A8D4BED0B1}">
      <dsp:nvSpPr>
        <dsp:cNvPr id="0" name=""/>
        <dsp:cNvSpPr/>
      </dsp:nvSpPr>
      <dsp:spPr>
        <a:xfrm>
          <a:off x="1574470" y="904367"/>
          <a:ext cx="1122117" cy="5610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ES" sz="1500" kern="1200" dirty="0">
              <a:latin typeface="Calibri "/>
              <a:cs typeface="Poppins" panose="00000500000000000000" pitchFamily="2" charset="0"/>
            </a:rPr>
            <a:t>No en edad de trabajar</a:t>
          </a:r>
          <a:endParaRPr lang="en-US" sz="1500" kern="1200" dirty="0">
            <a:latin typeface="Calibri "/>
            <a:cs typeface="Poppins" panose="00000500000000000000" pitchFamily="2" charset="0"/>
          </a:endParaRPr>
        </a:p>
      </dsp:txBody>
      <dsp:txXfrm>
        <a:off x="1590903" y="920800"/>
        <a:ext cx="1089251" cy="528192"/>
      </dsp:txXfrm>
    </dsp:sp>
    <dsp:sp modelId="{9D267C8A-4CAD-4C23-94A7-9FDCBF9FED88}">
      <dsp:nvSpPr>
        <dsp:cNvPr id="0" name=""/>
        <dsp:cNvSpPr/>
      </dsp:nvSpPr>
      <dsp:spPr>
        <a:xfrm rot="2142401">
          <a:off x="1073668" y="1656131"/>
          <a:ext cx="552756" cy="25356"/>
        </a:xfrm>
        <a:custGeom>
          <a:avLst/>
          <a:gdLst/>
          <a:ahLst/>
          <a:cxnLst/>
          <a:rect l="0" t="0" r="0" b="0"/>
          <a:pathLst>
            <a:path>
              <a:moveTo>
                <a:pt x="0" y="12678"/>
              </a:moveTo>
              <a:lnTo>
                <a:pt x="552756" y="1267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Calibri "/>
            <a:cs typeface="Poppins" panose="00000500000000000000" pitchFamily="2" charset="0"/>
          </a:endParaRPr>
        </a:p>
      </dsp:txBody>
      <dsp:txXfrm>
        <a:off x="1336228" y="1654990"/>
        <a:ext cx="27637" cy="27637"/>
      </dsp:txXfrm>
    </dsp:sp>
    <dsp:sp modelId="{37E237F3-4BC8-424B-A684-003B0708F47D}">
      <dsp:nvSpPr>
        <dsp:cNvPr id="0" name=""/>
        <dsp:cNvSpPr/>
      </dsp:nvSpPr>
      <dsp:spPr>
        <a:xfrm>
          <a:off x="1574470" y="1549584"/>
          <a:ext cx="1122117" cy="5610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ES" sz="1500" kern="1200" dirty="0">
              <a:latin typeface="Calibri "/>
              <a:cs typeface="Poppins" panose="00000500000000000000" pitchFamily="2" charset="0"/>
            </a:rPr>
            <a:t>En edad de trabajar</a:t>
          </a:r>
          <a:endParaRPr lang="en-US" sz="1500" kern="1200" dirty="0">
            <a:latin typeface="Calibri "/>
            <a:cs typeface="Poppins" panose="00000500000000000000" pitchFamily="2" charset="0"/>
          </a:endParaRPr>
        </a:p>
      </dsp:txBody>
      <dsp:txXfrm>
        <a:off x="1590903" y="1566017"/>
        <a:ext cx="1089251" cy="528192"/>
      </dsp:txXfrm>
    </dsp:sp>
    <dsp:sp modelId="{671943EA-9CAB-4E7E-A49D-F7A145A544FE}">
      <dsp:nvSpPr>
        <dsp:cNvPr id="0" name=""/>
        <dsp:cNvSpPr/>
      </dsp:nvSpPr>
      <dsp:spPr>
        <a:xfrm rot="19457599">
          <a:off x="2644633" y="1656131"/>
          <a:ext cx="552756" cy="25356"/>
        </a:xfrm>
        <a:custGeom>
          <a:avLst/>
          <a:gdLst/>
          <a:ahLst/>
          <a:cxnLst/>
          <a:rect l="0" t="0" r="0" b="0"/>
          <a:pathLst>
            <a:path>
              <a:moveTo>
                <a:pt x="0" y="12678"/>
              </a:moveTo>
              <a:lnTo>
                <a:pt x="552756" y="126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Calibri "/>
            <a:cs typeface="Poppins" panose="00000500000000000000" pitchFamily="2" charset="0"/>
          </a:endParaRPr>
        </a:p>
      </dsp:txBody>
      <dsp:txXfrm>
        <a:off x="2907192" y="1654990"/>
        <a:ext cx="27637" cy="27637"/>
      </dsp:txXfrm>
    </dsp:sp>
    <dsp:sp modelId="{B9729D1C-EB89-4DD1-9120-B9C4EF52D68B}">
      <dsp:nvSpPr>
        <dsp:cNvPr id="0" name=""/>
        <dsp:cNvSpPr/>
      </dsp:nvSpPr>
      <dsp:spPr>
        <a:xfrm>
          <a:off x="3145435" y="1226975"/>
          <a:ext cx="1122117" cy="5610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ES" sz="1500" kern="1200" dirty="0">
              <a:latin typeface="Calibri "/>
              <a:cs typeface="Poppins" panose="00000500000000000000" pitchFamily="2" charset="0"/>
            </a:rPr>
            <a:t>Inactivos</a:t>
          </a:r>
          <a:endParaRPr lang="en-US" sz="1500" kern="1200" dirty="0">
            <a:latin typeface="Calibri "/>
            <a:cs typeface="Poppins" panose="00000500000000000000" pitchFamily="2" charset="0"/>
          </a:endParaRPr>
        </a:p>
      </dsp:txBody>
      <dsp:txXfrm>
        <a:off x="3161868" y="1243408"/>
        <a:ext cx="1089251" cy="528192"/>
      </dsp:txXfrm>
    </dsp:sp>
    <dsp:sp modelId="{4368FE57-B963-414B-8A98-FF23F1F89DCF}">
      <dsp:nvSpPr>
        <dsp:cNvPr id="0" name=""/>
        <dsp:cNvSpPr/>
      </dsp:nvSpPr>
      <dsp:spPr>
        <a:xfrm rot="2142401">
          <a:off x="2644633" y="1978740"/>
          <a:ext cx="552756" cy="25356"/>
        </a:xfrm>
        <a:custGeom>
          <a:avLst/>
          <a:gdLst/>
          <a:ahLst/>
          <a:cxnLst/>
          <a:rect l="0" t="0" r="0" b="0"/>
          <a:pathLst>
            <a:path>
              <a:moveTo>
                <a:pt x="0" y="12678"/>
              </a:moveTo>
              <a:lnTo>
                <a:pt x="552756" y="126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Calibri "/>
            <a:cs typeface="Poppins" panose="00000500000000000000" pitchFamily="2" charset="0"/>
          </a:endParaRPr>
        </a:p>
      </dsp:txBody>
      <dsp:txXfrm>
        <a:off x="2907192" y="1977599"/>
        <a:ext cx="27637" cy="27637"/>
      </dsp:txXfrm>
    </dsp:sp>
    <dsp:sp modelId="{2BD23C33-F6C9-445B-BB16-E42A24B7ABC4}">
      <dsp:nvSpPr>
        <dsp:cNvPr id="0" name=""/>
        <dsp:cNvSpPr/>
      </dsp:nvSpPr>
      <dsp:spPr>
        <a:xfrm>
          <a:off x="3145435" y="1872193"/>
          <a:ext cx="1122117" cy="5610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ES" sz="1500" kern="1200" dirty="0">
              <a:latin typeface="Calibri "/>
              <a:cs typeface="Poppins" panose="00000500000000000000" pitchFamily="2" charset="0"/>
            </a:rPr>
            <a:t>Fuerza de trabajo</a:t>
          </a:r>
          <a:endParaRPr lang="en-US" sz="1500" kern="1200" dirty="0">
            <a:latin typeface="Calibri "/>
            <a:cs typeface="Poppins" panose="00000500000000000000" pitchFamily="2" charset="0"/>
          </a:endParaRPr>
        </a:p>
      </dsp:txBody>
      <dsp:txXfrm>
        <a:off x="3161868" y="1888626"/>
        <a:ext cx="1089251" cy="528192"/>
      </dsp:txXfrm>
    </dsp:sp>
    <dsp:sp modelId="{62F0C892-7A86-4B01-AE2C-820F5BA87F3C}">
      <dsp:nvSpPr>
        <dsp:cNvPr id="0" name=""/>
        <dsp:cNvSpPr/>
      </dsp:nvSpPr>
      <dsp:spPr>
        <a:xfrm rot="19457599">
          <a:off x="4215597" y="1978740"/>
          <a:ext cx="552756" cy="25356"/>
        </a:xfrm>
        <a:custGeom>
          <a:avLst/>
          <a:gdLst/>
          <a:ahLst/>
          <a:cxnLst/>
          <a:rect l="0" t="0" r="0" b="0"/>
          <a:pathLst>
            <a:path>
              <a:moveTo>
                <a:pt x="0" y="12678"/>
              </a:moveTo>
              <a:lnTo>
                <a:pt x="552756" y="126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Calibri "/>
            <a:cs typeface="Poppins" panose="00000500000000000000" pitchFamily="2" charset="0"/>
          </a:endParaRPr>
        </a:p>
      </dsp:txBody>
      <dsp:txXfrm>
        <a:off x="4478157" y="1977599"/>
        <a:ext cx="27637" cy="27637"/>
      </dsp:txXfrm>
    </dsp:sp>
    <dsp:sp modelId="{9DBBD673-E192-4B43-A9CF-315AB2F25E19}">
      <dsp:nvSpPr>
        <dsp:cNvPr id="0" name=""/>
        <dsp:cNvSpPr/>
      </dsp:nvSpPr>
      <dsp:spPr>
        <a:xfrm>
          <a:off x="4716399" y="1549584"/>
          <a:ext cx="1122117" cy="5610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ES" sz="1500" kern="1200" dirty="0">
              <a:latin typeface="Calibri "/>
              <a:cs typeface="Poppins" panose="00000500000000000000" pitchFamily="2" charset="0"/>
            </a:rPr>
            <a:t>Ocupados</a:t>
          </a:r>
          <a:endParaRPr lang="en-US" sz="1500" kern="1200" dirty="0">
            <a:latin typeface="Calibri "/>
            <a:cs typeface="Poppins" panose="00000500000000000000" pitchFamily="2" charset="0"/>
          </a:endParaRPr>
        </a:p>
      </dsp:txBody>
      <dsp:txXfrm>
        <a:off x="4732832" y="1566017"/>
        <a:ext cx="1089251" cy="528192"/>
      </dsp:txXfrm>
    </dsp:sp>
    <dsp:sp modelId="{707DCEAC-BBA6-4375-B777-DC46DA384EE7}">
      <dsp:nvSpPr>
        <dsp:cNvPr id="0" name=""/>
        <dsp:cNvSpPr/>
      </dsp:nvSpPr>
      <dsp:spPr>
        <a:xfrm rot="2142401">
          <a:off x="4215597" y="2301349"/>
          <a:ext cx="552756" cy="25356"/>
        </a:xfrm>
        <a:custGeom>
          <a:avLst/>
          <a:gdLst/>
          <a:ahLst/>
          <a:cxnLst/>
          <a:rect l="0" t="0" r="0" b="0"/>
          <a:pathLst>
            <a:path>
              <a:moveTo>
                <a:pt x="0" y="12678"/>
              </a:moveTo>
              <a:lnTo>
                <a:pt x="552756" y="126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Calibri "/>
            <a:cs typeface="Poppins" panose="00000500000000000000" pitchFamily="2" charset="0"/>
          </a:endParaRPr>
        </a:p>
      </dsp:txBody>
      <dsp:txXfrm>
        <a:off x="4478157" y="2300208"/>
        <a:ext cx="27637" cy="27637"/>
      </dsp:txXfrm>
    </dsp:sp>
    <dsp:sp modelId="{4C5D5365-EF87-400F-81F8-736E020C9F7F}">
      <dsp:nvSpPr>
        <dsp:cNvPr id="0" name=""/>
        <dsp:cNvSpPr/>
      </dsp:nvSpPr>
      <dsp:spPr>
        <a:xfrm>
          <a:off x="4716399" y="2194802"/>
          <a:ext cx="1122117" cy="5610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ES" sz="1500" kern="1200" dirty="0">
              <a:latin typeface="Calibri "/>
              <a:cs typeface="Poppins" panose="00000500000000000000" pitchFamily="2" charset="0"/>
            </a:rPr>
            <a:t>Desocupados</a:t>
          </a:r>
          <a:endParaRPr lang="en-US" sz="1500" kern="1200" dirty="0">
            <a:latin typeface="Calibri "/>
            <a:cs typeface="Poppins" panose="00000500000000000000" pitchFamily="2" charset="0"/>
          </a:endParaRPr>
        </a:p>
      </dsp:txBody>
      <dsp:txXfrm>
        <a:off x="4732832" y="2211235"/>
        <a:ext cx="1089251" cy="528192"/>
      </dsp:txXfrm>
    </dsp:sp>
    <dsp:sp modelId="{C22806E8-886D-440F-8B3A-107BEDFF0122}">
      <dsp:nvSpPr>
        <dsp:cNvPr id="0" name=""/>
        <dsp:cNvSpPr/>
      </dsp:nvSpPr>
      <dsp:spPr>
        <a:xfrm rot="19457599">
          <a:off x="5786562" y="2301349"/>
          <a:ext cx="552756" cy="25356"/>
        </a:xfrm>
        <a:custGeom>
          <a:avLst/>
          <a:gdLst/>
          <a:ahLst/>
          <a:cxnLst/>
          <a:rect l="0" t="0" r="0" b="0"/>
          <a:pathLst>
            <a:path>
              <a:moveTo>
                <a:pt x="0" y="12678"/>
              </a:moveTo>
              <a:lnTo>
                <a:pt x="552756" y="126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Calibri "/>
            <a:cs typeface="Poppins" panose="00000500000000000000" pitchFamily="2" charset="0"/>
          </a:endParaRPr>
        </a:p>
      </dsp:txBody>
      <dsp:txXfrm>
        <a:off x="6049122" y="2300208"/>
        <a:ext cx="27637" cy="27637"/>
      </dsp:txXfrm>
    </dsp:sp>
    <dsp:sp modelId="{F7E1BA60-5D19-499D-A985-22720067F386}">
      <dsp:nvSpPr>
        <dsp:cNvPr id="0" name=""/>
        <dsp:cNvSpPr/>
      </dsp:nvSpPr>
      <dsp:spPr>
        <a:xfrm>
          <a:off x="6287364" y="1872193"/>
          <a:ext cx="1122117" cy="5610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ES" sz="1500" kern="1200" dirty="0">
              <a:latin typeface="Calibri "/>
              <a:cs typeface="Poppins" panose="00000500000000000000" pitchFamily="2" charset="0"/>
            </a:rPr>
            <a:t>Cesantes</a:t>
          </a:r>
          <a:endParaRPr lang="en-US" sz="1500" kern="1200" dirty="0">
            <a:latin typeface="Calibri "/>
            <a:cs typeface="Poppins" panose="00000500000000000000" pitchFamily="2" charset="0"/>
          </a:endParaRPr>
        </a:p>
      </dsp:txBody>
      <dsp:txXfrm>
        <a:off x="6303797" y="1888626"/>
        <a:ext cx="1089251" cy="528192"/>
      </dsp:txXfrm>
    </dsp:sp>
    <dsp:sp modelId="{4E8DA6E3-03D7-4296-9F72-6EA8E834CB17}">
      <dsp:nvSpPr>
        <dsp:cNvPr id="0" name=""/>
        <dsp:cNvSpPr/>
      </dsp:nvSpPr>
      <dsp:spPr>
        <a:xfrm rot="2142401">
          <a:off x="5786562" y="2623957"/>
          <a:ext cx="552756" cy="25356"/>
        </a:xfrm>
        <a:custGeom>
          <a:avLst/>
          <a:gdLst/>
          <a:ahLst/>
          <a:cxnLst/>
          <a:rect l="0" t="0" r="0" b="0"/>
          <a:pathLst>
            <a:path>
              <a:moveTo>
                <a:pt x="0" y="12678"/>
              </a:moveTo>
              <a:lnTo>
                <a:pt x="552756" y="1267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Calibri "/>
            <a:cs typeface="Poppins" panose="00000500000000000000" pitchFamily="2" charset="0"/>
          </a:endParaRPr>
        </a:p>
      </dsp:txBody>
      <dsp:txXfrm>
        <a:off x="6049122" y="2622817"/>
        <a:ext cx="27637" cy="27637"/>
      </dsp:txXfrm>
    </dsp:sp>
    <dsp:sp modelId="{F243758D-87DF-4DD8-B80B-93A58B7B5B48}">
      <dsp:nvSpPr>
        <dsp:cNvPr id="0" name=""/>
        <dsp:cNvSpPr/>
      </dsp:nvSpPr>
      <dsp:spPr>
        <a:xfrm>
          <a:off x="6287364" y="2517411"/>
          <a:ext cx="1122117" cy="56105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s-ES" sz="1500" kern="1200" dirty="0">
              <a:latin typeface="Calibri "/>
              <a:cs typeface="Poppins" panose="00000500000000000000" pitchFamily="2" charset="0"/>
            </a:rPr>
            <a:t>Trabajo por primera vez</a:t>
          </a:r>
          <a:endParaRPr lang="en-US" sz="1500" kern="1200" dirty="0">
            <a:latin typeface="Calibri "/>
            <a:cs typeface="Poppins" panose="00000500000000000000" pitchFamily="2" charset="0"/>
          </a:endParaRPr>
        </a:p>
      </dsp:txBody>
      <dsp:txXfrm>
        <a:off x="6303797" y="2533844"/>
        <a:ext cx="1089251" cy="52819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B6DAAA-3F94-4118-A306-77E30DF987D3}" type="datetimeFigureOut">
              <a:rPr lang="en-US" smtClean="0"/>
              <a:t>9/1/2025</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020F36-0344-4522-B8AC-8663644523CE}" type="slidenum">
              <a:rPr lang="en-US" smtClean="0"/>
              <a:t>‹Nº›</a:t>
            </a:fld>
            <a:endParaRPr lang="en-US"/>
          </a:p>
        </p:txBody>
      </p:sp>
    </p:spTree>
    <p:extLst>
      <p:ext uri="{BB962C8B-B14F-4D97-AF65-F5344CB8AC3E}">
        <p14:creationId xmlns:p14="http://schemas.microsoft.com/office/powerpoint/2010/main" val="2513398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3BF319-77A0-C551-827F-C6B682721E6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7A59026A-346C-F8D6-FF77-B0585ECBA5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E4A83F59-152B-2696-58D5-9B032EEEFE29}"/>
              </a:ext>
            </a:extLst>
          </p:cNvPr>
          <p:cNvSpPr>
            <a:spLocks noGrp="1"/>
          </p:cNvSpPr>
          <p:nvPr>
            <p:ph type="dt" sz="half" idx="10"/>
          </p:nvPr>
        </p:nvSpPr>
        <p:spPr/>
        <p:txBody>
          <a:bodyPr/>
          <a:lstStyle/>
          <a:p>
            <a:fld id="{A56BF325-36A4-4330-87DD-4FD28307FF21}" type="datetimeFigureOut">
              <a:rPr lang="es-CL" smtClean="0"/>
              <a:t>01-09-2025</a:t>
            </a:fld>
            <a:endParaRPr lang="es-CL"/>
          </a:p>
        </p:txBody>
      </p:sp>
      <p:sp>
        <p:nvSpPr>
          <p:cNvPr id="5" name="Marcador de pie de página 4">
            <a:extLst>
              <a:ext uri="{FF2B5EF4-FFF2-40B4-BE49-F238E27FC236}">
                <a16:creationId xmlns:a16="http://schemas.microsoft.com/office/drawing/2014/main" id="{8E7E1611-BE37-9E34-AE3B-534FE9657D3C}"/>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5D2877B-02E2-98D0-510B-F86BB2628494}"/>
              </a:ext>
            </a:extLst>
          </p:cNvPr>
          <p:cNvSpPr>
            <a:spLocks noGrp="1"/>
          </p:cNvSpPr>
          <p:nvPr>
            <p:ph type="sldNum" sz="quarter" idx="12"/>
          </p:nvPr>
        </p:nvSpPr>
        <p:spPr/>
        <p:txBody>
          <a:bodyPr/>
          <a:lstStyle/>
          <a:p>
            <a:fld id="{27010811-987E-4DF6-B82F-5848B0A0EF26}" type="slidenum">
              <a:rPr lang="es-CL" smtClean="0"/>
              <a:t>‹Nº›</a:t>
            </a:fld>
            <a:endParaRPr lang="es-CL"/>
          </a:p>
        </p:txBody>
      </p:sp>
    </p:spTree>
    <p:extLst>
      <p:ext uri="{BB962C8B-B14F-4D97-AF65-F5344CB8AC3E}">
        <p14:creationId xmlns:p14="http://schemas.microsoft.com/office/powerpoint/2010/main" val="4097580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2150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F4502B-16F6-F560-BB14-0EB53918B94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DCDC89D-9D9E-E86E-B954-A81F39996F4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123FBAA-E211-25FF-46F4-3A69FEFFCB36}"/>
              </a:ext>
            </a:extLst>
          </p:cNvPr>
          <p:cNvSpPr>
            <a:spLocks noGrp="1"/>
          </p:cNvSpPr>
          <p:nvPr>
            <p:ph type="dt" sz="half" idx="10"/>
          </p:nvPr>
        </p:nvSpPr>
        <p:spPr/>
        <p:txBody>
          <a:bodyPr/>
          <a:lstStyle/>
          <a:p>
            <a:fld id="{A56BF325-36A4-4330-87DD-4FD28307FF21}" type="datetimeFigureOut">
              <a:rPr lang="es-CL" smtClean="0"/>
              <a:t>01-09-2025</a:t>
            </a:fld>
            <a:endParaRPr lang="es-CL"/>
          </a:p>
        </p:txBody>
      </p:sp>
      <p:sp>
        <p:nvSpPr>
          <p:cNvPr id="5" name="Marcador de pie de página 4">
            <a:extLst>
              <a:ext uri="{FF2B5EF4-FFF2-40B4-BE49-F238E27FC236}">
                <a16:creationId xmlns:a16="http://schemas.microsoft.com/office/drawing/2014/main" id="{62BD2F49-8008-ED7A-E248-E48245DC172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024C4DD-8D58-A80C-1A38-0834CCBD396A}"/>
              </a:ext>
            </a:extLst>
          </p:cNvPr>
          <p:cNvSpPr>
            <a:spLocks noGrp="1"/>
          </p:cNvSpPr>
          <p:nvPr>
            <p:ph type="sldNum" sz="quarter" idx="12"/>
          </p:nvPr>
        </p:nvSpPr>
        <p:spPr/>
        <p:txBody>
          <a:bodyPr/>
          <a:lstStyle/>
          <a:p>
            <a:fld id="{27010811-987E-4DF6-B82F-5848B0A0EF26}" type="slidenum">
              <a:rPr lang="es-CL" smtClean="0"/>
              <a:t>‹Nº›</a:t>
            </a:fld>
            <a:endParaRPr lang="es-CL"/>
          </a:p>
        </p:txBody>
      </p:sp>
    </p:spTree>
    <p:extLst>
      <p:ext uri="{BB962C8B-B14F-4D97-AF65-F5344CB8AC3E}">
        <p14:creationId xmlns:p14="http://schemas.microsoft.com/office/powerpoint/2010/main" val="3293278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F6483A-CDDD-F7AA-BC3E-8026FA1276D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9884EAAA-7EA0-2B2D-D793-6D88D7B3BFA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6A630F2-7734-05C5-15BA-9397E2630440}"/>
              </a:ext>
            </a:extLst>
          </p:cNvPr>
          <p:cNvSpPr>
            <a:spLocks noGrp="1"/>
          </p:cNvSpPr>
          <p:nvPr>
            <p:ph type="dt" sz="half" idx="10"/>
          </p:nvPr>
        </p:nvSpPr>
        <p:spPr/>
        <p:txBody>
          <a:bodyPr/>
          <a:lstStyle/>
          <a:p>
            <a:fld id="{A56BF325-36A4-4330-87DD-4FD28307FF21}" type="datetimeFigureOut">
              <a:rPr lang="es-CL" smtClean="0"/>
              <a:t>01-09-2025</a:t>
            </a:fld>
            <a:endParaRPr lang="es-CL"/>
          </a:p>
        </p:txBody>
      </p:sp>
      <p:sp>
        <p:nvSpPr>
          <p:cNvPr id="5" name="Marcador de pie de página 4">
            <a:extLst>
              <a:ext uri="{FF2B5EF4-FFF2-40B4-BE49-F238E27FC236}">
                <a16:creationId xmlns:a16="http://schemas.microsoft.com/office/drawing/2014/main" id="{BBE9FD8B-39EA-3F31-F8A5-78A69DF957BC}"/>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9CDE64FE-5990-AB1A-7DCB-68B41CA06A80}"/>
              </a:ext>
            </a:extLst>
          </p:cNvPr>
          <p:cNvSpPr>
            <a:spLocks noGrp="1"/>
          </p:cNvSpPr>
          <p:nvPr>
            <p:ph type="sldNum" sz="quarter" idx="12"/>
          </p:nvPr>
        </p:nvSpPr>
        <p:spPr/>
        <p:txBody>
          <a:bodyPr/>
          <a:lstStyle/>
          <a:p>
            <a:fld id="{27010811-987E-4DF6-B82F-5848B0A0EF26}" type="slidenum">
              <a:rPr lang="es-CL" smtClean="0"/>
              <a:t>‹Nº›</a:t>
            </a:fld>
            <a:endParaRPr lang="es-CL"/>
          </a:p>
        </p:txBody>
      </p:sp>
    </p:spTree>
    <p:extLst>
      <p:ext uri="{BB962C8B-B14F-4D97-AF65-F5344CB8AC3E}">
        <p14:creationId xmlns:p14="http://schemas.microsoft.com/office/powerpoint/2010/main" val="661524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064332-36D8-6A6B-B46B-8EDFA26F988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D4B00F15-EA22-5FE8-3371-2857C4A4FF5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9677B43F-554C-1B66-B463-64031D6D4AF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B8532F0E-3935-1165-320F-C1585D8EE4C1}"/>
              </a:ext>
            </a:extLst>
          </p:cNvPr>
          <p:cNvSpPr>
            <a:spLocks noGrp="1"/>
          </p:cNvSpPr>
          <p:nvPr>
            <p:ph type="dt" sz="half" idx="10"/>
          </p:nvPr>
        </p:nvSpPr>
        <p:spPr/>
        <p:txBody>
          <a:bodyPr/>
          <a:lstStyle/>
          <a:p>
            <a:fld id="{A56BF325-36A4-4330-87DD-4FD28307FF21}" type="datetimeFigureOut">
              <a:rPr lang="es-CL" smtClean="0"/>
              <a:t>01-09-2025</a:t>
            </a:fld>
            <a:endParaRPr lang="es-CL"/>
          </a:p>
        </p:txBody>
      </p:sp>
      <p:sp>
        <p:nvSpPr>
          <p:cNvPr id="6" name="Marcador de pie de página 5">
            <a:extLst>
              <a:ext uri="{FF2B5EF4-FFF2-40B4-BE49-F238E27FC236}">
                <a16:creationId xmlns:a16="http://schemas.microsoft.com/office/drawing/2014/main" id="{AD23A861-634B-4C8C-D875-DE7901A2C68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E05862CA-8F15-AD75-7881-1844A698AE79}"/>
              </a:ext>
            </a:extLst>
          </p:cNvPr>
          <p:cNvSpPr>
            <a:spLocks noGrp="1"/>
          </p:cNvSpPr>
          <p:nvPr>
            <p:ph type="sldNum" sz="quarter" idx="12"/>
          </p:nvPr>
        </p:nvSpPr>
        <p:spPr/>
        <p:txBody>
          <a:bodyPr/>
          <a:lstStyle/>
          <a:p>
            <a:fld id="{27010811-987E-4DF6-B82F-5848B0A0EF26}" type="slidenum">
              <a:rPr lang="es-CL" smtClean="0"/>
              <a:t>‹Nº›</a:t>
            </a:fld>
            <a:endParaRPr lang="es-CL"/>
          </a:p>
        </p:txBody>
      </p:sp>
    </p:spTree>
    <p:extLst>
      <p:ext uri="{BB962C8B-B14F-4D97-AF65-F5344CB8AC3E}">
        <p14:creationId xmlns:p14="http://schemas.microsoft.com/office/powerpoint/2010/main" val="374300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C1D448-B7C9-9A41-8DDA-00E53D4B457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B4B7E9DA-3857-234B-4368-B1431A5820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08F2086-E94A-1671-9EAA-139D4F9DEC9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BC7B8F8A-C653-2FAA-2742-605D7161FE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924FB05-5195-A054-03BC-70D4F90EE90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C9C5A780-B023-4601-AAE1-6DF98C0C20EF}"/>
              </a:ext>
            </a:extLst>
          </p:cNvPr>
          <p:cNvSpPr>
            <a:spLocks noGrp="1"/>
          </p:cNvSpPr>
          <p:nvPr>
            <p:ph type="dt" sz="half" idx="10"/>
          </p:nvPr>
        </p:nvSpPr>
        <p:spPr/>
        <p:txBody>
          <a:bodyPr/>
          <a:lstStyle/>
          <a:p>
            <a:fld id="{A56BF325-36A4-4330-87DD-4FD28307FF21}" type="datetimeFigureOut">
              <a:rPr lang="es-CL" smtClean="0"/>
              <a:t>01-09-2025</a:t>
            </a:fld>
            <a:endParaRPr lang="es-CL"/>
          </a:p>
        </p:txBody>
      </p:sp>
      <p:sp>
        <p:nvSpPr>
          <p:cNvPr id="8" name="Marcador de pie de página 7">
            <a:extLst>
              <a:ext uri="{FF2B5EF4-FFF2-40B4-BE49-F238E27FC236}">
                <a16:creationId xmlns:a16="http://schemas.microsoft.com/office/drawing/2014/main" id="{234E7665-F141-FAAC-28E8-139D7F957E9C}"/>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36751739-8790-1923-65FE-AD69DD2C54BE}"/>
              </a:ext>
            </a:extLst>
          </p:cNvPr>
          <p:cNvSpPr>
            <a:spLocks noGrp="1"/>
          </p:cNvSpPr>
          <p:nvPr>
            <p:ph type="sldNum" sz="quarter" idx="12"/>
          </p:nvPr>
        </p:nvSpPr>
        <p:spPr/>
        <p:txBody>
          <a:bodyPr/>
          <a:lstStyle/>
          <a:p>
            <a:fld id="{27010811-987E-4DF6-B82F-5848B0A0EF26}" type="slidenum">
              <a:rPr lang="es-CL" smtClean="0"/>
              <a:t>‹Nº›</a:t>
            </a:fld>
            <a:endParaRPr lang="es-CL"/>
          </a:p>
        </p:txBody>
      </p:sp>
    </p:spTree>
    <p:extLst>
      <p:ext uri="{BB962C8B-B14F-4D97-AF65-F5344CB8AC3E}">
        <p14:creationId xmlns:p14="http://schemas.microsoft.com/office/powerpoint/2010/main" val="1857642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C04398-4ABE-E57C-20E3-1215B22943C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9D680ED8-369A-12C1-B301-BEB193C73003}"/>
              </a:ext>
            </a:extLst>
          </p:cNvPr>
          <p:cNvSpPr>
            <a:spLocks noGrp="1"/>
          </p:cNvSpPr>
          <p:nvPr>
            <p:ph type="dt" sz="half" idx="10"/>
          </p:nvPr>
        </p:nvSpPr>
        <p:spPr/>
        <p:txBody>
          <a:bodyPr/>
          <a:lstStyle/>
          <a:p>
            <a:fld id="{A56BF325-36A4-4330-87DD-4FD28307FF21}" type="datetimeFigureOut">
              <a:rPr lang="es-CL" smtClean="0"/>
              <a:t>01-09-2025</a:t>
            </a:fld>
            <a:endParaRPr lang="es-CL"/>
          </a:p>
        </p:txBody>
      </p:sp>
      <p:sp>
        <p:nvSpPr>
          <p:cNvPr id="4" name="Marcador de pie de página 3">
            <a:extLst>
              <a:ext uri="{FF2B5EF4-FFF2-40B4-BE49-F238E27FC236}">
                <a16:creationId xmlns:a16="http://schemas.microsoft.com/office/drawing/2014/main" id="{5DCCB3AB-F6F8-E314-E569-D3F1A200CB77}"/>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5AD55619-CEC8-A626-4112-3361CCAC8581}"/>
              </a:ext>
            </a:extLst>
          </p:cNvPr>
          <p:cNvSpPr>
            <a:spLocks noGrp="1"/>
          </p:cNvSpPr>
          <p:nvPr>
            <p:ph type="sldNum" sz="quarter" idx="12"/>
          </p:nvPr>
        </p:nvSpPr>
        <p:spPr/>
        <p:txBody>
          <a:bodyPr/>
          <a:lstStyle/>
          <a:p>
            <a:fld id="{27010811-987E-4DF6-B82F-5848B0A0EF26}" type="slidenum">
              <a:rPr lang="es-CL" smtClean="0"/>
              <a:t>‹Nº›</a:t>
            </a:fld>
            <a:endParaRPr lang="es-CL"/>
          </a:p>
        </p:txBody>
      </p:sp>
    </p:spTree>
    <p:extLst>
      <p:ext uri="{BB962C8B-B14F-4D97-AF65-F5344CB8AC3E}">
        <p14:creationId xmlns:p14="http://schemas.microsoft.com/office/powerpoint/2010/main" val="1922301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EE086FF-C832-EA55-B1AA-86FC8CBA341E}"/>
              </a:ext>
            </a:extLst>
          </p:cNvPr>
          <p:cNvSpPr>
            <a:spLocks noGrp="1"/>
          </p:cNvSpPr>
          <p:nvPr>
            <p:ph type="dt" sz="half" idx="10"/>
          </p:nvPr>
        </p:nvSpPr>
        <p:spPr/>
        <p:txBody>
          <a:bodyPr/>
          <a:lstStyle/>
          <a:p>
            <a:fld id="{A56BF325-36A4-4330-87DD-4FD28307FF21}" type="datetimeFigureOut">
              <a:rPr lang="es-CL" smtClean="0"/>
              <a:t>01-09-2025</a:t>
            </a:fld>
            <a:endParaRPr lang="es-CL"/>
          </a:p>
        </p:txBody>
      </p:sp>
      <p:sp>
        <p:nvSpPr>
          <p:cNvPr id="3" name="Marcador de pie de página 2">
            <a:extLst>
              <a:ext uri="{FF2B5EF4-FFF2-40B4-BE49-F238E27FC236}">
                <a16:creationId xmlns:a16="http://schemas.microsoft.com/office/drawing/2014/main" id="{831355EB-2F5B-8414-2609-5DA3E437B7B9}"/>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2A38AB9D-3C1A-B919-1BE8-BB2F0E455D09}"/>
              </a:ext>
            </a:extLst>
          </p:cNvPr>
          <p:cNvSpPr>
            <a:spLocks noGrp="1"/>
          </p:cNvSpPr>
          <p:nvPr>
            <p:ph type="sldNum" sz="quarter" idx="12"/>
          </p:nvPr>
        </p:nvSpPr>
        <p:spPr/>
        <p:txBody>
          <a:bodyPr/>
          <a:lstStyle/>
          <a:p>
            <a:fld id="{27010811-987E-4DF6-B82F-5848B0A0EF26}" type="slidenum">
              <a:rPr lang="es-CL" smtClean="0"/>
              <a:t>‹Nº›</a:t>
            </a:fld>
            <a:endParaRPr lang="es-CL"/>
          </a:p>
        </p:txBody>
      </p:sp>
    </p:spTree>
    <p:extLst>
      <p:ext uri="{BB962C8B-B14F-4D97-AF65-F5344CB8AC3E}">
        <p14:creationId xmlns:p14="http://schemas.microsoft.com/office/powerpoint/2010/main" val="2382142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7C896E-0ADD-530C-5935-B11F3C3E469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C628D2D-1F4F-4D67-3D9A-B3E050620D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80826410-4A5D-58DF-0150-74EA81342A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3961B69-8C15-64AC-E5EF-4F7C80410DEB}"/>
              </a:ext>
            </a:extLst>
          </p:cNvPr>
          <p:cNvSpPr>
            <a:spLocks noGrp="1"/>
          </p:cNvSpPr>
          <p:nvPr>
            <p:ph type="dt" sz="half" idx="10"/>
          </p:nvPr>
        </p:nvSpPr>
        <p:spPr/>
        <p:txBody>
          <a:bodyPr/>
          <a:lstStyle/>
          <a:p>
            <a:fld id="{A56BF325-36A4-4330-87DD-4FD28307FF21}" type="datetimeFigureOut">
              <a:rPr lang="es-CL" smtClean="0"/>
              <a:t>01-09-2025</a:t>
            </a:fld>
            <a:endParaRPr lang="es-CL"/>
          </a:p>
        </p:txBody>
      </p:sp>
      <p:sp>
        <p:nvSpPr>
          <p:cNvPr id="6" name="Marcador de pie de página 5">
            <a:extLst>
              <a:ext uri="{FF2B5EF4-FFF2-40B4-BE49-F238E27FC236}">
                <a16:creationId xmlns:a16="http://schemas.microsoft.com/office/drawing/2014/main" id="{A3AE8BE5-B0C9-7DD5-3087-C672F78C1CC6}"/>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BEC7FB15-BB1C-1CBE-B20B-9121690D92D1}"/>
              </a:ext>
            </a:extLst>
          </p:cNvPr>
          <p:cNvSpPr>
            <a:spLocks noGrp="1"/>
          </p:cNvSpPr>
          <p:nvPr>
            <p:ph type="sldNum" sz="quarter" idx="12"/>
          </p:nvPr>
        </p:nvSpPr>
        <p:spPr/>
        <p:txBody>
          <a:bodyPr/>
          <a:lstStyle/>
          <a:p>
            <a:fld id="{27010811-987E-4DF6-B82F-5848B0A0EF26}" type="slidenum">
              <a:rPr lang="es-CL" smtClean="0"/>
              <a:t>‹Nº›</a:t>
            </a:fld>
            <a:endParaRPr lang="es-CL"/>
          </a:p>
        </p:txBody>
      </p:sp>
    </p:spTree>
    <p:extLst>
      <p:ext uri="{BB962C8B-B14F-4D97-AF65-F5344CB8AC3E}">
        <p14:creationId xmlns:p14="http://schemas.microsoft.com/office/powerpoint/2010/main" val="2410112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BD551A-FAD8-E513-A2F0-AA2A4DA6F3B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B1FEA3BA-1B09-2B1B-E687-93F391986D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0139E92D-AF80-41C2-F470-93DD848151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422099B-28FA-3993-40DF-62BA5AB5A8DB}"/>
              </a:ext>
            </a:extLst>
          </p:cNvPr>
          <p:cNvSpPr>
            <a:spLocks noGrp="1"/>
          </p:cNvSpPr>
          <p:nvPr>
            <p:ph type="dt" sz="half" idx="10"/>
          </p:nvPr>
        </p:nvSpPr>
        <p:spPr/>
        <p:txBody>
          <a:bodyPr/>
          <a:lstStyle/>
          <a:p>
            <a:fld id="{A56BF325-36A4-4330-87DD-4FD28307FF21}" type="datetimeFigureOut">
              <a:rPr lang="es-CL" smtClean="0"/>
              <a:t>01-09-2025</a:t>
            </a:fld>
            <a:endParaRPr lang="es-CL"/>
          </a:p>
        </p:txBody>
      </p:sp>
      <p:sp>
        <p:nvSpPr>
          <p:cNvPr id="6" name="Marcador de pie de página 5">
            <a:extLst>
              <a:ext uri="{FF2B5EF4-FFF2-40B4-BE49-F238E27FC236}">
                <a16:creationId xmlns:a16="http://schemas.microsoft.com/office/drawing/2014/main" id="{8388BEA7-9665-C35A-D733-E6AD8CC54FDC}"/>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ADFC81B0-B8D1-E550-55EA-A537CBC63839}"/>
              </a:ext>
            </a:extLst>
          </p:cNvPr>
          <p:cNvSpPr>
            <a:spLocks noGrp="1"/>
          </p:cNvSpPr>
          <p:nvPr>
            <p:ph type="sldNum" sz="quarter" idx="12"/>
          </p:nvPr>
        </p:nvSpPr>
        <p:spPr/>
        <p:txBody>
          <a:bodyPr/>
          <a:lstStyle/>
          <a:p>
            <a:fld id="{27010811-987E-4DF6-B82F-5848B0A0EF26}" type="slidenum">
              <a:rPr lang="es-CL" smtClean="0"/>
              <a:t>‹Nº›</a:t>
            </a:fld>
            <a:endParaRPr lang="es-CL"/>
          </a:p>
        </p:txBody>
      </p:sp>
    </p:spTree>
    <p:extLst>
      <p:ext uri="{BB962C8B-B14F-4D97-AF65-F5344CB8AC3E}">
        <p14:creationId xmlns:p14="http://schemas.microsoft.com/office/powerpoint/2010/main" val="4000352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80B96F-1E4F-CBB7-A4F3-CDF4303E128B}"/>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47BAECA7-2032-48FB-5CD1-03BE0556FC5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CB9B4440-3C49-30C6-6482-916C85C79580}"/>
              </a:ext>
            </a:extLst>
          </p:cNvPr>
          <p:cNvSpPr>
            <a:spLocks noGrp="1"/>
          </p:cNvSpPr>
          <p:nvPr>
            <p:ph type="dt" sz="half" idx="10"/>
          </p:nvPr>
        </p:nvSpPr>
        <p:spPr/>
        <p:txBody>
          <a:bodyPr/>
          <a:lstStyle/>
          <a:p>
            <a:fld id="{A56BF325-36A4-4330-87DD-4FD28307FF21}" type="datetimeFigureOut">
              <a:rPr lang="es-CL" smtClean="0"/>
              <a:t>01-09-2025</a:t>
            </a:fld>
            <a:endParaRPr lang="es-CL"/>
          </a:p>
        </p:txBody>
      </p:sp>
      <p:sp>
        <p:nvSpPr>
          <p:cNvPr id="5" name="Marcador de pie de página 4">
            <a:extLst>
              <a:ext uri="{FF2B5EF4-FFF2-40B4-BE49-F238E27FC236}">
                <a16:creationId xmlns:a16="http://schemas.microsoft.com/office/drawing/2014/main" id="{5893A38E-397F-5B4A-7750-7357A918D2D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D390539-D2C9-3DC9-2F13-18BFE3195C6F}"/>
              </a:ext>
            </a:extLst>
          </p:cNvPr>
          <p:cNvSpPr>
            <a:spLocks noGrp="1"/>
          </p:cNvSpPr>
          <p:nvPr>
            <p:ph type="sldNum" sz="quarter" idx="12"/>
          </p:nvPr>
        </p:nvSpPr>
        <p:spPr/>
        <p:txBody>
          <a:bodyPr/>
          <a:lstStyle/>
          <a:p>
            <a:fld id="{27010811-987E-4DF6-B82F-5848B0A0EF26}" type="slidenum">
              <a:rPr lang="es-CL" smtClean="0"/>
              <a:t>‹Nº›</a:t>
            </a:fld>
            <a:endParaRPr lang="es-CL"/>
          </a:p>
        </p:txBody>
      </p:sp>
    </p:spTree>
    <p:extLst>
      <p:ext uri="{BB962C8B-B14F-4D97-AF65-F5344CB8AC3E}">
        <p14:creationId xmlns:p14="http://schemas.microsoft.com/office/powerpoint/2010/main" val="4132427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478FA5C-0D71-A2AC-4EAE-E2AC9C3F050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BAC20E16-BE70-D92D-54F9-1CDF8250EC9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6EDA42F9-7869-FB57-4B0D-85A9B3186202}"/>
              </a:ext>
            </a:extLst>
          </p:cNvPr>
          <p:cNvSpPr>
            <a:spLocks noGrp="1"/>
          </p:cNvSpPr>
          <p:nvPr>
            <p:ph type="dt" sz="half" idx="10"/>
          </p:nvPr>
        </p:nvSpPr>
        <p:spPr/>
        <p:txBody>
          <a:bodyPr/>
          <a:lstStyle/>
          <a:p>
            <a:fld id="{A56BF325-36A4-4330-87DD-4FD28307FF21}" type="datetimeFigureOut">
              <a:rPr lang="es-CL" smtClean="0"/>
              <a:t>01-09-2025</a:t>
            </a:fld>
            <a:endParaRPr lang="es-CL"/>
          </a:p>
        </p:txBody>
      </p:sp>
      <p:sp>
        <p:nvSpPr>
          <p:cNvPr id="5" name="Marcador de pie de página 4">
            <a:extLst>
              <a:ext uri="{FF2B5EF4-FFF2-40B4-BE49-F238E27FC236}">
                <a16:creationId xmlns:a16="http://schemas.microsoft.com/office/drawing/2014/main" id="{99B4ED75-A5CC-B43E-32A3-6368A2135FA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176394C-234D-6B50-DA3F-85976DDBE29C}"/>
              </a:ext>
            </a:extLst>
          </p:cNvPr>
          <p:cNvSpPr>
            <a:spLocks noGrp="1"/>
          </p:cNvSpPr>
          <p:nvPr>
            <p:ph type="sldNum" sz="quarter" idx="12"/>
          </p:nvPr>
        </p:nvSpPr>
        <p:spPr/>
        <p:txBody>
          <a:bodyPr/>
          <a:lstStyle/>
          <a:p>
            <a:fld id="{27010811-987E-4DF6-B82F-5848B0A0EF26}" type="slidenum">
              <a:rPr lang="es-CL" smtClean="0"/>
              <a:t>‹Nº›</a:t>
            </a:fld>
            <a:endParaRPr lang="es-CL"/>
          </a:p>
        </p:txBody>
      </p:sp>
    </p:spTree>
    <p:extLst>
      <p:ext uri="{BB962C8B-B14F-4D97-AF65-F5344CB8AC3E}">
        <p14:creationId xmlns:p14="http://schemas.microsoft.com/office/powerpoint/2010/main" val="2652498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B29FBDD-4B0A-44E0-88A3-C854A8878A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CD832CA-7FBB-885C-A7C5-F32D48783F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a:t>
            </a:r>
            <a:r>
              <a:rPr lang="es-ES" dirty="0" err="1"/>
              <a:t>nivelt</a:t>
            </a:r>
            <a:endParaRPr lang="es-CL" dirty="0"/>
          </a:p>
        </p:txBody>
      </p:sp>
      <p:sp>
        <p:nvSpPr>
          <p:cNvPr id="4" name="Marcador de fecha 3">
            <a:extLst>
              <a:ext uri="{FF2B5EF4-FFF2-40B4-BE49-F238E27FC236}">
                <a16:creationId xmlns:a16="http://schemas.microsoft.com/office/drawing/2014/main" id="{9CDDE8D6-CEFA-079D-9C64-914F850E49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6BF325-36A4-4330-87DD-4FD28307FF21}" type="datetimeFigureOut">
              <a:rPr lang="es-CL" smtClean="0"/>
              <a:t>01-09-2025</a:t>
            </a:fld>
            <a:endParaRPr lang="es-CL"/>
          </a:p>
        </p:txBody>
      </p:sp>
      <p:sp>
        <p:nvSpPr>
          <p:cNvPr id="5" name="Marcador de pie de página 4">
            <a:extLst>
              <a:ext uri="{FF2B5EF4-FFF2-40B4-BE49-F238E27FC236}">
                <a16:creationId xmlns:a16="http://schemas.microsoft.com/office/drawing/2014/main" id="{3BB4F31A-9505-5A50-57DE-04817138E3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0273BAA6-01CA-B816-B0E0-C267EA6905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010811-987E-4DF6-B82F-5848B0A0EF26}" type="slidenum">
              <a:rPr lang="es-CL" smtClean="0"/>
              <a:t>‹Nº›</a:t>
            </a:fld>
            <a:endParaRPr lang="es-CL"/>
          </a:p>
        </p:txBody>
      </p:sp>
      <p:pic>
        <p:nvPicPr>
          <p:cNvPr id="7" name="Imagen 6">
            <a:extLst>
              <a:ext uri="{FF2B5EF4-FFF2-40B4-BE49-F238E27FC236}">
                <a16:creationId xmlns:a16="http://schemas.microsoft.com/office/drawing/2014/main" id="{C8D94AF5-780B-A06F-D8DD-9F529CB54A8C}"/>
              </a:ext>
            </a:extLst>
          </p:cNvPr>
          <p:cNvPicPr>
            <a:picLocks noChangeAspect="1"/>
          </p:cNvPicPr>
          <p:nvPr userDrawn="1"/>
        </p:nvPicPr>
        <p:blipFill>
          <a:blip r:embed="rId14"/>
          <a:stretch>
            <a:fillRect/>
          </a:stretch>
        </p:blipFill>
        <p:spPr>
          <a:xfrm>
            <a:off x="10261488" y="6456897"/>
            <a:ext cx="1708763" cy="283657"/>
          </a:xfrm>
          <a:prstGeom prst="rect">
            <a:avLst/>
          </a:prstGeom>
        </p:spPr>
      </p:pic>
      <p:sp>
        <p:nvSpPr>
          <p:cNvPr id="8" name="CuadroTexto 7">
            <a:extLst>
              <a:ext uri="{FF2B5EF4-FFF2-40B4-BE49-F238E27FC236}">
                <a16:creationId xmlns:a16="http://schemas.microsoft.com/office/drawing/2014/main" id="{D5EDD40E-945B-32D1-E41B-1973D8C07F36}"/>
              </a:ext>
            </a:extLst>
          </p:cNvPr>
          <p:cNvSpPr txBox="1"/>
          <p:nvPr userDrawn="1"/>
        </p:nvSpPr>
        <p:spPr>
          <a:xfrm>
            <a:off x="191782" y="6469707"/>
            <a:ext cx="3240641" cy="246221"/>
          </a:xfrm>
          <a:prstGeom prst="rect">
            <a:avLst/>
          </a:prstGeom>
          <a:noFill/>
        </p:spPr>
        <p:txBody>
          <a:bodyPr wrap="square" rtlCol="0">
            <a:spAutoFit/>
          </a:bodyPr>
          <a:lstStyle/>
          <a:p>
            <a:pPr algn="l"/>
            <a:r>
              <a:rPr lang="es-CL" sz="1000" dirty="0">
                <a:solidFill>
                  <a:srgbClr val="0034D9"/>
                </a:solidFill>
              </a:rPr>
              <a:t>Departamento de Administración – FEN - </a:t>
            </a:r>
            <a:r>
              <a:rPr lang="es-CL" sz="1000" dirty="0" err="1">
                <a:solidFill>
                  <a:srgbClr val="0034D9"/>
                </a:solidFill>
              </a:rPr>
              <a:t>Uchile</a:t>
            </a:r>
            <a:endParaRPr lang="es-CL" sz="1000" dirty="0">
              <a:solidFill>
                <a:srgbClr val="0034D9"/>
              </a:solidFill>
            </a:endParaRPr>
          </a:p>
        </p:txBody>
      </p:sp>
      <p:cxnSp>
        <p:nvCxnSpPr>
          <p:cNvPr id="9" name="Conector recto 8">
            <a:extLst>
              <a:ext uri="{FF2B5EF4-FFF2-40B4-BE49-F238E27FC236}">
                <a16:creationId xmlns:a16="http://schemas.microsoft.com/office/drawing/2014/main" id="{EA3AF0DA-7476-E9BD-69C7-6452F80DADA6}"/>
              </a:ext>
            </a:extLst>
          </p:cNvPr>
          <p:cNvCxnSpPr/>
          <p:nvPr userDrawn="1"/>
        </p:nvCxnSpPr>
        <p:spPr>
          <a:xfrm>
            <a:off x="-145551" y="6349643"/>
            <a:ext cx="12483101" cy="0"/>
          </a:xfrm>
          <a:prstGeom prst="line">
            <a:avLst/>
          </a:prstGeom>
          <a:ln w="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2878653"/>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1.xml"/><Relationship Id="rId5" Type="http://schemas.openxmlformats.org/officeDocument/2006/relationships/image" Target="../media/image5.emf"/><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www.linkedin.com/in/sebastian-egana-santibanez/" TargetMode="External"/><Relationship Id="rId2" Type="http://schemas.openxmlformats.org/officeDocument/2006/relationships/hyperlink" Target="mailto:segana@fen.uchile.cl"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www.bcentral.cl/web/banco-central/areas/encuestas-economicas" TargetMode="External"/><Relationship Id="rId2" Type="http://schemas.openxmlformats.org/officeDocument/2006/relationships/hyperlink" Target="https://www.bcentral.cl/web/banco-central/areas/estadisticas/imacec"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bcentral.cl/web/banco-central/areas/estadisticas/cuentas-nacionales-de-chile-metodos-y-fuentes-de-informacion"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datos.bancomundial.org/indicator/NY.GDP.PCAP.CD?end=2021&amp;most_recent_value_desc=true&amp;start=2021&amp;type=shaded&amp;view=map" TargetMode="External"/><Relationship Id="rId2" Type="http://schemas.openxmlformats.org/officeDocument/2006/relationships/hyperlink" Target="https://www.core-econ.org/the-economy/v1/book/es/text/01.html#ingresos-medios-disponibles-y-bienestar-medio" TargetMode="External"/><Relationship Id="rId1" Type="http://schemas.openxmlformats.org/officeDocument/2006/relationships/slideLayout" Target="../slideLayouts/slideLayout3.xml"/><Relationship Id="rId4" Type="http://schemas.openxmlformats.org/officeDocument/2006/relationships/hyperlink" Target="https://datos.bancomundial.org/indicador/SI.POV.GINI?most_recent_value_desc=true&amp;type=shaded&amp;view=map&amp;year=202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ine.gob.cl/docs/default-source/ocupacion-y-desocupacion/metodologia/espanol/metodolog&#237;a-encuesta-nacional-de-empleo-ene-2020.pdf?sfvrsn=793380e9_8"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www.subtrab.gob.cl/division-politicas-de-empleo/prospeccion-laboral/pol/" TargetMode="External"/><Relationship Id="rId2" Type="http://schemas.openxmlformats.org/officeDocument/2006/relationships/hyperlink" Target="https://www.ine.gob.cl/estadisticas/sociales/mercado-laboral/ocupacion-y-desocupacion" TargetMode="Externa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hyperlink" Target="https://www.bcentral.cl/web/banco-central/areas/encuestas-economicas" TargetMode="External"/><Relationship Id="rId2" Type="http://schemas.openxmlformats.org/officeDocument/2006/relationships/hyperlink" Target="https://www.bcentral.cl/web/banco-central/areas/politica-monetaria/informe-de-politica-monetaria" TargetMode="External"/><Relationship Id="rId1" Type="http://schemas.openxmlformats.org/officeDocument/2006/relationships/slideLayout" Target="../slideLayouts/slideLayout3.xml"/><Relationship Id="rId4" Type="http://schemas.openxmlformats.org/officeDocument/2006/relationships/hyperlink" Target="https://www.imf.org/es/Publications/WEO/Issues/2023/01/31/world-economic-outlook-update-january-2023"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034D9"/>
        </a:solidFill>
        <a:effectLst/>
      </p:bgPr>
    </p:bg>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0BF4270B-3A3F-E0FB-C636-EA173FCE9D9F}"/>
              </a:ext>
            </a:extLst>
          </p:cNvPr>
          <p:cNvPicPr>
            <a:picLocks noChangeAspect="1"/>
          </p:cNvPicPr>
          <p:nvPr/>
        </p:nvPicPr>
        <p:blipFill>
          <a:blip r:embed="rId2">
            <a:alphaModFix amt="10000"/>
          </a:blip>
          <a:stretch>
            <a:fillRect/>
          </a:stretch>
        </p:blipFill>
        <p:spPr>
          <a:xfrm>
            <a:off x="1101437" y="-2208"/>
            <a:ext cx="9518072" cy="6864953"/>
          </a:xfrm>
          <a:prstGeom prst="rect">
            <a:avLst/>
          </a:prstGeom>
        </p:spPr>
      </p:pic>
      <p:sp>
        <p:nvSpPr>
          <p:cNvPr id="10" name="CuadroTexto 9">
            <a:extLst>
              <a:ext uri="{FF2B5EF4-FFF2-40B4-BE49-F238E27FC236}">
                <a16:creationId xmlns:a16="http://schemas.microsoft.com/office/drawing/2014/main" id="{BCCA5A11-11BE-FA95-2142-1D2BE72A92BB}"/>
              </a:ext>
            </a:extLst>
          </p:cNvPr>
          <p:cNvSpPr txBox="1"/>
          <p:nvPr/>
        </p:nvSpPr>
        <p:spPr>
          <a:xfrm>
            <a:off x="661553" y="2167116"/>
            <a:ext cx="11028219" cy="1261884"/>
          </a:xfrm>
          <a:prstGeom prst="rect">
            <a:avLst/>
          </a:prstGeom>
          <a:noFill/>
        </p:spPr>
        <p:txBody>
          <a:bodyPr wrap="square" rtlCol="0">
            <a:spAutoFit/>
          </a:bodyPr>
          <a:lstStyle/>
          <a:p>
            <a:pPr algn="ctr"/>
            <a:r>
              <a:rPr lang="es-ES" sz="3800" b="1" dirty="0">
                <a:solidFill>
                  <a:schemeClr val="bg1"/>
                </a:solidFill>
                <a:latin typeface="TT Wellingtons" panose="020B0103030000020004" pitchFamily="34" charset="0"/>
              </a:rPr>
              <a:t>Entorno Económico y Financiero para las Decisiones de Inversión</a:t>
            </a:r>
          </a:p>
        </p:txBody>
      </p:sp>
      <p:pic>
        <p:nvPicPr>
          <p:cNvPr id="12" name="Imagen 11">
            <a:extLst>
              <a:ext uri="{FF2B5EF4-FFF2-40B4-BE49-F238E27FC236}">
                <a16:creationId xmlns:a16="http://schemas.microsoft.com/office/drawing/2014/main" id="{356AB74D-C4AA-3208-3824-FBD4E028414D}"/>
              </a:ext>
            </a:extLst>
          </p:cNvPr>
          <p:cNvPicPr>
            <a:picLocks noChangeAspect="1"/>
          </p:cNvPicPr>
          <p:nvPr/>
        </p:nvPicPr>
        <p:blipFill>
          <a:blip r:embed="rId3"/>
          <a:stretch>
            <a:fillRect/>
          </a:stretch>
        </p:blipFill>
        <p:spPr>
          <a:xfrm>
            <a:off x="661553" y="817739"/>
            <a:ext cx="4161425" cy="690803"/>
          </a:xfrm>
          <a:prstGeom prst="rect">
            <a:avLst/>
          </a:prstGeom>
        </p:spPr>
      </p:pic>
      <p:pic>
        <p:nvPicPr>
          <p:cNvPr id="13" name="Imagen 12">
            <a:extLst>
              <a:ext uri="{FF2B5EF4-FFF2-40B4-BE49-F238E27FC236}">
                <a16:creationId xmlns:a16="http://schemas.microsoft.com/office/drawing/2014/main" id="{3DA29E2D-F2D1-0986-8FFA-90BD84D741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70770" y="5953991"/>
            <a:ext cx="4155653" cy="589235"/>
          </a:xfrm>
          <a:prstGeom prst="rect">
            <a:avLst/>
          </a:prstGeom>
        </p:spPr>
      </p:pic>
      <p:sp>
        <p:nvSpPr>
          <p:cNvPr id="14" name="CuadroTexto 13">
            <a:extLst>
              <a:ext uri="{FF2B5EF4-FFF2-40B4-BE49-F238E27FC236}">
                <a16:creationId xmlns:a16="http://schemas.microsoft.com/office/drawing/2014/main" id="{C0B173A5-7484-A295-A0E7-2AAB590FCB37}"/>
              </a:ext>
            </a:extLst>
          </p:cNvPr>
          <p:cNvSpPr txBox="1"/>
          <p:nvPr/>
        </p:nvSpPr>
        <p:spPr>
          <a:xfrm>
            <a:off x="661553" y="4773301"/>
            <a:ext cx="11028219" cy="369332"/>
          </a:xfrm>
          <a:prstGeom prst="rect">
            <a:avLst/>
          </a:prstGeom>
          <a:noFill/>
        </p:spPr>
        <p:txBody>
          <a:bodyPr wrap="square" rtlCol="0">
            <a:spAutoFit/>
          </a:bodyPr>
          <a:lstStyle/>
          <a:p>
            <a:pPr algn="ctr"/>
            <a:r>
              <a:rPr lang="es-CL" dirty="0">
                <a:solidFill>
                  <a:schemeClr val="bg1"/>
                </a:solidFill>
                <a:latin typeface="TT Wellingtons" panose="020B0103030000020004" pitchFamily="34" charset="0"/>
              </a:rPr>
              <a:t>Santiago, marzo 2025</a:t>
            </a:r>
          </a:p>
        </p:txBody>
      </p:sp>
      <p:sp>
        <p:nvSpPr>
          <p:cNvPr id="15" name="CuadroTexto 14">
            <a:extLst>
              <a:ext uri="{FF2B5EF4-FFF2-40B4-BE49-F238E27FC236}">
                <a16:creationId xmlns:a16="http://schemas.microsoft.com/office/drawing/2014/main" id="{2DE1B3FA-2737-A714-41ED-CD9CDB793DF2}"/>
              </a:ext>
            </a:extLst>
          </p:cNvPr>
          <p:cNvSpPr txBox="1"/>
          <p:nvPr/>
        </p:nvSpPr>
        <p:spPr>
          <a:xfrm>
            <a:off x="661554" y="3542017"/>
            <a:ext cx="11028219" cy="553998"/>
          </a:xfrm>
          <a:prstGeom prst="rect">
            <a:avLst/>
          </a:prstGeom>
          <a:noFill/>
        </p:spPr>
        <p:txBody>
          <a:bodyPr wrap="square" rtlCol="0">
            <a:spAutoFit/>
          </a:bodyPr>
          <a:lstStyle/>
          <a:p>
            <a:pPr algn="ctr"/>
            <a:r>
              <a:rPr lang="es-CL" sz="3000" dirty="0">
                <a:solidFill>
                  <a:schemeClr val="bg1"/>
                </a:solidFill>
                <a:latin typeface="TT Wellingtons" panose="020B0103030000020004" pitchFamily="34" charset="0"/>
              </a:rPr>
              <a:t>Clase 01</a:t>
            </a:r>
          </a:p>
        </p:txBody>
      </p:sp>
      <p:pic>
        <p:nvPicPr>
          <p:cNvPr id="16" name="Imagen 15">
            <a:extLst>
              <a:ext uri="{FF2B5EF4-FFF2-40B4-BE49-F238E27FC236}">
                <a16:creationId xmlns:a16="http://schemas.microsoft.com/office/drawing/2014/main" id="{FBCF0253-0B53-B21D-A54B-6541BDCEF7DC}"/>
              </a:ext>
            </a:extLst>
          </p:cNvPr>
          <p:cNvPicPr>
            <a:picLocks noChangeAspect="1"/>
          </p:cNvPicPr>
          <p:nvPr/>
        </p:nvPicPr>
        <p:blipFill>
          <a:blip r:embed="rId5"/>
          <a:stretch>
            <a:fillRect/>
          </a:stretch>
        </p:blipFill>
        <p:spPr>
          <a:xfrm>
            <a:off x="8709330" y="481119"/>
            <a:ext cx="2821117" cy="1027422"/>
          </a:xfrm>
          <a:prstGeom prst="rect">
            <a:avLst/>
          </a:prstGeom>
        </p:spPr>
      </p:pic>
    </p:spTree>
    <p:extLst>
      <p:ext uri="{BB962C8B-B14F-4D97-AF65-F5344CB8AC3E}">
        <p14:creationId xmlns:p14="http://schemas.microsoft.com/office/powerpoint/2010/main" val="2220772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872560A6-6407-39EB-6B25-BDD95D3B55BB}"/>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77500" lnSpcReduction="20000"/>
          </a:bodyPr>
          <a:lstStyle/>
          <a:p>
            <a:pPr>
              <a:lnSpc>
                <a:spcPct val="100000"/>
              </a:lnSpc>
            </a:pPr>
            <a:r>
              <a:rPr lang="es-ES" sz="4400" b="1" spc="-1" dirty="0">
                <a:solidFill>
                  <a:srgbClr val="0034D9"/>
                </a:solidFill>
                <a:latin typeface="TT Wellingtons" panose="02000503020000020004" pitchFamily="2" charset="77"/>
                <a:ea typeface="DejaVu Sans"/>
              </a:rPr>
              <a:t>Entorno Económico y Financiero para las Decisiones de Inversión</a:t>
            </a:r>
          </a:p>
        </p:txBody>
      </p:sp>
      <p:sp>
        <p:nvSpPr>
          <p:cNvPr id="5" name="CustomShape 2">
            <a:extLst>
              <a:ext uri="{FF2B5EF4-FFF2-40B4-BE49-F238E27FC236}">
                <a16:creationId xmlns:a16="http://schemas.microsoft.com/office/drawing/2014/main" id="{1E5D7866-070D-9419-B522-AECEE510D730}"/>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lnSpc>
                <a:spcPct val="100000"/>
              </a:lnSpc>
              <a:spcBef>
                <a:spcPts val="360"/>
              </a:spcBef>
              <a:buClr>
                <a:srgbClr val="404040"/>
              </a:buClr>
            </a:pPr>
            <a:r>
              <a:rPr lang="es-ES" b="0" strike="noStrike" spc="-1" dirty="0">
                <a:solidFill>
                  <a:srgbClr val="404040"/>
                </a:solidFill>
                <a:latin typeface="Calibri"/>
                <a:ea typeface="DejaVu Sans"/>
              </a:rPr>
              <a:t>Docentes: </a:t>
            </a:r>
          </a:p>
          <a:p>
            <a:pPr marL="343080" indent="-342000">
              <a:lnSpc>
                <a:spcPct val="100000"/>
              </a:lnSpc>
              <a:spcBef>
                <a:spcPts val="360"/>
              </a:spcBef>
              <a:buClr>
                <a:srgbClr val="404040"/>
              </a:buClr>
              <a:buFont typeface="Arial"/>
              <a:buChar char="•"/>
            </a:pPr>
            <a:r>
              <a:rPr lang="es-ES" b="0" strike="noStrike" spc="-1" dirty="0">
                <a:solidFill>
                  <a:srgbClr val="404040"/>
                </a:solidFill>
                <a:latin typeface="Calibri"/>
                <a:ea typeface="DejaVu Sans"/>
              </a:rPr>
              <a:t>Sebastián Egaña Santibáñez</a:t>
            </a:r>
          </a:p>
          <a:p>
            <a:pPr marL="343080" indent="-342000">
              <a:lnSpc>
                <a:spcPct val="100000"/>
              </a:lnSpc>
              <a:spcBef>
                <a:spcPts val="360"/>
              </a:spcBef>
              <a:buClr>
                <a:srgbClr val="404040"/>
              </a:buClr>
              <a:buFont typeface="Arial"/>
              <a:buChar char="•"/>
            </a:pPr>
            <a:r>
              <a:rPr lang="es-ES" b="0" strike="noStrike" spc="-1" dirty="0">
                <a:solidFill>
                  <a:srgbClr val="404040"/>
                </a:solidFill>
                <a:latin typeface="Calibri"/>
                <a:ea typeface="DejaVu Sans"/>
              </a:rPr>
              <a:t>Felipe Jaque</a:t>
            </a:r>
          </a:p>
          <a:p>
            <a:pPr marL="343080" indent="-342000">
              <a:lnSpc>
                <a:spcPct val="100000"/>
              </a:lnSpc>
              <a:spcBef>
                <a:spcPts val="360"/>
              </a:spcBef>
              <a:buClr>
                <a:srgbClr val="404040"/>
              </a:buClr>
              <a:buFont typeface="Arial"/>
              <a:buChar char="•"/>
            </a:pPr>
            <a:endParaRPr lang="es-ES" b="0" strike="noStrike" spc="-1" dirty="0">
              <a:solidFill>
                <a:srgbClr val="404040"/>
              </a:solidFill>
              <a:latin typeface="Calibri"/>
              <a:ea typeface="DejaVu Sans"/>
            </a:endParaRPr>
          </a:p>
          <a:p>
            <a:pPr marL="1080">
              <a:lnSpc>
                <a:spcPct val="100000"/>
              </a:lnSpc>
              <a:spcBef>
                <a:spcPts val="360"/>
              </a:spcBef>
              <a:buClr>
                <a:srgbClr val="404040"/>
              </a:buClr>
            </a:pPr>
            <a:r>
              <a:rPr lang="es-ES" b="0" strike="noStrike" spc="-1" dirty="0">
                <a:solidFill>
                  <a:srgbClr val="404040"/>
                </a:solidFill>
                <a:latin typeface="Calibri"/>
                <a:ea typeface="DejaVu Sans"/>
              </a:rPr>
              <a:t>Ayudante:</a:t>
            </a:r>
          </a:p>
          <a:p>
            <a:pPr marL="343080" indent="-342000">
              <a:lnSpc>
                <a:spcPct val="100000"/>
              </a:lnSpc>
              <a:spcBef>
                <a:spcPts val="360"/>
              </a:spcBef>
              <a:buClr>
                <a:srgbClr val="404040"/>
              </a:buClr>
              <a:buFont typeface="Arial"/>
              <a:buChar char="•"/>
            </a:pPr>
            <a:r>
              <a:rPr lang="es-ES" b="0" strike="noStrike" spc="-1" dirty="0">
                <a:solidFill>
                  <a:srgbClr val="404040"/>
                </a:solidFill>
                <a:latin typeface="Calibri"/>
                <a:ea typeface="DejaVu Sans"/>
              </a:rPr>
              <a:t>Jean Pierre Bravo</a:t>
            </a:r>
          </a:p>
          <a:p>
            <a:pPr marL="343080" indent="-342000">
              <a:lnSpc>
                <a:spcPct val="100000"/>
              </a:lnSpc>
              <a:spcBef>
                <a:spcPts val="360"/>
              </a:spcBef>
              <a:buClr>
                <a:srgbClr val="404040"/>
              </a:buClr>
              <a:buFont typeface="Arial"/>
              <a:buChar char="•"/>
            </a:pPr>
            <a:endParaRPr lang="es-ES" b="0" strike="noStrike" spc="-1" dirty="0">
              <a:solidFill>
                <a:srgbClr val="404040"/>
              </a:solidFill>
              <a:latin typeface="Calibri"/>
              <a:ea typeface="DejaVu Sans"/>
            </a:endParaRPr>
          </a:p>
          <a:p>
            <a:pPr marL="1080">
              <a:lnSpc>
                <a:spcPct val="100000"/>
              </a:lnSpc>
              <a:spcBef>
                <a:spcPts val="360"/>
              </a:spcBef>
              <a:buClr>
                <a:srgbClr val="404040"/>
              </a:buClr>
            </a:pPr>
            <a:r>
              <a:rPr lang="es-ES" b="0" strike="noStrike" spc="-1" dirty="0">
                <a:solidFill>
                  <a:srgbClr val="404040"/>
                </a:solidFill>
                <a:latin typeface="Calibri"/>
                <a:ea typeface="DejaVu Sans"/>
              </a:rPr>
              <a:t>Contenidos</a:t>
            </a:r>
          </a:p>
          <a:p>
            <a:pPr marL="343080" indent="-342000">
              <a:lnSpc>
                <a:spcPct val="100000"/>
              </a:lnSpc>
              <a:spcBef>
                <a:spcPts val="360"/>
              </a:spcBef>
              <a:buClr>
                <a:srgbClr val="404040"/>
              </a:buClr>
              <a:buFont typeface="Arial"/>
              <a:buChar char="•"/>
            </a:pPr>
            <a:r>
              <a:rPr lang="es-ES" b="0" strike="noStrike" spc="-1" dirty="0">
                <a:solidFill>
                  <a:srgbClr val="404040"/>
                </a:solidFill>
                <a:latin typeface="Calibri"/>
                <a:ea typeface="DejaVu Sans"/>
              </a:rPr>
              <a:t>Análisis de principales variables macroeconómicas </a:t>
            </a:r>
          </a:p>
          <a:p>
            <a:pPr marL="343080" indent="-342000">
              <a:lnSpc>
                <a:spcPct val="100000"/>
              </a:lnSpc>
              <a:spcBef>
                <a:spcPts val="360"/>
              </a:spcBef>
              <a:buClr>
                <a:srgbClr val="404040"/>
              </a:buClr>
              <a:buFont typeface="Arial"/>
              <a:buChar char="•"/>
            </a:pPr>
            <a:r>
              <a:rPr lang="es-ES" b="0" strike="noStrike" spc="-1" dirty="0">
                <a:solidFill>
                  <a:srgbClr val="404040"/>
                </a:solidFill>
                <a:latin typeface="Calibri"/>
                <a:ea typeface="DejaVu Sans"/>
              </a:rPr>
              <a:t>Políticas Macroeconómicas</a:t>
            </a:r>
          </a:p>
          <a:p>
            <a:pPr marL="343080" indent="-342000">
              <a:lnSpc>
                <a:spcPct val="100000"/>
              </a:lnSpc>
              <a:spcBef>
                <a:spcPts val="360"/>
              </a:spcBef>
              <a:buClr>
                <a:srgbClr val="404040"/>
              </a:buClr>
              <a:buFont typeface="Arial"/>
              <a:buChar char="•"/>
            </a:pPr>
            <a:r>
              <a:rPr lang="es-ES" b="0" strike="noStrike" spc="-1" dirty="0">
                <a:solidFill>
                  <a:srgbClr val="404040"/>
                </a:solidFill>
                <a:latin typeface="Calibri"/>
                <a:ea typeface="DejaVu Sans"/>
              </a:rPr>
              <a:t>Revisión de modelos de mercado de bienes y de activos financieros</a:t>
            </a:r>
          </a:p>
          <a:p>
            <a:pPr marL="343080" indent="-342000">
              <a:lnSpc>
                <a:spcPct val="100000"/>
              </a:lnSpc>
              <a:spcBef>
                <a:spcPts val="360"/>
              </a:spcBef>
              <a:buClr>
                <a:srgbClr val="404040"/>
              </a:buClr>
              <a:buFont typeface="Arial"/>
              <a:buChar char="•"/>
            </a:pPr>
            <a:r>
              <a:rPr lang="es-ES" b="0" strike="noStrike" spc="-1" dirty="0">
                <a:solidFill>
                  <a:srgbClr val="404040"/>
                </a:solidFill>
                <a:latin typeface="Calibri"/>
                <a:ea typeface="DejaVu Sans"/>
              </a:rPr>
              <a:t>Comportamiento los agentes económicos: consumo y gobierno</a:t>
            </a:r>
          </a:p>
        </p:txBody>
      </p:sp>
      <p:sp>
        <p:nvSpPr>
          <p:cNvPr id="6" name="CustomShape 1">
            <a:extLst>
              <a:ext uri="{FF2B5EF4-FFF2-40B4-BE49-F238E27FC236}">
                <a16:creationId xmlns:a16="http://schemas.microsoft.com/office/drawing/2014/main" id="{2DECC501-A19E-DF43-9E2E-222DDB58ACAF}"/>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2800" b="1" spc="-1" dirty="0">
                <a:solidFill>
                  <a:schemeClr val="tx1">
                    <a:lumMod val="75000"/>
                    <a:lumOff val="25000"/>
                  </a:schemeClr>
                </a:solidFill>
                <a:latin typeface="TT Wellingtons DemiBold" panose="02000503020000020004" pitchFamily="2" charset="77"/>
              </a:rPr>
              <a:t>Presentación del curso</a:t>
            </a:r>
            <a:endParaRPr lang="es-CL" sz="2800" b="1" strike="noStrike" spc="-1" dirty="0">
              <a:solidFill>
                <a:schemeClr val="tx1">
                  <a:lumMod val="75000"/>
                  <a:lumOff val="25000"/>
                </a:schemeClr>
              </a:solidFill>
              <a:latin typeface="TT Wellingtons DemiBold" panose="02000503020000020004" pitchFamily="2" charset="77"/>
            </a:endParaRPr>
          </a:p>
        </p:txBody>
      </p:sp>
    </p:spTree>
    <p:extLst>
      <p:ext uri="{BB962C8B-B14F-4D97-AF65-F5344CB8AC3E}">
        <p14:creationId xmlns:p14="http://schemas.microsoft.com/office/powerpoint/2010/main" val="466372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11C49-0D9E-052B-FD23-AD5C7D78E783}"/>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1BC12867-0502-DD86-341B-E4C3B4A7D6A9}"/>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77500" lnSpcReduction="20000"/>
          </a:bodyPr>
          <a:lstStyle/>
          <a:p>
            <a:pPr>
              <a:lnSpc>
                <a:spcPct val="100000"/>
              </a:lnSpc>
            </a:pPr>
            <a:r>
              <a:rPr lang="es-CL" sz="4400" b="1" spc="-1" noProof="0" dirty="0">
                <a:solidFill>
                  <a:srgbClr val="0034D9"/>
                </a:solidFill>
                <a:latin typeface="TT Wellingtons" panose="02000503020000020004" pitchFamily="2" charset="77"/>
                <a:ea typeface="DejaVu Sans"/>
              </a:rPr>
              <a:t>Entorno Económico y Financiero para las Decisiones de Inversión</a:t>
            </a:r>
          </a:p>
        </p:txBody>
      </p:sp>
      <p:sp>
        <p:nvSpPr>
          <p:cNvPr id="5" name="CustomShape 2">
            <a:extLst>
              <a:ext uri="{FF2B5EF4-FFF2-40B4-BE49-F238E27FC236}">
                <a16:creationId xmlns:a16="http://schemas.microsoft.com/office/drawing/2014/main" id="{9648A10A-8570-D6A0-6119-CB0A3EED8BFB}"/>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lnSpc>
                <a:spcPct val="100000"/>
              </a:lnSpc>
              <a:spcBef>
                <a:spcPts val="360"/>
              </a:spcBef>
              <a:buClr>
                <a:srgbClr val="404040"/>
              </a:buClr>
            </a:pPr>
            <a:r>
              <a:rPr lang="es-CL" b="0" strike="noStrike" spc="-1" noProof="0" dirty="0">
                <a:solidFill>
                  <a:srgbClr val="404040"/>
                </a:solidFill>
                <a:latin typeface="Calibri"/>
                <a:ea typeface="DejaVu Sans"/>
              </a:rPr>
              <a:t>✈️ </a:t>
            </a:r>
            <a:r>
              <a:rPr lang="es-CL" b="0" strike="noStrike" spc="-1" noProof="0" dirty="0" err="1">
                <a:solidFill>
                  <a:srgbClr val="404040"/>
                </a:solidFill>
                <a:latin typeface="Calibri"/>
                <a:ea typeface="DejaVu Sans"/>
              </a:rPr>
              <a:t>Analytics</a:t>
            </a:r>
            <a:r>
              <a:rPr lang="es-CL" b="0" strike="noStrike" spc="-1" noProof="0" dirty="0">
                <a:solidFill>
                  <a:srgbClr val="404040"/>
                </a:solidFill>
                <a:latin typeface="Calibri"/>
                <a:ea typeface="DejaVu Sans"/>
              </a:rPr>
              <a:t> </a:t>
            </a:r>
            <a:r>
              <a:rPr lang="es-CL" b="0" strike="noStrike" spc="-1" noProof="0" dirty="0" err="1">
                <a:solidFill>
                  <a:srgbClr val="404040"/>
                </a:solidFill>
                <a:latin typeface="Calibri"/>
                <a:ea typeface="DejaVu Sans"/>
              </a:rPr>
              <a:t>Translator</a:t>
            </a:r>
            <a:r>
              <a:rPr lang="es-CL" b="0" strike="noStrike" spc="-1" noProof="0" dirty="0">
                <a:solidFill>
                  <a:srgbClr val="404040"/>
                </a:solidFill>
                <a:latin typeface="Calibri"/>
                <a:ea typeface="DejaVu Sans"/>
              </a:rPr>
              <a:t> – LATAM Airlines</a:t>
            </a:r>
          </a:p>
          <a:p>
            <a:pPr marL="1080">
              <a:spcBef>
                <a:spcPts val="360"/>
              </a:spcBef>
              <a:buClr>
                <a:srgbClr val="404040"/>
              </a:buClr>
            </a:pPr>
            <a:r>
              <a:rPr lang="es-CL" b="0" strike="noStrike" spc="-1" noProof="0" dirty="0">
                <a:solidFill>
                  <a:srgbClr val="404040"/>
                </a:solidFill>
                <a:latin typeface="Calibri"/>
                <a:ea typeface="DejaVu Sans"/>
              </a:rPr>
              <a:t>📧 Correo: </a:t>
            </a:r>
            <a:r>
              <a:rPr lang="es-CL" b="0" strike="noStrike" spc="-1" noProof="0" dirty="0">
                <a:solidFill>
                  <a:srgbClr val="404040"/>
                </a:solidFill>
                <a:latin typeface="Calibri"/>
                <a:ea typeface="DejaVu Sans"/>
                <a:hlinkClick r:id="rId2"/>
              </a:rPr>
              <a:t>segana@fen.uchile.cl</a:t>
            </a:r>
            <a:r>
              <a:rPr lang="es-CL" b="0" strike="noStrike" spc="-1" noProof="0" dirty="0">
                <a:solidFill>
                  <a:srgbClr val="404040"/>
                </a:solidFill>
                <a:latin typeface="Calibri"/>
                <a:ea typeface="DejaVu Sans"/>
              </a:rPr>
              <a:t> </a:t>
            </a:r>
          </a:p>
          <a:p>
            <a:pPr marL="1080">
              <a:spcBef>
                <a:spcPts val="360"/>
              </a:spcBef>
              <a:buClr>
                <a:srgbClr val="404040"/>
              </a:buClr>
            </a:pPr>
            <a:r>
              <a:rPr lang="es-CL" b="0" strike="noStrike" spc="-1" noProof="0" dirty="0">
                <a:solidFill>
                  <a:srgbClr val="404040"/>
                </a:solidFill>
                <a:latin typeface="Calibri"/>
                <a:ea typeface="DejaVu Sans"/>
              </a:rPr>
              <a:t>💻Página Web: https://segana.netlify.app</a:t>
            </a:r>
          </a:p>
          <a:p>
            <a:pPr marL="1080">
              <a:lnSpc>
                <a:spcPct val="100000"/>
              </a:lnSpc>
              <a:spcBef>
                <a:spcPts val="360"/>
              </a:spcBef>
              <a:buClr>
                <a:srgbClr val="404040"/>
              </a:buClr>
            </a:pPr>
            <a:r>
              <a:rPr lang="es-CL" b="0" strike="noStrike" spc="-1" noProof="0" dirty="0">
                <a:solidFill>
                  <a:srgbClr val="404040"/>
                </a:solidFill>
                <a:latin typeface="Calibri"/>
                <a:ea typeface="DejaVu Sans"/>
              </a:rPr>
              <a:t>💼LinkedIn: </a:t>
            </a:r>
            <a:r>
              <a:rPr lang="es-CL" b="0" strike="noStrike" spc="-1" noProof="0" dirty="0">
                <a:solidFill>
                  <a:srgbClr val="404040"/>
                </a:solidFill>
                <a:latin typeface="Calibri"/>
                <a:ea typeface="DejaVu Sans"/>
                <a:hlinkClick r:id="rId3"/>
              </a:rPr>
              <a:t>enlace acá</a:t>
            </a:r>
            <a:endParaRPr lang="es-CL" b="0" strike="noStrike" spc="-1" noProof="0" dirty="0">
              <a:solidFill>
                <a:srgbClr val="404040"/>
              </a:solidFill>
              <a:latin typeface="Calibri"/>
              <a:ea typeface="DejaVu Sans"/>
            </a:endParaRPr>
          </a:p>
        </p:txBody>
      </p:sp>
      <p:sp>
        <p:nvSpPr>
          <p:cNvPr id="6" name="CustomShape 1">
            <a:extLst>
              <a:ext uri="{FF2B5EF4-FFF2-40B4-BE49-F238E27FC236}">
                <a16:creationId xmlns:a16="http://schemas.microsoft.com/office/drawing/2014/main" id="{2ABA5125-D1EF-475B-EE82-CF88DA81369E}"/>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2800" b="1" spc="-1" noProof="0" dirty="0">
                <a:solidFill>
                  <a:schemeClr val="tx1">
                    <a:lumMod val="75000"/>
                    <a:lumOff val="25000"/>
                  </a:schemeClr>
                </a:solidFill>
                <a:latin typeface="TT Wellingtons DemiBold" panose="02000503020000020004" pitchFamily="2" charset="77"/>
              </a:rPr>
              <a:t>Sobre el docente</a:t>
            </a:r>
            <a:endParaRPr lang="es-CL" sz="2800" b="1" strike="noStrike" spc="-1" noProof="0" dirty="0">
              <a:solidFill>
                <a:schemeClr val="tx1">
                  <a:lumMod val="75000"/>
                  <a:lumOff val="25000"/>
                </a:schemeClr>
              </a:solidFill>
              <a:latin typeface="TT Wellingtons DemiBold" panose="02000503020000020004" pitchFamily="2" charset="77"/>
            </a:endParaRPr>
          </a:p>
        </p:txBody>
      </p:sp>
    </p:spTree>
    <p:extLst>
      <p:ext uri="{BB962C8B-B14F-4D97-AF65-F5344CB8AC3E}">
        <p14:creationId xmlns:p14="http://schemas.microsoft.com/office/powerpoint/2010/main" val="2556235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06BB1-94A1-F940-2D73-F6E71213C8CE}"/>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69AB6051-67A1-9313-C9B8-763F12CA8208}"/>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77500" lnSpcReduction="20000"/>
          </a:bodyPr>
          <a:lstStyle/>
          <a:p>
            <a:pPr>
              <a:lnSpc>
                <a:spcPct val="100000"/>
              </a:lnSpc>
            </a:pPr>
            <a:r>
              <a:rPr lang="es-CL" sz="4400" b="1" spc="-1" noProof="0" dirty="0">
                <a:solidFill>
                  <a:srgbClr val="0034D9"/>
                </a:solidFill>
                <a:latin typeface="TT Wellingtons" panose="02000503020000020004" pitchFamily="2" charset="77"/>
                <a:ea typeface="DejaVu Sans"/>
              </a:rPr>
              <a:t>Entorno Económico y Financiero para las Decisiones de Inversión</a:t>
            </a:r>
          </a:p>
        </p:txBody>
      </p:sp>
      <p:sp>
        <p:nvSpPr>
          <p:cNvPr id="5" name="CustomShape 2">
            <a:extLst>
              <a:ext uri="{FF2B5EF4-FFF2-40B4-BE49-F238E27FC236}">
                <a16:creationId xmlns:a16="http://schemas.microsoft.com/office/drawing/2014/main" id="{E62EF05F-96D1-FC85-7C90-02757F19F187}"/>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980" indent="-342900">
              <a:lnSpc>
                <a:spcPct val="100000"/>
              </a:lnSpc>
              <a:spcBef>
                <a:spcPts val="360"/>
              </a:spcBef>
              <a:buClr>
                <a:srgbClr val="404040"/>
              </a:buClr>
              <a:buFont typeface="+mj-lt"/>
              <a:buAutoNum type="arabicPeriod"/>
            </a:pPr>
            <a:r>
              <a:rPr lang="es-ES" b="0" strike="noStrike" spc="-1" noProof="0" dirty="0">
                <a:solidFill>
                  <a:srgbClr val="404040"/>
                </a:solidFill>
                <a:latin typeface="Calibri"/>
                <a:ea typeface="DejaVu Sans"/>
              </a:rPr>
              <a:t>Entorno económico</a:t>
            </a:r>
          </a:p>
          <a:p>
            <a:pPr marL="343980" indent="-342900">
              <a:lnSpc>
                <a:spcPct val="100000"/>
              </a:lnSpc>
              <a:spcBef>
                <a:spcPts val="360"/>
              </a:spcBef>
              <a:buClr>
                <a:srgbClr val="404040"/>
              </a:buClr>
              <a:buFont typeface="+mj-lt"/>
              <a:buAutoNum type="arabicPeriod"/>
            </a:pPr>
            <a:r>
              <a:rPr lang="es-ES" b="0" strike="noStrike" spc="-1" noProof="0" dirty="0">
                <a:solidFill>
                  <a:srgbClr val="404040"/>
                </a:solidFill>
                <a:latin typeface="Calibri"/>
                <a:ea typeface="DejaVu Sans"/>
              </a:rPr>
              <a:t>Nivel de actividad</a:t>
            </a:r>
          </a:p>
          <a:p>
            <a:pPr marL="343980" indent="-342900">
              <a:lnSpc>
                <a:spcPct val="100000"/>
              </a:lnSpc>
              <a:spcBef>
                <a:spcPts val="360"/>
              </a:spcBef>
              <a:buClr>
                <a:srgbClr val="404040"/>
              </a:buClr>
              <a:buFont typeface="+mj-lt"/>
              <a:buAutoNum type="arabicPeriod"/>
            </a:pPr>
            <a:r>
              <a:rPr lang="es-ES" b="0" strike="noStrike" spc="-1" noProof="0" dirty="0">
                <a:solidFill>
                  <a:srgbClr val="404040"/>
                </a:solidFill>
                <a:latin typeface="Calibri"/>
                <a:ea typeface="DejaVu Sans"/>
              </a:rPr>
              <a:t>Mercado laboral</a:t>
            </a:r>
          </a:p>
          <a:p>
            <a:pPr marL="343980" indent="-342900">
              <a:lnSpc>
                <a:spcPct val="100000"/>
              </a:lnSpc>
              <a:spcBef>
                <a:spcPts val="360"/>
              </a:spcBef>
              <a:buClr>
                <a:srgbClr val="404040"/>
              </a:buClr>
              <a:buFont typeface="+mj-lt"/>
              <a:buAutoNum type="arabicPeriod"/>
            </a:pPr>
            <a:r>
              <a:rPr lang="es-ES" b="0" strike="noStrike" spc="-1" noProof="0" dirty="0">
                <a:solidFill>
                  <a:srgbClr val="404040"/>
                </a:solidFill>
                <a:latin typeface="Calibri"/>
                <a:ea typeface="DejaVu Sans"/>
              </a:rPr>
              <a:t>Variables nominales y reales</a:t>
            </a:r>
          </a:p>
        </p:txBody>
      </p:sp>
      <p:sp>
        <p:nvSpPr>
          <p:cNvPr id="6" name="CustomShape 1">
            <a:extLst>
              <a:ext uri="{FF2B5EF4-FFF2-40B4-BE49-F238E27FC236}">
                <a16:creationId xmlns:a16="http://schemas.microsoft.com/office/drawing/2014/main" id="{699A658D-E000-54CC-9B32-40773157CA2D}"/>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2800" b="1" spc="-1" noProof="0" dirty="0">
                <a:solidFill>
                  <a:schemeClr val="tx1">
                    <a:lumMod val="75000"/>
                    <a:lumOff val="25000"/>
                  </a:schemeClr>
                </a:solidFill>
                <a:latin typeface="TT Wellingtons DemiBold" panose="02000503020000020004" pitchFamily="2" charset="77"/>
              </a:rPr>
              <a:t>¿Qué veremos esta clase?</a:t>
            </a:r>
            <a:endParaRPr lang="es-CL" sz="2800" b="1" strike="noStrike" spc="-1" noProof="0" dirty="0">
              <a:solidFill>
                <a:schemeClr val="tx1">
                  <a:lumMod val="75000"/>
                  <a:lumOff val="25000"/>
                </a:schemeClr>
              </a:solidFill>
              <a:latin typeface="TT Wellingtons DemiBold" panose="02000503020000020004" pitchFamily="2" charset="77"/>
            </a:endParaRPr>
          </a:p>
        </p:txBody>
      </p:sp>
    </p:spTree>
    <p:extLst>
      <p:ext uri="{BB962C8B-B14F-4D97-AF65-F5344CB8AC3E}">
        <p14:creationId xmlns:p14="http://schemas.microsoft.com/office/powerpoint/2010/main" val="1053233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1EC93-3F78-056C-4B4D-BA89522CB618}"/>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68622F55-2B1B-361F-A2BD-18F174C74D9D}"/>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77500" lnSpcReduction="20000"/>
          </a:bodyPr>
          <a:lstStyle/>
          <a:p>
            <a:pPr>
              <a:lnSpc>
                <a:spcPct val="100000"/>
              </a:lnSpc>
            </a:pPr>
            <a:r>
              <a:rPr lang="es-CL" sz="4400" b="1" spc="-1" noProof="0" dirty="0">
                <a:solidFill>
                  <a:srgbClr val="0034D9"/>
                </a:solidFill>
                <a:latin typeface="TT Wellingtons" panose="02000503020000020004" pitchFamily="2" charset="77"/>
                <a:ea typeface="DejaVu Sans"/>
              </a:rPr>
              <a:t>Entorno Económico y Financiero para las Decisiones de Inversión</a:t>
            </a:r>
          </a:p>
        </p:txBody>
      </p:sp>
      <p:sp>
        <p:nvSpPr>
          <p:cNvPr id="5" name="CustomShape 2">
            <a:extLst>
              <a:ext uri="{FF2B5EF4-FFF2-40B4-BE49-F238E27FC236}">
                <a16:creationId xmlns:a16="http://schemas.microsoft.com/office/drawing/2014/main" id="{4F0290F7-09B9-5219-27B9-12B5EF1A8721}"/>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3980" indent="-342900">
              <a:lnSpc>
                <a:spcPct val="100000"/>
              </a:lnSpc>
              <a:spcBef>
                <a:spcPts val="360"/>
              </a:spcBef>
              <a:buClr>
                <a:srgbClr val="404040"/>
              </a:buClr>
              <a:buFont typeface="Arial" panose="020B0604020202020204" pitchFamily="34" charset="0"/>
              <a:buChar char="•"/>
            </a:pPr>
            <a:r>
              <a:rPr lang="es-ES" b="0" strike="noStrike" spc="-1" noProof="0" dirty="0">
                <a:solidFill>
                  <a:srgbClr val="404040"/>
                </a:solidFill>
                <a:latin typeface="Calibri"/>
                <a:ea typeface="DejaVu Sans"/>
              </a:rPr>
              <a:t>Entorno económico como conjunto de variables económicas y financieras que influyen dentro de la toma de decisiones</a:t>
            </a:r>
          </a:p>
          <a:p>
            <a:pPr marL="343980" indent="-342900">
              <a:lnSpc>
                <a:spcPct val="100000"/>
              </a:lnSpc>
              <a:spcBef>
                <a:spcPts val="360"/>
              </a:spcBef>
              <a:buClr>
                <a:srgbClr val="404040"/>
              </a:buClr>
              <a:buFont typeface="Arial" panose="020B0604020202020204" pitchFamily="34" charset="0"/>
              <a:buChar char="•"/>
            </a:pPr>
            <a:r>
              <a:rPr lang="es-ES" b="0" strike="noStrike" spc="-1" noProof="0" dirty="0">
                <a:solidFill>
                  <a:srgbClr val="404040"/>
                </a:solidFill>
                <a:latin typeface="Calibri"/>
                <a:ea typeface="DejaVu Sans"/>
              </a:rPr>
              <a:t>Existe una relación entre el crecimiento económico y el desempeño del mercado</a:t>
            </a:r>
          </a:p>
          <a:p>
            <a:pPr marL="343980" indent="-342900">
              <a:lnSpc>
                <a:spcPct val="100000"/>
              </a:lnSpc>
              <a:spcBef>
                <a:spcPts val="360"/>
              </a:spcBef>
              <a:buClr>
                <a:srgbClr val="404040"/>
              </a:buClr>
              <a:buFont typeface="Arial" panose="020B0604020202020204" pitchFamily="34" charset="0"/>
              <a:buChar char="•"/>
            </a:pPr>
            <a:r>
              <a:rPr lang="es-ES" b="0" strike="noStrike" spc="-1" noProof="0" dirty="0">
                <a:solidFill>
                  <a:srgbClr val="404040"/>
                </a:solidFill>
                <a:latin typeface="Calibri"/>
                <a:ea typeface="DejaVu Sans"/>
              </a:rPr>
              <a:t>La inflación posee influencia en el valor de la vida para las personas, como también impacta a las empresas por el lado de los costos</a:t>
            </a:r>
          </a:p>
          <a:p>
            <a:pPr marL="343980" indent="-342900">
              <a:lnSpc>
                <a:spcPct val="100000"/>
              </a:lnSpc>
              <a:spcBef>
                <a:spcPts val="360"/>
              </a:spcBef>
              <a:buClr>
                <a:srgbClr val="404040"/>
              </a:buClr>
              <a:buFont typeface="Arial" panose="020B0604020202020204" pitchFamily="34" charset="0"/>
              <a:buChar char="•"/>
            </a:pPr>
            <a:r>
              <a:rPr lang="es-ES" b="0" strike="noStrike" spc="-1" noProof="0" dirty="0">
                <a:solidFill>
                  <a:srgbClr val="404040"/>
                </a:solidFill>
                <a:latin typeface="Calibri"/>
                <a:ea typeface="DejaVu Sans"/>
              </a:rPr>
              <a:t>A pesar de la existencia de instrumentos de cobertura, empresas importadoras como exportadoras son afectadas por el nivel de tipo de cambio</a:t>
            </a:r>
          </a:p>
          <a:p>
            <a:pPr marL="343980" indent="-342900">
              <a:lnSpc>
                <a:spcPct val="100000"/>
              </a:lnSpc>
              <a:spcBef>
                <a:spcPts val="360"/>
              </a:spcBef>
              <a:buClr>
                <a:srgbClr val="404040"/>
              </a:buClr>
              <a:buFont typeface="Arial" panose="020B0604020202020204" pitchFamily="34" charset="0"/>
              <a:buChar char="•"/>
            </a:pPr>
            <a:r>
              <a:rPr lang="es-ES" b="0" strike="noStrike" spc="-1" noProof="0" dirty="0">
                <a:solidFill>
                  <a:srgbClr val="404040"/>
                </a:solidFill>
                <a:latin typeface="Calibri"/>
                <a:ea typeface="DejaVu Sans"/>
              </a:rPr>
              <a:t>Influencia de la tasa de interés en el costo de financiamiento, tanto para las personas y su endeudamiento como también en los posibles proyectos</a:t>
            </a:r>
          </a:p>
        </p:txBody>
      </p:sp>
      <p:sp>
        <p:nvSpPr>
          <p:cNvPr id="6" name="CustomShape 1">
            <a:extLst>
              <a:ext uri="{FF2B5EF4-FFF2-40B4-BE49-F238E27FC236}">
                <a16:creationId xmlns:a16="http://schemas.microsoft.com/office/drawing/2014/main" id="{5C48719D-7CD5-F409-7635-38D329C1C869}"/>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2800" b="1" spc="-1" noProof="0" dirty="0">
                <a:solidFill>
                  <a:schemeClr val="tx1">
                    <a:lumMod val="75000"/>
                    <a:lumOff val="25000"/>
                  </a:schemeClr>
                </a:solidFill>
                <a:latin typeface="TT Wellingtons DemiBold" panose="02000503020000020004" pitchFamily="2" charset="77"/>
              </a:rPr>
              <a:t>Importancia</a:t>
            </a:r>
            <a:r>
              <a:rPr lang="es-CL" sz="2800" b="1" spc="-1" dirty="0">
                <a:solidFill>
                  <a:schemeClr val="tx1">
                    <a:lumMod val="75000"/>
                    <a:lumOff val="25000"/>
                  </a:schemeClr>
                </a:solidFill>
                <a:latin typeface="TT Wellingtons DemiBold" panose="02000503020000020004" pitchFamily="2" charset="77"/>
              </a:rPr>
              <a:t> del Entorno económico</a:t>
            </a:r>
            <a:endParaRPr lang="es-CL" sz="2800" b="1" strike="noStrike" spc="-1" noProof="0" dirty="0">
              <a:solidFill>
                <a:schemeClr val="tx1">
                  <a:lumMod val="75000"/>
                  <a:lumOff val="25000"/>
                </a:schemeClr>
              </a:solidFill>
              <a:latin typeface="TT Wellingtons DemiBold" panose="02000503020000020004" pitchFamily="2" charset="77"/>
            </a:endParaRPr>
          </a:p>
        </p:txBody>
      </p:sp>
    </p:spTree>
    <p:extLst>
      <p:ext uri="{BB962C8B-B14F-4D97-AF65-F5344CB8AC3E}">
        <p14:creationId xmlns:p14="http://schemas.microsoft.com/office/powerpoint/2010/main" val="3637382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004DC-31AA-8708-E3D3-4A4B80B36C85}"/>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E393D668-FC2D-1C46-AEE2-716ABA24F703}"/>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Nivel de actividad</a:t>
            </a:r>
          </a:p>
        </p:txBody>
      </p:sp>
      <p:sp>
        <p:nvSpPr>
          <p:cNvPr id="5" name="CustomShape 2">
            <a:extLst>
              <a:ext uri="{FF2B5EF4-FFF2-40B4-BE49-F238E27FC236}">
                <a16:creationId xmlns:a16="http://schemas.microsoft.com/office/drawing/2014/main" id="{DEA1D4AD-4A82-39CF-8578-4ADBA94E362F}"/>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1080">
              <a:lnSpc>
                <a:spcPct val="100000"/>
              </a:lnSpc>
              <a:spcBef>
                <a:spcPts val="360"/>
              </a:spcBef>
              <a:buClr>
                <a:srgbClr val="404040"/>
              </a:buClr>
            </a:pPr>
            <a:r>
              <a:rPr lang="es-ES" b="0" strike="noStrike" spc="-1" noProof="0" dirty="0">
                <a:solidFill>
                  <a:srgbClr val="404040"/>
                </a:solidFill>
                <a:latin typeface="Calibri"/>
                <a:ea typeface="DejaVu Sans"/>
              </a:rPr>
              <a:t>Cuando hablamos del nivel de actividad, nos preguntamos por el nivel de producción de una economía en particular. Las principales métricas para observar son las siguientes:</a:t>
            </a:r>
          </a:p>
          <a:p>
            <a:pPr marL="343980" indent="-342900">
              <a:lnSpc>
                <a:spcPct val="100000"/>
              </a:lnSpc>
              <a:spcBef>
                <a:spcPts val="360"/>
              </a:spcBef>
              <a:buClr>
                <a:srgbClr val="404040"/>
              </a:buClr>
              <a:buFont typeface="Arial" panose="020B0604020202020204" pitchFamily="34" charset="0"/>
              <a:buChar char="•"/>
            </a:pPr>
            <a:endParaRPr lang="es-ES" b="0" strike="noStrike" spc="-1" noProof="0" dirty="0">
              <a:solidFill>
                <a:srgbClr val="404040"/>
              </a:solidFill>
              <a:latin typeface="Calibri"/>
              <a:ea typeface="DejaVu Sans"/>
            </a:endParaRPr>
          </a:p>
          <a:p>
            <a:pPr marL="343980" indent="-342900">
              <a:lnSpc>
                <a:spcPct val="100000"/>
              </a:lnSpc>
              <a:spcBef>
                <a:spcPts val="360"/>
              </a:spcBef>
              <a:buClr>
                <a:srgbClr val="404040"/>
              </a:buClr>
              <a:buFont typeface="Arial" panose="020B0604020202020204" pitchFamily="34" charset="0"/>
              <a:buChar char="•"/>
            </a:pPr>
            <a:r>
              <a:rPr lang="es-ES" b="0" strike="noStrike" spc="-1" noProof="0" dirty="0">
                <a:solidFill>
                  <a:srgbClr val="404040"/>
                </a:solidFill>
                <a:latin typeface="Calibri"/>
                <a:ea typeface="DejaVu Sans"/>
              </a:rPr>
              <a:t>Producto Interno Bruto (PIB): Representa el valor de la producción final de bienes y servicios en un período.</a:t>
            </a:r>
          </a:p>
          <a:p>
            <a:pPr marL="343980" indent="-342900">
              <a:lnSpc>
                <a:spcPct val="100000"/>
              </a:lnSpc>
              <a:spcBef>
                <a:spcPts val="360"/>
              </a:spcBef>
              <a:buClr>
                <a:srgbClr val="404040"/>
              </a:buClr>
              <a:buFont typeface="Arial" panose="020B0604020202020204" pitchFamily="34" charset="0"/>
              <a:buChar char="•"/>
            </a:pPr>
            <a:r>
              <a:rPr lang="es-ES" b="0" strike="noStrike" spc="-1" noProof="0" dirty="0">
                <a:solidFill>
                  <a:srgbClr val="404040"/>
                </a:solidFill>
                <a:latin typeface="Calibri"/>
                <a:ea typeface="DejaVu Sans"/>
              </a:rPr>
              <a:t>Producto Nacional Bruto (PNB): Considera las mismas características del PIB, pero haciendo el ajuste por la producción final de residentes fuera y dentro de país.</a:t>
            </a:r>
          </a:p>
          <a:p>
            <a:pPr marL="343980" indent="-342900">
              <a:lnSpc>
                <a:spcPct val="100000"/>
              </a:lnSpc>
              <a:spcBef>
                <a:spcPts val="360"/>
              </a:spcBef>
              <a:buClr>
                <a:srgbClr val="404040"/>
              </a:buClr>
              <a:buFont typeface="Arial" panose="020B0604020202020204" pitchFamily="34" charset="0"/>
              <a:buChar char="•"/>
            </a:pPr>
            <a:endParaRPr lang="es-ES" b="0" strike="noStrike" spc="-1" noProof="0" dirty="0">
              <a:solidFill>
                <a:srgbClr val="404040"/>
              </a:solidFill>
              <a:latin typeface="Calibri"/>
              <a:ea typeface="DejaVu Sans"/>
            </a:endParaRPr>
          </a:p>
          <a:p>
            <a:pPr marL="1080">
              <a:lnSpc>
                <a:spcPct val="100000"/>
              </a:lnSpc>
              <a:spcBef>
                <a:spcPts val="360"/>
              </a:spcBef>
              <a:buClr>
                <a:srgbClr val="404040"/>
              </a:buClr>
            </a:pPr>
            <a:r>
              <a:rPr lang="es-ES" b="0" strike="noStrike" spc="-1" noProof="0" dirty="0">
                <a:solidFill>
                  <a:srgbClr val="404040"/>
                </a:solidFill>
                <a:latin typeface="Calibri"/>
                <a:ea typeface="DejaVu Sans"/>
              </a:rPr>
              <a:t>El ajuste, se relaciona con la necesidad de ver la influencia de capitales extranjeros dentro de la productividad nacional.</a:t>
            </a:r>
          </a:p>
        </p:txBody>
      </p:sp>
      <p:sp>
        <p:nvSpPr>
          <p:cNvPr id="6" name="CustomShape 1">
            <a:extLst>
              <a:ext uri="{FF2B5EF4-FFF2-40B4-BE49-F238E27FC236}">
                <a16:creationId xmlns:a16="http://schemas.microsoft.com/office/drawing/2014/main" id="{99FCE912-F101-9ADC-84E9-FFEB5BB03382}"/>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2800" b="1" spc="-1" noProof="0" dirty="0">
                <a:solidFill>
                  <a:schemeClr val="tx1">
                    <a:lumMod val="75000"/>
                    <a:lumOff val="25000"/>
                  </a:schemeClr>
                </a:solidFill>
                <a:latin typeface="TT Wellingtons DemiBold" panose="02000503020000020004" pitchFamily="2" charset="77"/>
              </a:rPr>
              <a:t>¿Cómo se mide?</a:t>
            </a:r>
            <a:endParaRPr lang="es-CL" sz="2800" b="1" strike="noStrike" spc="-1" noProof="0" dirty="0">
              <a:solidFill>
                <a:schemeClr val="tx1">
                  <a:lumMod val="75000"/>
                  <a:lumOff val="25000"/>
                </a:schemeClr>
              </a:solidFill>
              <a:latin typeface="TT Wellingtons DemiBold" panose="02000503020000020004" pitchFamily="2" charset="77"/>
            </a:endParaRPr>
          </a:p>
        </p:txBody>
      </p:sp>
    </p:spTree>
    <p:extLst>
      <p:ext uri="{BB962C8B-B14F-4D97-AF65-F5344CB8AC3E}">
        <p14:creationId xmlns:p14="http://schemas.microsoft.com/office/powerpoint/2010/main" val="965865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4AA8D-68FE-6C10-80CE-60888FB319E4}"/>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61C2B468-F701-42A0-A3CD-897D48F009AA}"/>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Nivel de actividad</a:t>
            </a:r>
          </a:p>
        </p:txBody>
      </p:sp>
      <p:sp>
        <p:nvSpPr>
          <p:cNvPr id="6" name="CustomShape 1">
            <a:extLst>
              <a:ext uri="{FF2B5EF4-FFF2-40B4-BE49-F238E27FC236}">
                <a16:creationId xmlns:a16="http://schemas.microsoft.com/office/drawing/2014/main" id="{7C2C0109-E3FF-637A-FD5D-0D2B264917EA}"/>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2800" b="1" spc="-1" noProof="0" dirty="0">
                <a:solidFill>
                  <a:schemeClr val="tx1">
                    <a:lumMod val="75000"/>
                    <a:lumOff val="25000"/>
                  </a:schemeClr>
                </a:solidFill>
                <a:latin typeface="TT Wellingtons DemiBold" panose="02000503020000020004" pitchFamily="2" charset="77"/>
              </a:rPr>
              <a:t>¿Qué pasa en el corto plazo?</a:t>
            </a:r>
            <a:endParaRPr lang="es-CL" sz="2800" b="1" strike="noStrike" spc="-1" noProof="0" dirty="0">
              <a:solidFill>
                <a:schemeClr val="tx1">
                  <a:lumMod val="75000"/>
                  <a:lumOff val="25000"/>
                </a:schemeClr>
              </a:solidFill>
              <a:latin typeface="TT Wellingtons DemiBold" panose="02000503020000020004" pitchFamily="2" charset="77"/>
            </a:endParaRPr>
          </a:p>
        </p:txBody>
      </p:sp>
      <p:sp>
        <p:nvSpPr>
          <p:cNvPr id="5" name="CustomShape 2">
            <a:extLst>
              <a:ext uri="{FF2B5EF4-FFF2-40B4-BE49-F238E27FC236}">
                <a16:creationId xmlns:a16="http://schemas.microsoft.com/office/drawing/2014/main" id="{F584B976-AA1B-77F5-DC7B-4ECD7326FE4D}"/>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alibri "/>
                <a:cs typeface="Poppins" pitchFamily="2" charset="77"/>
              </a:rPr>
              <a:t>Por lo general, los indicadores como el PIB o el PNB poseen una cierta dificultad para su cálculo; son parte de la "contabilidad del país", con lo cual se generan anualmente y con cierto desfase. A pesar de esto, es bueno para la economía el tener información reciente e ir viendo la evaluación de la productividad del país. </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En Chile, se publica el Índice Mensual de Actividad Económica (</a:t>
            </a:r>
            <a:r>
              <a:rPr lang="es-ES" sz="1800" dirty="0" err="1">
                <a:latin typeface="Calibri "/>
                <a:cs typeface="Poppins" pitchFamily="2" charset="77"/>
                <a:hlinkClick r:id="rId2"/>
              </a:rPr>
              <a:t>Imacec</a:t>
            </a:r>
            <a:r>
              <a:rPr lang="es-ES" sz="1800" dirty="0">
                <a:latin typeface="Calibri "/>
                <a:cs typeface="Poppins" pitchFamily="2" charset="77"/>
              </a:rPr>
              <a:t>). También revisar </a:t>
            </a:r>
            <a:r>
              <a:rPr lang="es-ES" sz="1800" dirty="0">
                <a:latin typeface="Calibri "/>
                <a:cs typeface="Poppins" pitchFamily="2" charset="77"/>
                <a:hlinkClick r:id="rId3"/>
              </a:rPr>
              <a:t>Encuesta de Expectativas Económicas</a:t>
            </a:r>
            <a:r>
              <a:rPr lang="es-ES" sz="1800" dirty="0">
                <a:latin typeface="Calibri "/>
                <a:cs typeface="Poppins" pitchFamily="2" charset="77"/>
              </a:rPr>
              <a:t>.</a:t>
            </a:r>
          </a:p>
          <a:p>
            <a:pPr algn="just">
              <a:lnSpc>
                <a:spcPct val="100000"/>
              </a:lnSpc>
              <a:spcBef>
                <a:spcPts val="20"/>
              </a:spcBef>
            </a:pPr>
            <a:endParaRPr lang="es-ES" dirty="0">
              <a:latin typeface="Calibri "/>
              <a:cs typeface="Poppins" pitchFamily="2" charset="77"/>
            </a:endParaRPr>
          </a:p>
          <a:p>
            <a:pPr algn="just">
              <a:lnSpc>
                <a:spcPct val="100000"/>
              </a:lnSpc>
              <a:spcBef>
                <a:spcPts val="20"/>
              </a:spcBef>
            </a:pPr>
            <a:r>
              <a:rPr lang="es-CL" sz="1800" dirty="0">
                <a:latin typeface="Calibri "/>
                <a:cs typeface="Poppins" pitchFamily="2" charset="77"/>
              </a:rPr>
              <a:t>⌨️</a:t>
            </a:r>
            <a:r>
              <a:rPr lang="es-ES" sz="1800" dirty="0">
                <a:latin typeface="Calibri "/>
                <a:cs typeface="Poppins" pitchFamily="2" charset="77"/>
              </a:rPr>
              <a:t>Busque en Google: “cómo se calcula el </a:t>
            </a:r>
            <a:r>
              <a:rPr lang="es-ES" sz="1800" dirty="0" err="1">
                <a:latin typeface="Calibri "/>
                <a:cs typeface="Poppins" pitchFamily="2" charset="77"/>
              </a:rPr>
              <a:t>imacec</a:t>
            </a:r>
            <a:r>
              <a:rPr lang="es-ES" sz="1800" dirty="0">
                <a:latin typeface="Calibri "/>
                <a:cs typeface="Poppins" pitchFamily="2" charset="77"/>
              </a:rPr>
              <a:t>”</a:t>
            </a:r>
          </a:p>
        </p:txBody>
      </p:sp>
    </p:spTree>
    <p:extLst>
      <p:ext uri="{BB962C8B-B14F-4D97-AF65-F5344CB8AC3E}">
        <p14:creationId xmlns:p14="http://schemas.microsoft.com/office/powerpoint/2010/main" val="891776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956B9-4EBF-3855-44A1-8AEDD4EE1387}"/>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82C3577B-E773-290A-B5BD-4DAA789BFB59}"/>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Nivel de actividad</a:t>
            </a:r>
          </a:p>
        </p:txBody>
      </p:sp>
      <p:sp>
        <p:nvSpPr>
          <p:cNvPr id="6" name="CustomShape 1">
            <a:extLst>
              <a:ext uri="{FF2B5EF4-FFF2-40B4-BE49-F238E27FC236}">
                <a16:creationId xmlns:a16="http://schemas.microsoft.com/office/drawing/2014/main" id="{ED849C4C-009D-D973-1A15-BBDF9B35379A}"/>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2800" b="1" strike="noStrike" spc="-1" dirty="0">
                <a:solidFill>
                  <a:schemeClr val="tx1">
                    <a:lumMod val="75000"/>
                    <a:lumOff val="25000"/>
                  </a:schemeClr>
                </a:solidFill>
                <a:latin typeface="TT Wellingtons DemiBold" panose="02000503020000020004" pitchFamily="2" charset="77"/>
              </a:rPr>
              <a:t>3 formas de medición</a:t>
            </a:r>
            <a:endParaRPr lang="es-CL" sz="2800" b="1" strike="noStrike" spc="-1" noProof="0" dirty="0">
              <a:solidFill>
                <a:schemeClr val="tx1">
                  <a:lumMod val="75000"/>
                  <a:lumOff val="25000"/>
                </a:schemeClr>
              </a:solidFill>
              <a:latin typeface="TT Wellingtons DemiBold" panose="02000503020000020004" pitchFamily="2" charset="77"/>
            </a:endParaRPr>
          </a:p>
        </p:txBody>
      </p:sp>
      <mc:AlternateContent xmlns:mc="http://schemas.openxmlformats.org/markup-compatibility/2006" xmlns:a14="http://schemas.microsoft.com/office/drawing/2010/main">
        <mc:Choice Requires="a14">
          <p:sp>
            <p:nvSpPr>
              <p:cNvPr id="5" name="CustomShape 2">
                <a:extLst>
                  <a:ext uri="{FF2B5EF4-FFF2-40B4-BE49-F238E27FC236}">
                    <a16:creationId xmlns:a16="http://schemas.microsoft.com/office/drawing/2014/main" id="{AC2F1E74-1814-235A-40CC-B827153B0E28}"/>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alibri "/>
                    <a:cs typeface="Poppins" pitchFamily="2" charset="77"/>
                  </a:rPr>
                  <a:t>Existen tres maneras de medir la actividad económica:</a:t>
                </a:r>
              </a:p>
              <a:p>
                <a:pPr algn="just">
                  <a:lnSpc>
                    <a:spcPct val="100000"/>
                  </a:lnSpc>
                  <a:spcBef>
                    <a:spcPts val="20"/>
                  </a:spcBef>
                </a:pPr>
                <a:endParaRPr lang="es-ES" sz="1800" dirty="0">
                  <a:latin typeface="Calibri "/>
                  <a:cs typeface="Poppins" pitchFamily="2" charset="77"/>
                </a:endParaRPr>
              </a:p>
              <a:p>
                <a:pPr marL="514350" indent="-514350" algn="just">
                  <a:lnSpc>
                    <a:spcPct val="100000"/>
                  </a:lnSpc>
                  <a:spcBef>
                    <a:spcPts val="20"/>
                  </a:spcBef>
                  <a:buAutoNum type="arabicPeriod"/>
                </a:pPr>
                <a:r>
                  <a:rPr lang="es-ES" sz="1800" dirty="0">
                    <a:latin typeface="Calibri "/>
                    <a:cs typeface="Poppins" pitchFamily="2" charset="77"/>
                  </a:rPr>
                  <a:t>Por el lado del gasto.</a:t>
                </a:r>
              </a:p>
              <a:p>
                <a:pPr marL="514350" indent="-514350" algn="just">
                  <a:lnSpc>
                    <a:spcPct val="100000"/>
                  </a:lnSpc>
                  <a:spcBef>
                    <a:spcPts val="20"/>
                  </a:spcBef>
                  <a:buAutoNum type="arabicPeriod"/>
                </a:pPr>
                <a:r>
                  <a:rPr lang="es-ES" sz="1800" dirty="0">
                    <a:latin typeface="Calibri "/>
                    <a:cs typeface="Poppins" pitchFamily="2" charset="77"/>
                  </a:rPr>
                  <a:t>Por el valor agregado o producción. Este es el caso del Imacec. </a:t>
                </a:r>
              </a:p>
              <a:p>
                <a:pPr marL="514350" indent="-514350" algn="just">
                  <a:lnSpc>
                    <a:spcPct val="100000"/>
                  </a:lnSpc>
                  <a:spcBef>
                    <a:spcPts val="20"/>
                  </a:spcBef>
                  <a:buAutoNum type="arabicPeriod"/>
                </a:pPr>
                <a:r>
                  <a:rPr lang="es-ES" sz="1800" dirty="0">
                    <a:latin typeface="Calibri "/>
                    <a:cs typeface="Poppins" pitchFamily="2" charset="77"/>
                  </a:rPr>
                  <a:t>Por el lado de los ingresos. </a:t>
                </a:r>
              </a:p>
              <a:p>
                <a:pPr marL="514350" indent="-514350" algn="just">
                  <a:lnSpc>
                    <a:spcPct val="100000"/>
                  </a:lnSpc>
                  <a:spcBef>
                    <a:spcPts val="20"/>
                  </a:spcBef>
                  <a:buAutoNum type="arabicPeriod"/>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En general, la manera más utilizada y que más se enuncia corresponde a la primera. Según esto, el PIB se define como:</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ES" sz="1800" i="1">
                          <a:latin typeface="Cambria Math" panose="02040503050406030204" pitchFamily="18" charset="0"/>
                          <a:cs typeface="Poppins" pitchFamily="2" charset="77"/>
                        </a:rPr>
                        <m:t>𝑌</m:t>
                      </m:r>
                      <m:r>
                        <a:rPr lang="es-ES" sz="1800" i="1">
                          <a:latin typeface="Cambria Math" panose="02040503050406030204" pitchFamily="18" charset="0"/>
                          <a:cs typeface="Poppins" pitchFamily="2" charset="77"/>
                        </a:rPr>
                        <m:t> = </m:t>
                      </m:r>
                      <m:r>
                        <a:rPr lang="es-ES" sz="1800" i="1">
                          <a:latin typeface="Cambria Math" panose="02040503050406030204" pitchFamily="18" charset="0"/>
                          <a:cs typeface="Poppins" pitchFamily="2" charset="77"/>
                        </a:rPr>
                        <m:t>𝐶</m:t>
                      </m:r>
                      <m:r>
                        <a:rPr lang="es-ES" sz="1800" i="1">
                          <a:latin typeface="Cambria Math" panose="02040503050406030204" pitchFamily="18" charset="0"/>
                          <a:cs typeface="Poppins" pitchFamily="2" charset="77"/>
                        </a:rPr>
                        <m:t> + </m:t>
                      </m:r>
                      <m:r>
                        <a:rPr lang="es-ES" sz="1800" i="1">
                          <a:latin typeface="Cambria Math" panose="02040503050406030204" pitchFamily="18" charset="0"/>
                          <a:cs typeface="Poppins" pitchFamily="2" charset="77"/>
                        </a:rPr>
                        <m:t>𝐼</m:t>
                      </m:r>
                      <m:r>
                        <a:rPr lang="es-ES" sz="1800" i="1">
                          <a:latin typeface="Cambria Math" panose="02040503050406030204" pitchFamily="18" charset="0"/>
                          <a:cs typeface="Poppins" pitchFamily="2" charset="77"/>
                        </a:rPr>
                        <m:t> + </m:t>
                      </m:r>
                      <m:r>
                        <a:rPr lang="es-ES" sz="1800" i="1">
                          <a:latin typeface="Cambria Math" panose="02040503050406030204" pitchFamily="18" charset="0"/>
                          <a:cs typeface="Poppins" pitchFamily="2" charset="77"/>
                        </a:rPr>
                        <m:t>𝐺</m:t>
                      </m:r>
                      <m:r>
                        <a:rPr lang="es-ES" sz="1800" i="1">
                          <a:latin typeface="Cambria Math" panose="02040503050406030204" pitchFamily="18" charset="0"/>
                          <a:cs typeface="Poppins" pitchFamily="2" charset="77"/>
                        </a:rPr>
                        <m:t> + </m:t>
                      </m:r>
                      <m:r>
                        <a:rPr lang="es-ES" sz="1800" i="1">
                          <a:latin typeface="Cambria Math" panose="02040503050406030204" pitchFamily="18" charset="0"/>
                          <a:cs typeface="Poppins" pitchFamily="2" charset="77"/>
                        </a:rPr>
                        <m:t>𝑋𝑁</m:t>
                      </m:r>
                    </m:oMath>
                  </m:oMathPara>
                </a14:m>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Donde </a:t>
                </a:r>
              </a:p>
              <a:p>
                <a:pPr algn="just">
                  <a:spcBef>
                    <a:spcPts val="20"/>
                  </a:spcBef>
                </a:pPr>
                <a14:m>
                  <m:oMathPara xmlns:m="http://schemas.openxmlformats.org/officeDocument/2006/math">
                    <m:oMathParaPr>
                      <m:jc m:val="centerGroup"/>
                    </m:oMathParaPr>
                    <m:oMath xmlns:m="http://schemas.openxmlformats.org/officeDocument/2006/math">
                      <m:r>
                        <a:rPr lang="es-ES" sz="1800" i="1">
                          <a:latin typeface="Cambria Math" panose="02040503050406030204" pitchFamily="18" charset="0"/>
                          <a:cs typeface="Poppins" pitchFamily="2" charset="77"/>
                        </a:rPr>
                        <m:t>𝑋𝑁</m:t>
                      </m:r>
                      <m:r>
                        <a:rPr lang="es-ES" sz="1800" i="1">
                          <a:latin typeface="Cambria Math" panose="02040503050406030204" pitchFamily="18" charset="0"/>
                          <a:cs typeface="Poppins" pitchFamily="2" charset="77"/>
                        </a:rPr>
                        <m:t> = </m:t>
                      </m:r>
                      <m:r>
                        <a:rPr lang="es-ES" sz="1800" i="1">
                          <a:latin typeface="Cambria Math" panose="02040503050406030204" pitchFamily="18" charset="0"/>
                          <a:cs typeface="Poppins" pitchFamily="2" charset="77"/>
                        </a:rPr>
                        <m:t>𝑋</m:t>
                      </m:r>
                      <m:r>
                        <a:rPr lang="es-ES" sz="1800" i="1">
                          <a:latin typeface="Cambria Math" panose="02040503050406030204" pitchFamily="18" charset="0"/>
                          <a:cs typeface="Poppins" pitchFamily="2" charset="77"/>
                        </a:rPr>
                        <m:t> − </m:t>
                      </m:r>
                      <m:r>
                        <a:rPr lang="es-ES" sz="1800" i="1">
                          <a:latin typeface="Cambria Math" panose="02040503050406030204" pitchFamily="18" charset="0"/>
                          <a:cs typeface="Poppins" pitchFamily="2" charset="77"/>
                        </a:rPr>
                        <m:t>𝑀</m:t>
                      </m:r>
                    </m:oMath>
                  </m:oMathPara>
                </a14:m>
                <a:endParaRPr lang="es-ES" sz="1800" dirty="0">
                  <a:latin typeface="Calibri "/>
                  <a:cs typeface="Poppins" pitchFamily="2" charset="77"/>
                </a:endParaRPr>
              </a:p>
              <a:p>
                <a:pPr algn="just">
                  <a:spcBef>
                    <a:spcPts val="20"/>
                  </a:spcBef>
                </a:pPr>
                <a:endParaRPr lang="es-ES" dirty="0">
                  <a:latin typeface="Calibri "/>
                  <a:cs typeface="Poppins" pitchFamily="2" charset="77"/>
                </a:endParaRPr>
              </a:p>
              <a:p>
                <a:pPr algn="just">
                  <a:spcBef>
                    <a:spcPts val="20"/>
                  </a:spcBef>
                </a:pPr>
                <a:r>
                  <a:rPr lang="es-ES" sz="1800" dirty="0">
                    <a:latin typeface="Calibri "/>
                    <a:cs typeface="Poppins" pitchFamily="2" charset="77"/>
                  </a:rPr>
                  <a:t>Ver siguiente enlace </a:t>
                </a:r>
                <a:r>
                  <a:rPr lang="es-CL" sz="1800" dirty="0">
                    <a:latin typeface="Calibri "/>
                    <a:cs typeface="Poppins" pitchFamily="2" charset="77"/>
                    <a:hlinkClick r:id="rId2"/>
                  </a:rPr>
                  <a:t>🚩</a:t>
                </a:r>
                <a:r>
                  <a:rPr lang="es-CL" sz="1800" dirty="0">
                    <a:latin typeface="Calibri "/>
                    <a:cs typeface="Poppins" pitchFamily="2" charset="77"/>
                  </a:rPr>
                  <a:t>  y </a:t>
                </a:r>
                <a:r>
                  <a:rPr lang="es-ES" sz="1800" dirty="0">
                    <a:latin typeface="Calibri "/>
                    <a:cs typeface="Poppins" pitchFamily="2" charset="77"/>
                  </a:rPr>
                  <a:t>ejercicio en Excel </a:t>
                </a:r>
                <a:r>
                  <a:rPr lang="es-CL" sz="1800" dirty="0">
                    <a:latin typeface="Calibri "/>
                    <a:cs typeface="Poppins" pitchFamily="2" charset="77"/>
                  </a:rPr>
                  <a:t>🧮</a:t>
                </a:r>
                <a:endParaRPr lang="es-ES" sz="1800" dirty="0">
                  <a:latin typeface="Calibri "/>
                  <a:cs typeface="Poppins" pitchFamily="2" charset="77"/>
                </a:endParaRPr>
              </a:p>
              <a:p>
                <a:pPr algn="just">
                  <a:spcBef>
                    <a:spcPts val="20"/>
                  </a:spcBef>
                </a:pPr>
                <a:endParaRPr lang="es-ES" sz="1800" dirty="0">
                  <a:latin typeface="Calibri "/>
                  <a:cs typeface="Poppins" pitchFamily="2" charset="77"/>
                </a:endParaRPr>
              </a:p>
            </p:txBody>
          </p:sp>
        </mc:Choice>
        <mc:Fallback xmlns="">
          <p:sp>
            <p:nvSpPr>
              <p:cNvPr id="5" name="CustomShape 2">
                <a:extLst>
                  <a:ext uri="{FF2B5EF4-FFF2-40B4-BE49-F238E27FC236}">
                    <a16:creationId xmlns:a16="http://schemas.microsoft.com/office/drawing/2014/main" id="{AC2F1E74-1814-235A-40CC-B827153B0E28}"/>
                  </a:ext>
                </a:extLst>
              </p:cNvPr>
              <p:cNvSpPr>
                <a:spLocks noRot="1" noChangeAspect="1" noMove="1" noResize="1" noEditPoints="1" noAdjustHandles="1" noChangeArrowheads="1" noChangeShapeType="1" noTextEdit="1"/>
              </p:cNvSpPr>
              <p:nvPr/>
            </p:nvSpPr>
            <p:spPr>
              <a:xfrm>
                <a:off x="352080" y="2413416"/>
                <a:ext cx="11520130" cy="2696785"/>
              </a:xfrm>
              <a:prstGeom prst="rect">
                <a:avLst/>
              </a:prstGeom>
              <a:blipFill>
                <a:blip r:embed="rId3"/>
                <a:stretch>
                  <a:fillRect l="-476" t="-1357" b="-39367"/>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4117342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DF487-2BF1-DF6E-EA9B-7D3366B96760}"/>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C26C92A8-AA68-BFDA-D460-385D9E19CDBF}"/>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Nivel de actividad</a:t>
            </a:r>
          </a:p>
        </p:txBody>
      </p:sp>
      <p:sp>
        <p:nvSpPr>
          <p:cNvPr id="6" name="CustomShape 1">
            <a:extLst>
              <a:ext uri="{FF2B5EF4-FFF2-40B4-BE49-F238E27FC236}">
                <a16:creationId xmlns:a16="http://schemas.microsoft.com/office/drawing/2014/main" id="{8106CBAE-2B85-9053-55D2-769E7CF17435}"/>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2800" b="1" strike="noStrike" spc="-1" dirty="0">
                <a:solidFill>
                  <a:schemeClr val="tx1">
                    <a:lumMod val="75000"/>
                    <a:lumOff val="25000"/>
                  </a:schemeClr>
                </a:solidFill>
                <a:latin typeface="TT Wellingtons DemiBold" panose="02000503020000020004" pitchFamily="2" charset="77"/>
              </a:rPr>
              <a:t>PIB y Bienestar</a:t>
            </a:r>
            <a:endParaRPr lang="es-CL" sz="2800" b="1" strike="noStrike" spc="-1" noProof="0" dirty="0">
              <a:solidFill>
                <a:schemeClr val="tx1">
                  <a:lumMod val="75000"/>
                  <a:lumOff val="25000"/>
                </a:schemeClr>
              </a:solidFill>
              <a:latin typeface="TT Wellingtons DemiBold" panose="02000503020000020004" pitchFamily="2" charset="77"/>
            </a:endParaRPr>
          </a:p>
        </p:txBody>
      </p:sp>
      <mc:AlternateContent xmlns:mc="http://schemas.openxmlformats.org/markup-compatibility/2006" xmlns:a14="http://schemas.microsoft.com/office/drawing/2010/main">
        <mc:Choice Requires="a14">
          <p:sp>
            <p:nvSpPr>
              <p:cNvPr id="5" name="CustomShape 2">
                <a:extLst>
                  <a:ext uri="{FF2B5EF4-FFF2-40B4-BE49-F238E27FC236}">
                    <a16:creationId xmlns:a16="http://schemas.microsoft.com/office/drawing/2014/main" id="{344E6309-7B9B-BCA3-789F-0F3EA5439882}"/>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alibri "/>
                    <a:cs typeface="Poppins" pitchFamily="2" charset="77"/>
                  </a:rPr>
                  <a:t>Relación entre la productividad del país, y la situación de la población de dicho país. Se debe partir desde la medición del PIB per Cápita:</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CL" sz="1800" b="0" i="1" smtClean="0">
                          <a:latin typeface="Cambria Math" panose="02040503050406030204" pitchFamily="18" charset="0"/>
                          <a:cs typeface="Poppins" pitchFamily="2" charset="77"/>
                        </a:rPr>
                        <m:t>𝑃𝐼𝐵</m:t>
                      </m:r>
                      <m:r>
                        <a:rPr lang="es-CL" sz="1800" b="0" i="1" smtClean="0">
                          <a:latin typeface="Cambria Math" panose="02040503050406030204" pitchFamily="18" charset="0"/>
                          <a:cs typeface="Poppins" pitchFamily="2" charset="77"/>
                        </a:rPr>
                        <m:t> </m:t>
                      </m:r>
                      <m:r>
                        <a:rPr lang="es-CL" sz="1800" b="0" i="1" smtClean="0">
                          <a:latin typeface="Cambria Math" panose="02040503050406030204" pitchFamily="18" charset="0"/>
                          <a:cs typeface="Poppins" pitchFamily="2" charset="77"/>
                        </a:rPr>
                        <m:t>𝑝𝑒𝑟</m:t>
                      </m:r>
                      <m:r>
                        <a:rPr lang="es-CL" sz="1800" b="0" i="1" smtClean="0">
                          <a:latin typeface="Cambria Math" panose="02040503050406030204" pitchFamily="18" charset="0"/>
                          <a:cs typeface="Poppins" pitchFamily="2" charset="77"/>
                        </a:rPr>
                        <m:t> </m:t>
                      </m:r>
                      <m:r>
                        <a:rPr lang="es-CL" sz="1800" b="0" i="1" smtClean="0">
                          <a:latin typeface="Cambria Math" panose="02040503050406030204" pitchFamily="18" charset="0"/>
                          <a:cs typeface="Poppins" pitchFamily="2" charset="77"/>
                        </a:rPr>
                        <m:t>𝑐</m:t>
                      </m:r>
                      <m:r>
                        <a:rPr lang="es-CL" sz="1800" b="0" i="1" smtClean="0">
                          <a:latin typeface="Cambria Math" panose="02040503050406030204" pitchFamily="18" charset="0"/>
                          <a:cs typeface="Poppins" pitchFamily="2" charset="77"/>
                        </a:rPr>
                        <m:t>á</m:t>
                      </m:r>
                      <m:r>
                        <a:rPr lang="es-CL" sz="1800" b="0" i="1" smtClean="0">
                          <a:latin typeface="Cambria Math" panose="02040503050406030204" pitchFamily="18" charset="0"/>
                          <a:cs typeface="Poppins" pitchFamily="2" charset="77"/>
                        </a:rPr>
                        <m:t>𝑝𝑖𝑡𝑎</m:t>
                      </m:r>
                      <m:r>
                        <a:rPr lang="es-CL" sz="1800" b="0" i="1" smtClean="0">
                          <a:latin typeface="Cambria Math" panose="02040503050406030204" pitchFamily="18" charset="0"/>
                          <a:cs typeface="Poppins" pitchFamily="2" charset="77"/>
                        </a:rPr>
                        <m:t>=</m:t>
                      </m:r>
                      <m:f>
                        <m:fPr>
                          <m:ctrlPr>
                            <a:rPr lang="es-CL" sz="1800" b="0" i="1" smtClean="0">
                              <a:latin typeface="Cambria Math" panose="02040503050406030204" pitchFamily="18" charset="0"/>
                              <a:cs typeface="Poppins" pitchFamily="2" charset="77"/>
                            </a:rPr>
                          </m:ctrlPr>
                        </m:fPr>
                        <m:num>
                          <m:r>
                            <a:rPr lang="es-CL" sz="1800" b="0" i="1" smtClean="0">
                              <a:latin typeface="Cambria Math" panose="02040503050406030204" pitchFamily="18" charset="0"/>
                              <a:cs typeface="Poppins" pitchFamily="2" charset="77"/>
                            </a:rPr>
                            <m:t>𝑃𝐼𝐵</m:t>
                          </m:r>
                        </m:num>
                        <m:den>
                          <m:r>
                            <a:rPr lang="es-CL" sz="1800" b="0" i="1" smtClean="0">
                              <a:latin typeface="Cambria Math" panose="02040503050406030204" pitchFamily="18" charset="0"/>
                              <a:cs typeface="Poppins" pitchFamily="2" charset="77"/>
                            </a:rPr>
                            <m:t>𝑃𝑜𝑏𝑙𝑎𝑐𝑖</m:t>
                          </m:r>
                          <m:r>
                            <a:rPr lang="es-CL" sz="1800" b="0" i="1" smtClean="0">
                              <a:latin typeface="Cambria Math" panose="02040503050406030204" pitchFamily="18" charset="0"/>
                              <a:cs typeface="Poppins" pitchFamily="2" charset="77"/>
                            </a:rPr>
                            <m:t>ó</m:t>
                          </m:r>
                          <m:r>
                            <a:rPr lang="es-CL" sz="1800" b="0" i="1" smtClean="0">
                              <a:latin typeface="Cambria Math" panose="02040503050406030204" pitchFamily="18" charset="0"/>
                              <a:cs typeface="Poppins" pitchFamily="2" charset="77"/>
                            </a:rPr>
                            <m:t>𝑛</m:t>
                          </m:r>
                        </m:den>
                      </m:f>
                    </m:oMath>
                  </m:oMathPara>
                </a14:m>
                <a:endParaRPr lang="es-ES" sz="1800" dirty="0">
                  <a:latin typeface="Calibri "/>
                  <a:cs typeface="Poppins" pitchFamily="2" charset="77"/>
                </a:endParaRP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Dicha cifra, posee ciertos problemas: por ejemplo, la diferencia entre valor de mercado y valor social, al no considerar transacciones sin precio de mercado (trabajo en casa, economía informal), como tampoco considera la diferencia entre el valor del mercado de un bien y el valor social del mismo (externalidades). </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Por otra parte, y más importante, no considera la distribución de dichos ingresos. </a:t>
                </a:r>
              </a:p>
            </p:txBody>
          </p:sp>
        </mc:Choice>
        <mc:Fallback xmlns="">
          <p:sp>
            <p:nvSpPr>
              <p:cNvPr id="5" name="CustomShape 2">
                <a:extLst>
                  <a:ext uri="{FF2B5EF4-FFF2-40B4-BE49-F238E27FC236}">
                    <a16:creationId xmlns:a16="http://schemas.microsoft.com/office/drawing/2014/main" id="{344E6309-7B9B-BCA3-789F-0F3EA5439882}"/>
                  </a:ext>
                </a:extLst>
              </p:cNvPr>
              <p:cNvSpPr>
                <a:spLocks noRot="1" noChangeAspect="1" noMove="1" noResize="1" noEditPoints="1" noAdjustHandles="1" noChangeArrowheads="1" noChangeShapeType="1" noTextEdit="1"/>
              </p:cNvSpPr>
              <p:nvPr/>
            </p:nvSpPr>
            <p:spPr>
              <a:xfrm>
                <a:off x="352080" y="2413416"/>
                <a:ext cx="11520130" cy="2696785"/>
              </a:xfrm>
              <a:prstGeom prst="rect">
                <a:avLst/>
              </a:prstGeom>
              <a:blipFill>
                <a:blip r:embed="rId2"/>
                <a:stretch>
                  <a:fillRect l="-476" t="-1357" r="-423" b="-17647"/>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734212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505BD-5229-45AF-BE01-15DC8312D1FE}"/>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94BC3B80-3619-6E45-2209-3231A71DE78A}"/>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Nivel de actividad</a:t>
            </a:r>
          </a:p>
        </p:txBody>
      </p:sp>
      <p:sp>
        <p:nvSpPr>
          <p:cNvPr id="6" name="CustomShape 1">
            <a:extLst>
              <a:ext uri="{FF2B5EF4-FFF2-40B4-BE49-F238E27FC236}">
                <a16:creationId xmlns:a16="http://schemas.microsoft.com/office/drawing/2014/main" id="{6FFEE805-DC66-201F-6C9D-63763E8E0981}"/>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2800" b="1" strike="noStrike" spc="-1" dirty="0">
                <a:solidFill>
                  <a:schemeClr val="tx1">
                    <a:lumMod val="75000"/>
                    <a:lumOff val="25000"/>
                  </a:schemeClr>
                </a:solidFill>
                <a:latin typeface="TT Wellingtons DemiBold" panose="02000503020000020004" pitchFamily="2" charset="77"/>
              </a:rPr>
              <a:t>PIB y Bienestar</a:t>
            </a:r>
            <a:endParaRPr lang="es-CL" sz="2800" b="1" strike="noStrike" spc="-1" noProof="0" dirty="0">
              <a:solidFill>
                <a:schemeClr val="tx1">
                  <a:lumMod val="75000"/>
                  <a:lumOff val="25000"/>
                </a:schemeClr>
              </a:solidFill>
              <a:latin typeface="TT Wellingtons DemiBold" panose="02000503020000020004" pitchFamily="2" charset="77"/>
            </a:endParaRPr>
          </a:p>
        </p:txBody>
      </p:sp>
      <p:sp>
        <p:nvSpPr>
          <p:cNvPr id="5" name="CustomShape 2">
            <a:extLst>
              <a:ext uri="{FF2B5EF4-FFF2-40B4-BE49-F238E27FC236}">
                <a16:creationId xmlns:a16="http://schemas.microsoft.com/office/drawing/2014/main" id="{4590489E-0DC2-E85C-EE4E-ADFE4EB129D8}"/>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r>
              <a:rPr lang="es-ES" sz="1800" dirty="0">
                <a:latin typeface="Calibri "/>
                <a:cs typeface="Poppins" panose="00000500000000000000" pitchFamily="2" charset="0"/>
              </a:rPr>
              <a:t>Tómese 20 minutos para revisar el siguiente material </a:t>
            </a:r>
            <a:r>
              <a:rPr lang="en-US" sz="1800" dirty="0">
                <a:latin typeface="Calibri "/>
                <a:cs typeface="Poppins" panose="00000500000000000000" pitchFamily="2" charset="0"/>
                <a:hlinkClick r:id="rId2"/>
              </a:rPr>
              <a:t>🚩</a:t>
            </a:r>
            <a:endParaRPr lang="en-US" sz="1800" dirty="0">
              <a:latin typeface="Calibri "/>
              <a:cs typeface="Poppins" panose="00000500000000000000" pitchFamily="2" charset="0"/>
            </a:endParaRPr>
          </a:p>
          <a:p>
            <a:endParaRPr lang="en-US" dirty="0">
              <a:latin typeface="Calibri "/>
              <a:cs typeface="Poppins" panose="00000500000000000000" pitchFamily="2" charset="0"/>
            </a:endParaRPr>
          </a:p>
          <a:p>
            <a:r>
              <a:rPr lang="es-CL" dirty="0">
                <a:latin typeface="Calibri "/>
                <a:cs typeface="Poppins" panose="00000500000000000000" pitchFamily="2" charset="0"/>
              </a:rPr>
              <a:t>⚙️</a:t>
            </a:r>
            <a:r>
              <a:rPr lang="en-US" dirty="0">
                <a:latin typeface="Calibri "/>
                <a:cs typeface="Poppins" panose="00000500000000000000" pitchFamily="2" charset="0"/>
              </a:rPr>
              <a:t>En ChatGPT: “</a:t>
            </a:r>
            <a:r>
              <a:rPr lang="es-ES" dirty="0">
                <a:latin typeface="Calibri "/>
                <a:cs typeface="Poppins" panose="00000500000000000000" pitchFamily="2" charset="0"/>
              </a:rPr>
              <a:t>E</a:t>
            </a:r>
            <a:r>
              <a:rPr lang="es-ES" dirty="0">
                <a:latin typeface="Calibri "/>
              </a:rPr>
              <a:t>n el caso del PIB, ¿cómo se consideran bienes gratuitos como </a:t>
            </a:r>
            <a:r>
              <a:rPr lang="es-ES" dirty="0" err="1">
                <a:latin typeface="Calibri "/>
              </a:rPr>
              <a:t>whatsapp</a:t>
            </a:r>
            <a:r>
              <a:rPr lang="es-ES" dirty="0">
                <a:latin typeface="Calibri "/>
              </a:rPr>
              <a:t>?”</a:t>
            </a:r>
            <a:endParaRPr lang="en-US" sz="1800" dirty="0">
              <a:latin typeface="Calibri "/>
              <a:cs typeface="Poppins" panose="00000500000000000000" pitchFamily="2" charset="0"/>
            </a:endParaRPr>
          </a:p>
          <a:p>
            <a:endParaRPr lang="en-US" sz="1800" dirty="0">
              <a:latin typeface="Calibri "/>
              <a:cs typeface="Poppins" panose="00000500000000000000" pitchFamily="2" charset="0"/>
            </a:endParaRPr>
          </a:p>
          <a:p>
            <a:r>
              <a:rPr lang="en-US" sz="1800" dirty="0" err="1">
                <a:latin typeface="Calibri "/>
                <a:cs typeface="Poppins" panose="00000500000000000000" pitchFamily="2" charset="0"/>
              </a:rPr>
              <a:t>Otros</a:t>
            </a:r>
            <a:r>
              <a:rPr lang="en-US" sz="1800" dirty="0">
                <a:latin typeface="Calibri "/>
                <a:cs typeface="Poppins" panose="00000500000000000000" pitchFamily="2" charset="0"/>
              </a:rPr>
              <a:t> enlaces:</a:t>
            </a:r>
          </a:p>
          <a:p>
            <a:pPr marL="285750" indent="-285750">
              <a:buFont typeface="Arial" panose="020B0604020202020204" pitchFamily="34" charset="0"/>
              <a:buChar char="•"/>
            </a:pPr>
            <a:endParaRPr lang="en-US" sz="1800" dirty="0">
              <a:latin typeface="Calibri "/>
              <a:cs typeface="Poppins" panose="00000500000000000000" pitchFamily="2" charset="0"/>
            </a:endParaRPr>
          </a:p>
          <a:p>
            <a:pPr marL="285750" indent="-285750" algn="just">
              <a:lnSpc>
                <a:spcPct val="100000"/>
              </a:lnSpc>
              <a:spcBef>
                <a:spcPts val="20"/>
              </a:spcBef>
              <a:buFont typeface="Arial" panose="020B0604020202020204" pitchFamily="34" charset="0"/>
              <a:buChar char="•"/>
            </a:pPr>
            <a:r>
              <a:rPr lang="es-CL" sz="1800" dirty="0">
                <a:latin typeface="Calibri "/>
                <a:cs typeface="Poppins" pitchFamily="2" charset="77"/>
              </a:rPr>
              <a:t>PIB per cápita: </a:t>
            </a:r>
            <a:r>
              <a:rPr lang="es-ES" sz="1800" dirty="0">
                <a:latin typeface="Calibri "/>
                <a:cs typeface="Poppins" pitchFamily="2" charset="77"/>
                <a:hlinkClick r:id="rId3"/>
              </a:rPr>
              <a:t>Enlace acá</a:t>
            </a:r>
            <a:endParaRPr lang="es-ES" sz="1800" dirty="0">
              <a:latin typeface="Calibri "/>
              <a:cs typeface="Poppins" pitchFamily="2" charset="77"/>
            </a:endParaRPr>
          </a:p>
          <a:p>
            <a:pPr marL="285750" indent="-285750" algn="just">
              <a:spcBef>
                <a:spcPts val="20"/>
              </a:spcBef>
              <a:buFont typeface="Arial" panose="020B0604020202020204" pitchFamily="34" charset="0"/>
              <a:buChar char="•"/>
            </a:pPr>
            <a:r>
              <a:rPr lang="es-ES" sz="1800" dirty="0">
                <a:latin typeface="Calibri "/>
                <a:cs typeface="Poppins" pitchFamily="2" charset="77"/>
              </a:rPr>
              <a:t>Índice de Gini: </a:t>
            </a:r>
            <a:r>
              <a:rPr lang="es-ES" sz="1800" dirty="0">
                <a:latin typeface="Calibri "/>
                <a:cs typeface="Poppins" pitchFamily="2" charset="77"/>
                <a:hlinkClick r:id="rId4"/>
              </a:rPr>
              <a:t>Enlace acá</a:t>
            </a:r>
            <a:endParaRPr lang="es-ES" sz="1800" dirty="0">
              <a:latin typeface="Calibri "/>
              <a:cs typeface="Poppins" pitchFamily="2" charset="77"/>
            </a:endParaRPr>
          </a:p>
          <a:p>
            <a:pPr algn="just">
              <a:spcBef>
                <a:spcPts val="20"/>
              </a:spcBef>
            </a:pPr>
            <a:endParaRPr lang="es-ES" sz="1800" dirty="0">
              <a:latin typeface="Calibri "/>
              <a:cs typeface="Poppins" pitchFamily="2" charset="77"/>
            </a:endParaRPr>
          </a:p>
        </p:txBody>
      </p:sp>
    </p:spTree>
    <p:extLst>
      <p:ext uri="{BB962C8B-B14F-4D97-AF65-F5344CB8AC3E}">
        <p14:creationId xmlns:p14="http://schemas.microsoft.com/office/powerpoint/2010/main" val="813511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8A5A4-7886-B080-5CAE-3A3BB52CCB87}"/>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B40A268F-8F08-F34F-923A-2861D11BDF50}"/>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758D86E5-454D-58C8-8A04-FDBCE718CC05}"/>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2800" b="1" spc="-1" noProof="0" dirty="0">
                <a:solidFill>
                  <a:schemeClr val="tx1">
                    <a:lumMod val="75000"/>
                    <a:lumOff val="25000"/>
                  </a:schemeClr>
                </a:solidFill>
                <a:latin typeface="TT Wellingtons DemiBold" panose="02000503020000020004" pitchFamily="2" charset="77"/>
              </a:rPr>
              <a:t>Relación con la actividad</a:t>
            </a:r>
            <a:endParaRPr lang="es-CL" sz="2800" b="1" strike="noStrike" spc="-1" noProof="0" dirty="0">
              <a:solidFill>
                <a:schemeClr val="tx1">
                  <a:lumMod val="75000"/>
                  <a:lumOff val="25000"/>
                </a:schemeClr>
              </a:solidFill>
              <a:latin typeface="TT Wellingtons DemiBold" panose="02000503020000020004" pitchFamily="2" charset="77"/>
            </a:endParaRPr>
          </a:p>
        </p:txBody>
      </p:sp>
      <p:sp>
        <p:nvSpPr>
          <p:cNvPr id="5" name="CustomShape 2">
            <a:extLst>
              <a:ext uri="{FF2B5EF4-FFF2-40B4-BE49-F238E27FC236}">
                <a16:creationId xmlns:a16="http://schemas.microsoft.com/office/drawing/2014/main" id="{A30D1437-55DC-6043-2897-6BF78E22AF8E}"/>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r>
              <a:rPr lang="es-ES" sz="1800" dirty="0">
                <a:latin typeface="Calibri "/>
                <a:cs typeface="Poppins" panose="00000500000000000000" pitchFamily="2" charset="0"/>
              </a:rPr>
              <a:t>Existe una relación intrínseca entre la actividad económica de un país y el empleo. Un país con mayor actividad, indica un aumento del bienestar del país y con esto un aumento en el empleo que también debería estar relacionado con aumento en los ingresos.  </a:t>
            </a:r>
          </a:p>
          <a:p>
            <a:endParaRPr lang="es-ES" sz="1800" dirty="0">
              <a:latin typeface="Calibri "/>
              <a:cs typeface="Poppins" panose="00000500000000000000" pitchFamily="2" charset="0"/>
            </a:endParaRPr>
          </a:p>
          <a:p>
            <a:r>
              <a:rPr lang="es-ES" sz="1800" dirty="0">
                <a:latin typeface="Calibri "/>
                <a:cs typeface="Poppins" panose="00000500000000000000" pitchFamily="2" charset="0"/>
              </a:rPr>
              <a:t>Por otra parte, más que hablarse de empleo se suele hablar de la otra cara de la moneda, el desempleo.</a:t>
            </a:r>
          </a:p>
          <a:p>
            <a:endParaRPr lang="es-ES" dirty="0">
              <a:latin typeface="Calibri "/>
              <a:cs typeface="Poppins" panose="00000500000000000000" pitchFamily="2" charset="0"/>
            </a:endParaRPr>
          </a:p>
          <a:p>
            <a:r>
              <a:rPr lang="es-ES" sz="1800" dirty="0">
                <a:latin typeface="Calibri "/>
                <a:cs typeface="Poppins" panose="00000500000000000000" pitchFamily="2" charset="0"/>
              </a:rPr>
              <a:t>Definición: Mercado en donde interactúan empleador y empleado, adecuando sus incentivos a través de un salario que viene influenciado por el mercado. </a:t>
            </a:r>
          </a:p>
          <a:p>
            <a:endParaRPr lang="es-ES" sz="1800" dirty="0">
              <a:latin typeface="Calibri "/>
              <a:cs typeface="Poppins" panose="00000500000000000000" pitchFamily="2" charset="0"/>
            </a:endParaRPr>
          </a:p>
          <a:p>
            <a:r>
              <a:rPr lang="es-ES" sz="1800" dirty="0">
                <a:latin typeface="Calibri "/>
                <a:cs typeface="Poppins" panose="00000500000000000000" pitchFamily="2" charset="0"/>
              </a:rPr>
              <a:t>Como en todo mercado, se debe definir quién es el oferente y quién es el demandante; generalmente, se habla de ofertas laborales, ¿esto es correcto?</a:t>
            </a:r>
          </a:p>
          <a:p>
            <a:endParaRPr lang="es-ES" sz="1800" dirty="0">
              <a:latin typeface="Calibri "/>
              <a:cs typeface="Poppins" panose="00000500000000000000" pitchFamily="2" charset="0"/>
            </a:endParaRPr>
          </a:p>
        </p:txBody>
      </p:sp>
    </p:spTree>
    <p:extLst>
      <p:ext uri="{BB962C8B-B14F-4D97-AF65-F5344CB8AC3E}">
        <p14:creationId xmlns:p14="http://schemas.microsoft.com/office/powerpoint/2010/main" val="2814493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18FEF-40CC-AE8E-DD7A-C6A9A537AEB4}"/>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F5CDC729-91AB-F135-FD7A-AEA669FB18DA}"/>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C0914002-FC1B-91DE-DA6F-23EDF5F3BD4C}"/>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2800" b="1" spc="-1" noProof="0" dirty="0">
                <a:solidFill>
                  <a:schemeClr val="tx1">
                    <a:lumMod val="75000"/>
                    <a:lumOff val="25000"/>
                  </a:schemeClr>
                </a:solidFill>
                <a:latin typeface="TT Wellingtons DemiBold" panose="02000503020000020004" pitchFamily="2" charset="77"/>
              </a:rPr>
              <a:t>Interacciones</a:t>
            </a:r>
            <a:endParaRPr lang="es-CL" sz="2800" b="1" strike="noStrike" spc="-1" noProof="0" dirty="0">
              <a:solidFill>
                <a:schemeClr val="tx1">
                  <a:lumMod val="75000"/>
                  <a:lumOff val="25000"/>
                </a:schemeClr>
              </a:solidFill>
              <a:latin typeface="TT Wellingtons DemiBold" panose="02000503020000020004" pitchFamily="2" charset="77"/>
            </a:endParaRPr>
          </a:p>
        </p:txBody>
      </p:sp>
      <p:sp>
        <p:nvSpPr>
          <p:cNvPr id="5" name="CustomShape 2">
            <a:extLst>
              <a:ext uri="{FF2B5EF4-FFF2-40B4-BE49-F238E27FC236}">
                <a16:creationId xmlns:a16="http://schemas.microsoft.com/office/drawing/2014/main" id="{071D24AD-12C1-023B-83C5-8BF817AA9308}"/>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r>
              <a:rPr lang="es-ES" sz="1800" dirty="0">
                <a:latin typeface="Calibri "/>
                <a:cs typeface="Poppins" panose="00000500000000000000" pitchFamily="2" charset="0"/>
              </a:rPr>
              <a:t>Considerando esto, se tiene la siguiente situación hipotética de una empresa:</a:t>
            </a:r>
          </a:p>
          <a:p>
            <a:endParaRPr lang="es-ES" sz="1800" dirty="0">
              <a:latin typeface="Calibri "/>
              <a:cs typeface="Poppins" panose="00000500000000000000" pitchFamily="2" charset="0"/>
            </a:endParaRPr>
          </a:p>
        </p:txBody>
      </p:sp>
      <p:graphicFrame>
        <p:nvGraphicFramePr>
          <p:cNvPr id="2" name="Tabla 1">
            <a:extLst>
              <a:ext uri="{FF2B5EF4-FFF2-40B4-BE49-F238E27FC236}">
                <a16:creationId xmlns:a16="http://schemas.microsoft.com/office/drawing/2014/main" id="{666988F0-04A4-4BF2-2B26-91530B5243D3}"/>
              </a:ext>
            </a:extLst>
          </p:cNvPr>
          <p:cNvGraphicFramePr>
            <a:graphicFrameLocks noGrp="1"/>
          </p:cNvGraphicFramePr>
          <p:nvPr>
            <p:extLst>
              <p:ext uri="{D42A27DB-BD31-4B8C-83A1-F6EECF244321}">
                <p14:modId xmlns:p14="http://schemas.microsoft.com/office/powerpoint/2010/main" val="919480869"/>
              </p:ext>
            </p:extLst>
          </p:nvPr>
        </p:nvGraphicFramePr>
        <p:xfrm>
          <a:off x="2500439" y="3107954"/>
          <a:ext cx="7191122" cy="1483360"/>
        </p:xfrm>
        <a:graphic>
          <a:graphicData uri="http://schemas.openxmlformats.org/drawingml/2006/table">
            <a:tbl>
              <a:tblPr firstRow="1" bandRow="1">
                <a:tableStyleId>{5C22544A-7EE6-4342-B048-85BDC9FD1C3A}</a:tableStyleId>
              </a:tblPr>
              <a:tblGrid>
                <a:gridCol w="1594358">
                  <a:extLst>
                    <a:ext uri="{9D8B030D-6E8A-4147-A177-3AD203B41FA5}">
                      <a16:colId xmlns:a16="http://schemas.microsoft.com/office/drawing/2014/main" val="2530270255"/>
                    </a:ext>
                  </a:extLst>
                </a:gridCol>
                <a:gridCol w="3989896">
                  <a:extLst>
                    <a:ext uri="{9D8B030D-6E8A-4147-A177-3AD203B41FA5}">
                      <a16:colId xmlns:a16="http://schemas.microsoft.com/office/drawing/2014/main" val="3327576091"/>
                    </a:ext>
                  </a:extLst>
                </a:gridCol>
                <a:gridCol w="1606868">
                  <a:extLst>
                    <a:ext uri="{9D8B030D-6E8A-4147-A177-3AD203B41FA5}">
                      <a16:colId xmlns:a16="http://schemas.microsoft.com/office/drawing/2014/main" val="1290198912"/>
                    </a:ext>
                  </a:extLst>
                </a:gridCol>
              </a:tblGrid>
              <a:tr h="370840">
                <a:tc>
                  <a:txBody>
                    <a:bodyPr/>
                    <a:lstStyle/>
                    <a:p>
                      <a:r>
                        <a:rPr lang="es-ES" sz="1400" dirty="0">
                          <a:latin typeface="Calibri "/>
                          <a:cs typeface="Poppins" panose="00000500000000000000" pitchFamily="2" charset="0"/>
                        </a:rPr>
                        <a:t>Departamento</a:t>
                      </a:r>
                      <a:endParaRPr lang="en-US" sz="1400" dirty="0">
                        <a:latin typeface="Calibri "/>
                        <a:cs typeface="Poppins" panose="00000500000000000000" pitchFamily="2" charset="0"/>
                      </a:endParaRPr>
                    </a:p>
                  </a:txBody>
                  <a:tcPr/>
                </a:tc>
                <a:tc>
                  <a:txBody>
                    <a:bodyPr/>
                    <a:lstStyle/>
                    <a:p>
                      <a:r>
                        <a:rPr lang="es-ES" sz="1400" dirty="0">
                          <a:latin typeface="Calibri "/>
                          <a:cs typeface="Poppins" panose="00000500000000000000" pitchFamily="2" charset="0"/>
                        </a:rPr>
                        <a:t>La empresa sabe</a:t>
                      </a:r>
                      <a:endParaRPr lang="en-US" sz="1400" dirty="0">
                        <a:latin typeface="Calibri "/>
                        <a:cs typeface="Poppins" panose="00000500000000000000" pitchFamily="2" charset="0"/>
                      </a:endParaRPr>
                    </a:p>
                  </a:txBody>
                  <a:tcPr/>
                </a:tc>
                <a:tc>
                  <a:txBody>
                    <a:bodyPr/>
                    <a:lstStyle/>
                    <a:p>
                      <a:r>
                        <a:rPr lang="es-CL" sz="1400" dirty="0">
                          <a:latin typeface="Calibri "/>
                          <a:cs typeface="Poppins" panose="00000500000000000000" pitchFamily="2" charset="0"/>
                        </a:rPr>
                        <a:t>Determina</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2320691173"/>
                  </a:ext>
                </a:extLst>
              </a:tr>
              <a:tr h="370840">
                <a:tc>
                  <a:txBody>
                    <a:bodyPr/>
                    <a:lstStyle/>
                    <a:p>
                      <a:r>
                        <a:rPr lang="es-ES" sz="1400" dirty="0">
                          <a:latin typeface="Calibri "/>
                          <a:cs typeface="Poppins" panose="00000500000000000000" pitchFamily="2" charset="0"/>
                        </a:rPr>
                        <a:t>Recursos Humanos</a:t>
                      </a:r>
                      <a:endParaRPr lang="en-US" sz="1400" dirty="0">
                        <a:latin typeface="Calibri "/>
                        <a:cs typeface="Poppins" panose="00000500000000000000" pitchFamily="2" charset="0"/>
                      </a:endParaRPr>
                    </a:p>
                  </a:txBody>
                  <a:tcPr/>
                </a:tc>
                <a:tc>
                  <a:txBody>
                    <a:bodyPr/>
                    <a:lstStyle/>
                    <a:p>
                      <a:r>
                        <a:rPr lang="es-ES" sz="1400" dirty="0">
                          <a:latin typeface="Calibri "/>
                          <a:cs typeface="Poppins" panose="00000500000000000000" pitchFamily="2" charset="0"/>
                        </a:rPr>
                        <a:t>Precios, salarios y empleabilidad de otras empresas</a:t>
                      </a:r>
                      <a:endParaRPr lang="en-US" sz="1400" dirty="0">
                        <a:latin typeface="Calibri "/>
                        <a:cs typeface="Poppins" panose="00000500000000000000" pitchFamily="2" charset="0"/>
                      </a:endParaRPr>
                    </a:p>
                  </a:txBody>
                  <a:tcPr/>
                </a:tc>
                <a:tc>
                  <a:txBody>
                    <a:bodyPr/>
                    <a:lstStyle/>
                    <a:p>
                      <a:r>
                        <a:rPr lang="es-CL" sz="1400" dirty="0">
                          <a:latin typeface="Calibri "/>
                          <a:cs typeface="Poppins" panose="00000500000000000000" pitchFamily="2" charset="0"/>
                        </a:rPr>
                        <a:t>Salario Nominal, W</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681746900"/>
                  </a:ext>
                </a:extLst>
              </a:tr>
              <a:tr h="370840">
                <a:tc>
                  <a:txBody>
                    <a:bodyPr/>
                    <a:lstStyle/>
                    <a:p>
                      <a:r>
                        <a:rPr lang="es-ES" sz="1400" dirty="0">
                          <a:latin typeface="Calibri "/>
                          <a:cs typeface="Poppins" panose="00000500000000000000" pitchFamily="2" charset="0"/>
                        </a:rPr>
                        <a:t>Marketing</a:t>
                      </a:r>
                      <a:endParaRPr lang="en-US" sz="1400" dirty="0">
                        <a:latin typeface="Calibri "/>
                        <a:cs typeface="Poppins" panose="00000500000000000000" pitchFamily="2"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s-ES" sz="1400" dirty="0">
                          <a:latin typeface="Calibri "/>
                          <a:cs typeface="Poppins" panose="00000500000000000000" pitchFamily="2" charset="0"/>
                        </a:rPr>
                        <a:t>Lo anterior y demanda de sus productos</a:t>
                      </a:r>
                      <a:endParaRPr lang="en-US" sz="1400" dirty="0">
                        <a:latin typeface="Calibri "/>
                        <a:cs typeface="Poppins" panose="00000500000000000000" pitchFamily="2"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s-CL" sz="1400" dirty="0">
                          <a:latin typeface="Calibri "/>
                          <a:cs typeface="Poppins" panose="00000500000000000000" pitchFamily="2" charset="0"/>
                        </a:rPr>
                        <a:t>Precio de venta, P</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2289881674"/>
                  </a:ext>
                </a:extLst>
              </a:tr>
              <a:tr h="370840">
                <a:tc>
                  <a:txBody>
                    <a:bodyPr/>
                    <a:lstStyle/>
                    <a:p>
                      <a:r>
                        <a:rPr lang="es-ES" sz="1400" dirty="0">
                          <a:latin typeface="Calibri "/>
                          <a:cs typeface="Poppins" panose="00000500000000000000" pitchFamily="2" charset="0"/>
                        </a:rPr>
                        <a:t>Producción</a:t>
                      </a:r>
                      <a:endParaRPr lang="en-US" sz="1400" dirty="0">
                        <a:latin typeface="Calibri "/>
                        <a:cs typeface="Poppins" panose="00000500000000000000" pitchFamily="2" charset="0"/>
                      </a:endParaRPr>
                    </a:p>
                  </a:txBody>
                  <a:tcPr/>
                </a:tc>
                <a:tc>
                  <a:txBody>
                    <a:bodyPr/>
                    <a:lstStyle/>
                    <a:p>
                      <a:r>
                        <a:rPr lang="es-ES" sz="1400" dirty="0">
                          <a:latin typeface="Calibri "/>
                          <a:cs typeface="Poppins" panose="00000500000000000000" pitchFamily="2" charset="0"/>
                        </a:rPr>
                        <a:t>Lo anterior, productividad y cuánto se puede vender</a:t>
                      </a:r>
                      <a:endParaRPr lang="en-US" sz="1400" dirty="0">
                        <a:latin typeface="Calibri "/>
                        <a:cs typeface="Poppins" panose="00000500000000000000" pitchFamily="2" charset="0"/>
                      </a:endParaRPr>
                    </a:p>
                  </a:txBody>
                  <a:tcPr/>
                </a:tc>
                <a:tc>
                  <a:txBody>
                    <a:bodyPr/>
                    <a:lstStyle/>
                    <a:p>
                      <a:r>
                        <a:rPr lang="es-CL" sz="1400" dirty="0">
                          <a:latin typeface="Calibri "/>
                          <a:cs typeface="Poppins" panose="00000500000000000000" pitchFamily="2" charset="0"/>
                        </a:rPr>
                        <a:t>Empleo, n</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3682651919"/>
                  </a:ext>
                </a:extLst>
              </a:tr>
            </a:tbl>
          </a:graphicData>
        </a:graphic>
      </p:graphicFrame>
    </p:spTree>
    <p:extLst>
      <p:ext uri="{BB962C8B-B14F-4D97-AF65-F5344CB8AC3E}">
        <p14:creationId xmlns:p14="http://schemas.microsoft.com/office/powerpoint/2010/main" val="1849589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6045-F91E-2D47-AF7B-916CF66A664E}"/>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F11D442B-ED17-96C7-E6D9-A545EFC214CB}"/>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8F93BBCE-BF95-3BD6-526E-C4CA65F3B4C8}"/>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Población y el mercado del trabajo</a:t>
            </a:r>
          </a:p>
        </p:txBody>
      </p:sp>
      <p:sp>
        <p:nvSpPr>
          <p:cNvPr id="5" name="CustomShape 2">
            <a:extLst>
              <a:ext uri="{FF2B5EF4-FFF2-40B4-BE49-F238E27FC236}">
                <a16:creationId xmlns:a16="http://schemas.microsoft.com/office/drawing/2014/main" id="{E4A18430-5C46-0242-7D86-ACA415A45A1F}"/>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endParaRPr lang="es-ES" sz="1800" dirty="0">
              <a:latin typeface="Poppins" panose="00000500000000000000" pitchFamily="2" charset="0"/>
              <a:cs typeface="Poppins" panose="00000500000000000000" pitchFamily="2" charset="0"/>
            </a:endParaRPr>
          </a:p>
        </p:txBody>
      </p:sp>
      <p:graphicFrame>
        <p:nvGraphicFramePr>
          <p:cNvPr id="3" name="Diagrama 2">
            <a:extLst>
              <a:ext uri="{FF2B5EF4-FFF2-40B4-BE49-F238E27FC236}">
                <a16:creationId xmlns:a16="http://schemas.microsoft.com/office/drawing/2014/main" id="{F086CEE0-35CF-9B2A-9F88-99FA83855ECF}"/>
              </a:ext>
            </a:extLst>
          </p:cNvPr>
          <p:cNvGraphicFramePr/>
          <p:nvPr>
            <p:extLst>
              <p:ext uri="{D42A27DB-BD31-4B8C-83A1-F6EECF244321}">
                <p14:modId xmlns:p14="http://schemas.microsoft.com/office/powerpoint/2010/main" val="2056915384"/>
              </p:ext>
            </p:extLst>
          </p:nvPr>
        </p:nvGraphicFramePr>
        <p:xfrm>
          <a:off x="2389506" y="1770389"/>
          <a:ext cx="7412988" cy="39828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7128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C3465-A458-C9DC-1327-06D920F5EF2A}"/>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10BCDA04-83E3-0D31-D05C-4D564ADDA82C}"/>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7737B643-E3E6-8AC5-D2F5-7083467997C5}"/>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Población y el mercado del trabajo</a:t>
            </a:r>
          </a:p>
        </p:txBody>
      </p:sp>
      <p:sp>
        <p:nvSpPr>
          <p:cNvPr id="5" name="CustomShape 2">
            <a:extLst>
              <a:ext uri="{FF2B5EF4-FFF2-40B4-BE49-F238E27FC236}">
                <a16:creationId xmlns:a16="http://schemas.microsoft.com/office/drawing/2014/main" id="{695DAB05-B559-2454-479C-75503B000138}"/>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r>
              <a:rPr lang="es-ES" sz="1800" dirty="0">
                <a:latin typeface="Calibri "/>
                <a:cs typeface="Poppins" panose="00000500000000000000" pitchFamily="2" charset="0"/>
              </a:rPr>
              <a:t>Población en edad de trabajar: se considera a las personas mayores de 15 años que residen en el país. </a:t>
            </a:r>
          </a:p>
          <a:p>
            <a:endParaRPr lang="es-ES" sz="1800" dirty="0">
              <a:latin typeface="Calibri "/>
              <a:cs typeface="Poppins" panose="00000500000000000000" pitchFamily="2" charset="0"/>
            </a:endParaRPr>
          </a:p>
          <a:p>
            <a:r>
              <a:rPr lang="es-ES" sz="1800" dirty="0">
                <a:latin typeface="Calibri "/>
                <a:cs typeface="Poppins" panose="00000500000000000000" pitchFamily="2" charset="0"/>
              </a:rPr>
              <a:t>Fuerza de trabajo: personas en edad de trabajar que durante la semana de referencia cumplen los requisitos para ser incluidas en la categoría de ocupados o desocupados. </a:t>
            </a:r>
          </a:p>
          <a:p>
            <a:endParaRPr lang="es-ES" sz="1800" dirty="0">
              <a:latin typeface="Calibri "/>
              <a:cs typeface="Poppins" panose="00000500000000000000" pitchFamily="2" charset="0"/>
            </a:endParaRPr>
          </a:p>
          <a:p>
            <a:r>
              <a:rPr lang="es-ES" sz="1800" dirty="0">
                <a:latin typeface="Calibri "/>
                <a:cs typeface="Poppins" panose="00000500000000000000" pitchFamily="2" charset="0"/>
              </a:rPr>
              <a:t>Ocupados: todas las personas en edad de trabajar, que durante la semana de referencia dedicaron al menos una hora a alguna actividad para producir bienes o servicios a cambio de una remuneración o beneficios</a:t>
            </a:r>
          </a:p>
          <a:p>
            <a:endParaRPr lang="es-ES" sz="1800" dirty="0">
              <a:latin typeface="Calibri "/>
              <a:cs typeface="Poppins" panose="00000500000000000000" pitchFamily="2" charset="0"/>
            </a:endParaRPr>
          </a:p>
          <a:p>
            <a:r>
              <a:rPr lang="es-ES" sz="1800" dirty="0">
                <a:latin typeface="Calibri "/>
                <a:cs typeface="Poppins" panose="00000500000000000000" pitchFamily="2" charset="0"/>
              </a:rPr>
              <a:t>Desocupados: todas las personas en edad de trabajar que no estaban ocupadas durante la semana de referencia, que había llevado a cabo actividades de búsqueda de un puesto de trabajo durante las últimas cuatro semanas (incluyendo la de referencia) y que estaban disponibles para trabajar en las próximas dos semanas (posteriores a la de referencia)</a:t>
            </a:r>
          </a:p>
        </p:txBody>
      </p:sp>
    </p:spTree>
    <p:extLst>
      <p:ext uri="{BB962C8B-B14F-4D97-AF65-F5344CB8AC3E}">
        <p14:creationId xmlns:p14="http://schemas.microsoft.com/office/powerpoint/2010/main" val="912312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1CD06-0A7F-F638-836B-17B6F3E9B3EC}"/>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A73A9BFF-6940-0826-6F0B-54850CCBCDF4}"/>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2FA51076-CADF-FA40-5864-9B4D366F6E42}"/>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Población y el mercado del trabajo</a:t>
            </a:r>
          </a:p>
        </p:txBody>
      </p:sp>
      <p:sp>
        <p:nvSpPr>
          <p:cNvPr id="5" name="CustomShape 2">
            <a:extLst>
              <a:ext uri="{FF2B5EF4-FFF2-40B4-BE49-F238E27FC236}">
                <a16:creationId xmlns:a16="http://schemas.microsoft.com/office/drawing/2014/main" id="{61D08ED7-2853-FC76-8D0D-BBD042DDBEEE}"/>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r>
              <a:rPr lang="es-ES" sz="1800" dirty="0">
                <a:latin typeface="Calibri "/>
                <a:cs typeface="Poppins" panose="00000500000000000000" pitchFamily="2" charset="0"/>
              </a:rPr>
              <a:t>Población fuera de la Fuerza de Trabajo o Inactiva: todas las personas de la población en edad de trabajar que no son clasificadas como ocupadas ni desocupadas.</a:t>
            </a:r>
          </a:p>
          <a:p>
            <a:endParaRPr lang="es-ES" sz="1800" dirty="0">
              <a:latin typeface="Calibri "/>
              <a:cs typeface="Poppins" panose="00000500000000000000" pitchFamily="2" charset="0"/>
            </a:endParaRPr>
          </a:p>
          <a:p>
            <a:r>
              <a:rPr lang="es-ES" sz="1800" dirty="0">
                <a:latin typeface="Calibri "/>
                <a:cs typeface="Poppins" panose="00000500000000000000" pitchFamily="2" charset="0"/>
              </a:rPr>
              <a:t>Tasa de desocupación: número de personas desocupadas expresado como porcentaje de la fuerza de trabajo.</a:t>
            </a:r>
          </a:p>
        </p:txBody>
      </p:sp>
    </p:spTree>
    <p:extLst>
      <p:ext uri="{BB962C8B-B14F-4D97-AF65-F5344CB8AC3E}">
        <p14:creationId xmlns:p14="http://schemas.microsoft.com/office/powerpoint/2010/main" val="72161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DC710-1963-46C6-4516-BCF92EFC29E6}"/>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377B950E-4E7D-84A7-D476-039ED09FFF7E}"/>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213D1544-3B20-3B9D-0ACB-19C8224ADDD8}"/>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Cálculo de la ocupación</a:t>
            </a:r>
          </a:p>
        </p:txBody>
      </p:sp>
      <p:sp>
        <p:nvSpPr>
          <p:cNvPr id="5" name="CustomShape 2">
            <a:extLst>
              <a:ext uri="{FF2B5EF4-FFF2-40B4-BE49-F238E27FC236}">
                <a16:creationId xmlns:a16="http://schemas.microsoft.com/office/drawing/2014/main" id="{2EF2B837-3625-CB36-8C97-DEFC3D8207A6}"/>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r>
              <a:rPr lang="es-ES" sz="1800" dirty="0">
                <a:latin typeface="Calibri "/>
                <a:cs typeface="Poppins" panose="00000500000000000000" pitchFamily="2" charset="0"/>
              </a:rPr>
              <a:t>La ocupación se calcula considerando múltiples criterios en combinación con períodos de referencia:</a:t>
            </a:r>
          </a:p>
          <a:p>
            <a:endParaRPr lang="es-ES" sz="1800" dirty="0">
              <a:latin typeface="Calibri "/>
              <a:cs typeface="Poppins" pitchFamily="2" charset="77"/>
            </a:endParaRPr>
          </a:p>
          <a:p>
            <a:endParaRPr lang="es-ES" dirty="0">
              <a:latin typeface="Calibri "/>
              <a:cs typeface="Poppins" pitchFamily="2" charset="77"/>
            </a:endParaRPr>
          </a:p>
          <a:p>
            <a:endParaRPr lang="es-ES" sz="1800" dirty="0">
              <a:latin typeface="Calibri "/>
              <a:cs typeface="Poppins" pitchFamily="2" charset="77"/>
            </a:endParaRPr>
          </a:p>
          <a:p>
            <a:endParaRPr lang="es-ES" dirty="0">
              <a:latin typeface="Calibri "/>
              <a:cs typeface="Poppins" pitchFamily="2" charset="77"/>
            </a:endParaRPr>
          </a:p>
          <a:p>
            <a:endParaRPr lang="es-ES" sz="1800" dirty="0">
              <a:latin typeface="Calibri "/>
              <a:cs typeface="Poppins" pitchFamily="2" charset="77"/>
            </a:endParaRPr>
          </a:p>
          <a:p>
            <a:endParaRPr lang="es-ES" dirty="0">
              <a:latin typeface="Calibri "/>
              <a:cs typeface="Poppins" pitchFamily="2" charset="77"/>
            </a:endParaRPr>
          </a:p>
          <a:p>
            <a:endParaRPr lang="es-ES" sz="1800" dirty="0">
              <a:latin typeface="Calibri "/>
              <a:cs typeface="Poppins" pitchFamily="2" charset="77"/>
            </a:endParaRPr>
          </a:p>
          <a:p>
            <a:endParaRPr lang="es-ES" dirty="0">
              <a:latin typeface="Calibri "/>
              <a:cs typeface="Poppins" pitchFamily="2" charset="77"/>
            </a:endParaRPr>
          </a:p>
          <a:p>
            <a:r>
              <a:rPr lang="es-ES" sz="1800" dirty="0">
                <a:latin typeface="Calibri "/>
                <a:cs typeface="Poppins" pitchFamily="2" charset="77"/>
              </a:rPr>
              <a:t>Dichos criterios y períodos deben cumplirse de manera conjunta.</a:t>
            </a:r>
          </a:p>
          <a:p>
            <a:endParaRPr lang="es-ES" sz="1800" dirty="0">
              <a:latin typeface="Calibri "/>
              <a:cs typeface="Poppins" panose="00000500000000000000" pitchFamily="2" charset="0"/>
            </a:endParaRPr>
          </a:p>
        </p:txBody>
      </p:sp>
      <p:graphicFrame>
        <p:nvGraphicFramePr>
          <p:cNvPr id="2" name="Tabla 1">
            <a:extLst>
              <a:ext uri="{FF2B5EF4-FFF2-40B4-BE49-F238E27FC236}">
                <a16:creationId xmlns:a16="http://schemas.microsoft.com/office/drawing/2014/main" id="{645F9CB8-0808-E8CD-2D7D-5A37E3ED855A}"/>
              </a:ext>
            </a:extLst>
          </p:cNvPr>
          <p:cNvGraphicFramePr>
            <a:graphicFrameLocks noGrp="1"/>
          </p:cNvGraphicFramePr>
          <p:nvPr>
            <p:extLst>
              <p:ext uri="{D42A27DB-BD31-4B8C-83A1-F6EECF244321}">
                <p14:modId xmlns:p14="http://schemas.microsoft.com/office/powerpoint/2010/main" val="2197973975"/>
              </p:ext>
            </p:extLst>
          </p:nvPr>
        </p:nvGraphicFramePr>
        <p:xfrm>
          <a:off x="2985325" y="3270229"/>
          <a:ext cx="6221350" cy="1483360"/>
        </p:xfrm>
        <a:graphic>
          <a:graphicData uri="http://schemas.openxmlformats.org/drawingml/2006/table">
            <a:tbl>
              <a:tblPr firstRow="1" bandRow="1">
                <a:tableStyleId>{5C22544A-7EE6-4342-B048-85BDC9FD1C3A}</a:tableStyleId>
              </a:tblPr>
              <a:tblGrid>
                <a:gridCol w="3077528">
                  <a:extLst>
                    <a:ext uri="{9D8B030D-6E8A-4147-A177-3AD203B41FA5}">
                      <a16:colId xmlns:a16="http://schemas.microsoft.com/office/drawing/2014/main" val="2530270255"/>
                    </a:ext>
                  </a:extLst>
                </a:gridCol>
                <a:gridCol w="3143822">
                  <a:extLst>
                    <a:ext uri="{9D8B030D-6E8A-4147-A177-3AD203B41FA5}">
                      <a16:colId xmlns:a16="http://schemas.microsoft.com/office/drawing/2014/main" val="3327576091"/>
                    </a:ext>
                  </a:extLst>
                </a:gridCol>
              </a:tblGrid>
              <a:tr h="370840">
                <a:tc>
                  <a:txBody>
                    <a:bodyPr/>
                    <a:lstStyle/>
                    <a:p>
                      <a:r>
                        <a:rPr lang="es-ES" sz="1400" dirty="0">
                          <a:latin typeface="Calibri "/>
                          <a:cs typeface="Poppins" panose="00000500000000000000" pitchFamily="2" charset="0"/>
                        </a:rPr>
                        <a:t>Criterios</a:t>
                      </a:r>
                      <a:endParaRPr lang="en-US" sz="1400" dirty="0">
                        <a:latin typeface="Calibri "/>
                        <a:cs typeface="Poppins" panose="00000500000000000000" pitchFamily="2" charset="0"/>
                      </a:endParaRPr>
                    </a:p>
                  </a:txBody>
                  <a:tcPr/>
                </a:tc>
                <a:tc>
                  <a:txBody>
                    <a:bodyPr/>
                    <a:lstStyle/>
                    <a:p>
                      <a:r>
                        <a:rPr lang="es-ES" sz="1400" dirty="0">
                          <a:latin typeface="Calibri "/>
                          <a:cs typeface="Poppins" panose="00000500000000000000" pitchFamily="2" charset="0"/>
                        </a:rPr>
                        <a:t>Período de referencia</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2320691173"/>
                  </a:ext>
                </a:extLst>
              </a:tr>
              <a:tr h="370840">
                <a:tc>
                  <a:txBody>
                    <a:bodyPr/>
                    <a:lstStyle/>
                    <a:p>
                      <a:r>
                        <a:rPr lang="es-ES" sz="1400" dirty="0">
                          <a:latin typeface="Calibri "/>
                          <a:cs typeface="Poppins" panose="00000500000000000000" pitchFamily="2" charset="0"/>
                        </a:rPr>
                        <a:t>Producir un bien o realizar un servicio</a:t>
                      </a:r>
                      <a:endParaRPr lang="en-US" sz="1400" dirty="0">
                        <a:latin typeface="Calibri "/>
                        <a:cs typeface="Poppins" panose="00000500000000000000" pitchFamily="2" charset="0"/>
                      </a:endParaRPr>
                    </a:p>
                  </a:txBody>
                  <a:tcPr/>
                </a:tc>
                <a:tc>
                  <a:txBody>
                    <a:bodyPr/>
                    <a:lstStyle/>
                    <a:p>
                      <a:r>
                        <a:rPr lang="es-ES" sz="1400" dirty="0">
                          <a:latin typeface="Calibri "/>
                          <a:cs typeface="Poppins" panose="00000500000000000000" pitchFamily="2" charset="0"/>
                        </a:rPr>
                        <a:t>Durante la semana de referencia</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681746900"/>
                  </a:ext>
                </a:extLst>
              </a:tr>
              <a:tr h="370840">
                <a:tc>
                  <a:txBody>
                    <a:bodyPr/>
                    <a:lstStyle/>
                    <a:p>
                      <a:r>
                        <a:rPr lang="es-ES" sz="1400" dirty="0">
                          <a:latin typeface="Calibri "/>
                          <a:cs typeface="Poppins" panose="00000500000000000000" pitchFamily="2" charset="0"/>
                        </a:rPr>
                        <a:t>Actividad realizada por lo menos 1 hora</a:t>
                      </a:r>
                      <a:endParaRPr lang="en-US" sz="1400" dirty="0">
                        <a:latin typeface="Calibri "/>
                        <a:cs typeface="Poppins" panose="00000500000000000000" pitchFamily="2"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s-ES" sz="1400" dirty="0">
                          <a:latin typeface="Calibri "/>
                          <a:cs typeface="Poppins" panose="00000500000000000000" pitchFamily="2" charset="0"/>
                        </a:rPr>
                        <a:t>Durante la semana de referencia</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2289881674"/>
                  </a:ext>
                </a:extLst>
              </a:tr>
              <a:tr h="370840">
                <a:tc>
                  <a:txBody>
                    <a:bodyPr/>
                    <a:lstStyle/>
                    <a:p>
                      <a:r>
                        <a:rPr lang="es-ES" sz="1400" dirty="0">
                          <a:latin typeface="Calibri "/>
                          <a:cs typeface="Poppins" panose="00000500000000000000" pitchFamily="2" charset="0"/>
                        </a:rPr>
                        <a:t>Recibir un beneficio o remuneración</a:t>
                      </a:r>
                      <a:endParaRPr lang="en-US" sz="1400" dirty="0">
                        <a:latin typeface="Calibri "/>
                        <a:cs typeface="Poppins" panose="00000500000000000000" pitchFamily="2" charset="0"/>
                      </a:endParaRPr>
                    </a:p>
                  </a:txBody>
                  <a:tcPr/>
                </a:tc>
                <a:tc>
                  <a:txBody>
                    <a:bodyPr/>
                    <a:lstStyle/>
                    <a:p>
                      <a:r>
                        <a:rPr lang="es-ES" sz="1400" dirty="0">
                          <a:latin typeface="Calibri "/>
                          <a:cs typeface="Poppins" panose="00000500000000000000" pitchFamily="2" charset="0"/>
                        </a:rPr>
                        <a:t>El pago por el trabajo puede ser a futuro</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3682651919"/>
                  </a:ext>
                </a:extLst>
              </a:tr>
            </a:tbl>
          </a:graphicData>
        </a:graphic>
      </p:graphicFrame>
    </p:spTree>
    <p:extLst>
      <p:ext uri="{BB962C8B-B14F-4D97-AF65-F5344CB8AC3E}">
        <p14:creationId xmlns:p14="http://schemas.microsoft.com/office/powerpoint/2010/main" val="3417953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F7AEE-1E7F-F59A-9E23-C88C088E13A4}"/>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9D3D0129-CAD6-C3B8-CB4C-C865F0D2B95C}"/>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F87236CE-8C8B-4057-C6B1-5B3296598087}"/>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Desocupados</a:t>
            </a:r>
          </a:p>
        </p:txBody>
      </p:sp>
      <p:sp>
        <p:nvSpPr>
          <p:cNvPr id="5" name="CustomShape 2">
            <a:extLst>
              <a:ext uri="{FF2B5EF4-FFF2-40B4-BE49-F238E27FC236}">
                <a16:creationId xmlns:a16="http://schemas.microsoft.com/office/drawing/2014/main" id="{B3BE4228-77E0-2508-A18E-55B8BC570A5A}"/>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r>
              <a:rPr lang="es-ES" sz="1800" dirty="0">
                <a:latin typeface="Calibri "/>
                <a:cs typeface="Poppins" panose="00000500000000000000" pitchFamily="2" charset="0"/>
              </a:rPr>
              <a:t>En este caso, se tienen otros criterios y períodos de referencia:</a:t>
            </a:r>
          </a:p>
          <a:p>
            <a:endParaRPr lang="es-ES" sz="1800" dirty="0">
              <a:latin typeface="Calibri "/>
              <a:cs typeface="Poppins" panose="00000500000000000000" pitchFamily="2" charset="0"/>
            </a:endParaRPr>
          </a:p>
        </p:txBody>
      </p:sp>
      <p:graphicFrame>
        <p:nvGraphicFramePr>
          <p:cNvPr id="3" name="Tabla 2">
            <a:extLst>
              <a:ext uri="{FF2B5EF4-FFF2-40B4-BE49-F238E27FC236}">
                <a16:creationId xmlns:a16="http://schemas.microsoft.com/office/drawing/2014/main" id="{6FD4AA87-58CB-2F9C-75F4-52E6F4188750}"/>
              </a:ext>
            </a:extLst>
          </p:cNvPr>
          <p:cNvGraphicFramePr>
            <a:graphicFrameLocks noGrp="1"/>
          </p:cNvGraphicFramePr>
          <p:nvPr>
            <p:extLst>
              <p:ext uri="{D42A27DB-BD31-4B8C-83A1-F6EECF244321}">
                <p14:modId xmlns:p14="http://schemas.microsoft.com/office/powerpoint/2010/main" val="2156246072"/>
              </p:ext>
            </p:extLst>
          </p:nvPr>
        </p:nvGraphicFramePr>
        <p:xfrm>
          <a:off x="1840325" y="3006974"/>
          <a:ext cx="8511350" cy="1483360"/>
        </p:xfrm>
        <a:graphic>
          <a:graphicData uri="http://schemas.openxmlformats.org/drawingml/2006/table">
            <a:tbl>
              <a:tblPr firstRow="1" bandRow="1">
                <a:tableStyleId>{5C22544A-7EE6-4342-B048-85BDC9FD1C3A}</a:tableStyleId>
              </a:tblPr>
              <a:tblGrid>
                <a:gridCol w="4001516">
                  <a:extLst>
                    <a:ext uri="{9D8B030D-6E8A-4147-A177-3AD203B41FA5}">
                      <a16:colId xmlns:a16="http://schemas.microsoft.com/office/drawing/2014/main" val="2530270255"/>
                    </a:ext>
                  </a:extLst>
                </a:gridCol>
                <a:gridCol w="4509834">
                  <a:extLst>
                    <a:ext uri="{9D8B030D-6E8A-4147-A177-3AD203B41FA5}">
                      <a16:colId xmlns:a16="http://schemas.microsoft.com/office/drawing/2014/main" val="3327576091"/>
                    </a:ext>
                  </a:extLst>
                </a:gridCol>
              </a:tblGrid>
              <a:tr h="370840">
                <a:tc>
                  <a:txBody>
                    <a:bodyPr/>
                    <a:lstStyle/>
                    <a:p>
                      <a:r>
                        <a:rPr lang="es-ES" sz="1400" dirty="0">
                          <a:latin typeface="Calibri "/>
                          <a:cs typeface="Poppins" panose="00000500000000000000" pitchFamily="2" charset="0"/>
                        </a:rPr>
                        <a:t>Criterios</a:t>
                      </a:r>
                      <a:endParaRPr lang="en-US" sz="1400" dirty="0">
                        <a:latin typeface="Calibri "/>
                        <a:cs typeface="Poppins" panose="00000500000000000000" pitchFamily="2" charset="0"/>
                      </a:endParaRPr>
                    </a:p>
                  </a:txBody>
                  <a:tcPr/>
                </a:tc>
                <a:tc>
                  <a:txBody>
                    <a:bodyPr/>
                    <a:lstStyle/>
                    <a:p>
                      <a:r>
                        <a:rPr lang="es-ES" sz="1400" dirty="0">
                          <a:latin typeface="Calibri "/>
                          <a:cs typeface="Poppins" panose="00000500000000000000" pitchFamily="2" charset="0"/>
                        </a:rPr>
                        <a:t>Período de referencia</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2320691173"/>
                  </a:ext>
                </a:extLst>
              </a:tr>
              <a:tr h="370840">
                <a:tc>
                  <a:txBody>
                    <a:bodyPr/>
                    <a:lstStyle/>
                    <a:p>
                      <a:r>
                        <a:rPr lang="es-ES" sz="1400" dirty="0">
                          <a:latin typeface="Calibri "/>
                          <a:cs typeface="Poppins" panose="00000500000000000000" pitchFamily="2" charset="0"/>
                        </a:rPr>
                        <a:t>No haber trabajado en la ocupación al menos 1 hora</a:t>
                      </a:r>
                      <a:endParaRPr lang="en-US" sz="1400" dirty="0">
                        <a:latin typeface="Calibri "/>
                        <a:cs typeface="Poppins" panose="00000500000000000000" pitchFamily="2" charset="0"/>
                      </a:endParaRPr>
                    </a:p>
                  </a:txBody>
                  <a:tcPr/>
                </a:tc>
                <a:tc>
                  <a:txBody>
                    <a:bodyPr/>
                    <a:lstStyle/>
                    <a:p>
                      <a:r>
                        <a:rPr lang="es-ES" sz="1400" dirty="0">
                          <a:latin typeface="Calibri "/>
                          <a:cs typeface="Poppins" panose="00000500000000000000" pitchFamily="2" charset="0"/>
                        </a:rPr>
                        <a:t>Durante la semana de referencia</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681746900"/>
                  </a:ext>
                </a:extLst>
              </a:tr>
              <a:tr h="370840">
                <a:tc>
                  <a:txBody>
                    <a:bodyPr/>
                    <a:lstStyle/>
                    <a:p>
                      <a:r>
                        <a:rPr lang="es-ES" sz="1400" dirty="0">
                          <a:latin typeface="Calibri "/>
                          <a:cs typeface="Poppins" panose="00000500000000000000" pitchFamily="2" charset="0"/>
                        </a:rPr>
                        <a:t>Haber buscado trabajo activamente</a:t>
                      </a:r>
                      <a:endParaRPr lang="en-US" sz="1400" dirty="0">
                        <a:latin typeface="Calibri "/>
                        <a:cs typeface="Poppins" panose="00000500000000000000" pitchFamily="2"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s-ES" sz="1400" dirty="0">
                          <a:latin typeface="Calibri "/>
                          <a:cs typeface="Poppins" panose="00000500000000000000" pitchFamily="2" charset="0"/>
                        </a:rPr>
                        <a:t>Durante las últimas cuatro semanas</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2289881674"/>
                  </a:ext>
                </a:extLst>
              </a:tr>
              <a:tr h="370840">
                <a:tc>
                  <a:txBody>
                    <a:bodyPr/>
                    <a:lstStyle/>
                    <a:p>
                      <a:r>
                        <a:rPr lang="es-ES" sz="1400" dirty="0">
                          <a:latin typeface="Calibri "/>
                          <a:cs typeface="Poppins" panose="00000500000000000000" pitchFamily="2" charset="0"/>
                        </a:rPr>
                        <a:t>Estar disponible para trabajar</a:t>
                      </a:r>
                      <a:endParaRPr lang="en-US" sz="1400" dirty="0">
                        <a:latin typeface="Calibri "/>
                        <a:cs typeface="Poppins" panose="00000500000000000000" pitchFamily="2" charset="0"/>
                      </a:endParaRPr>
                    </a:p>
                  </a:txBody>
                  <a:tcPr/>
                </a:tc>
                <a:tc>
                  <a:txBody>
                    <a:bodyPr/>
                    <a:lstStyle/>
                    <a:p>
                      <a:r>
                        <a:rPr lang="es-ES" sz="1400" dirty="0">
                          <a:latin typeface="Calibri "/>
                          <a:cs typeface="Poppins" panose="00000500000000000000" pitchFamily="2" charset="0"/>
                        </a:rPr>
                        <a:t>Desde el fin de semana de referencia hasta 15 días después</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3682651919"/>
                  </a:ext>
                </a:extLst>
              </a:tr>
            </a:tbl>
          </a:graphicData>
        </a:graphic>
      </p:graphicFrame>
    </p:spTree>
    <p:extLst>
      <p:ext uri="{BB962C8B-B14F-4D97-AF65-F5344CB8AC3E}">
        <p14:creationId xmlns:p14="http://schemas.microsoft.com/office/powerpoint/2010/main" val="2122716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04603-0B69-02C7-E220-7BB39D3B95D9}"/>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D6AF9309-F8E3-3B88-267D-731B5DB5CE29}"/>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D6380CB4-177B-CAA6-8D0C-FCDB41CFEF37}"/>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En base al </a:t>
            </a:r>
            <a:r>
              <a:rPr lang="es-ES" sz="2800" b="1" spc="-1" dirty="0">
                <a:solidFill>
                  <a:schemeClr val="tx1">
                    <a:lumMod val="75000"/>
                    <a:lumOff val="25000"/>
                  </a:schemeClr>
                </a:solidFill>
                <a:latin typeface="TT Wellingtons DemiBold" panose="02000503020000020004" pitchFamily="2" charset="77"/>
                <a:hlinkClick r:id="rId2">
                  <a:extLst>
                    <a:ext uri="{A12FA001-AC4F-418D-AE19-62706E023703}">
                      <ahyp:hlinkClr xmlns:ahyp="http://schemas.microsoft.com/office/drawing/2018/hyperlinkcolor" val="tx"/>
                    </a:ext>
                  </a:extLst>
                </a:hlinkClick>
              </a:rPr>
              <a:t>INE</a:t>
            </a:r>
            <a:endParaRPr lang="es-ES" sz="2800" b="1" spc="-1" dirty="0">
              <a:solidFill>
                <a:schemeClr val="tx1">
                  <a:lumMod val="75000"/>
                  <a:lumOff val="25000"/>
                </a:schemeClr>
              </a:solidFill>
              <a:latin typeface="TT Wellingtons DemiBold" panose="02000503020000020004" pitchFamily="2" charset="77"/>
            </a:endParaRPr>
          </a:p>
        </p:txBody>
      </p:sp>
      <p:sp>
        <p:nvSpPr>
          <p:cNvPr id="5" name="CustomShape 2">
            <a:extLst>
              <a:ext uri="{FF2B5EF4-FFF2-40B4-BE49-F238E27FC236}">
                <a16:creationId xmlns:a16="http://schemas.microsoft.com/office/drawing/2014/main" id="{DB90B7F0-33E7-4671-58A6-E87A3C5BB44B}"/>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endParaRPr lang="es-ES" sz="1800" dirty="0">
              <a:latin typeface="Poppins" panose="00000500000000000000" pitchFamily="2" charset="0"/>
              <a:cs typeface="Poppins" panose="00000500000000000000" pitchFamily="2" charset="0"/>
            </a:endParaRPr>
          </a:p>
        </p:txBody>
      </p:sp>
      <p:pic>
        <p:nvPicPr>
          <p:cNvPr id="2" name="Imagen 1">
            <a:extLst>
              <a:ext uri="{FF2B5EF4-FFF2-40B4-BE49-F238E27FC236}">
                <a16:creationId xmlns:a16="http://schemas.microsoft.com/office/drawing/2014/main" id="{9091F02E-4FB1-25A9-FFF3-F2317060F68C}"/>
              </a:ext>
            </a:extLst>
          </p:cNvPr>
          <p:cNvPicPr>
            <a:picLocks noChangeAspect="1"/>
          </p:cNvPicPr>
          <p:nvPr/>
        </p:nvPicPr>
        <p:blipFill>
          <a:blip r:embed="rId3"/>
          <a:stretch>
            <a:fillRect/>
          </a:stretch>
        </p:blipFill>
        <p:spPr>
          <a:xfrm>
            <a:off x="5164159" y="664663"/>
            <a:ext cx="5779632" cy="5528674"/>
          </a:xfrm>
          <a:prstGeom prst="rect">
            <a:avLst/>
          </a:prstGeom>
        </p:spPr>
      </p:pic>
    </p:spTree>
    <p:extLst>
      <p:ext uri="{BB962C8B-B14F-4D97-AF65-F5344CB8AC3E}">
        <p14:creationId xmlns:p14="http://schemas.microsoft.com/office/powerpoint/2010/main" val="3764514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78DD9-30F6-752C-0DFD-B48573857D9A}"/>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B5DF7EDF-205E-12B3-6B5B-2A03629A61E5}"/>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8EE8C519-CF4A-170A-9144-0E99FD7581E6}"/>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Indicadores</a:t>
            </a:r>
            <a:endParaRPr lang="es-ES" sz="2800" b="1" spc="-1" dirty="0">
              <a:solidFill>
                <a:schemeClr val="tx1">
                  <a:lumMod val="75000"/>
                  <a:lumOff val="25000"/>
                </a:schemeClr>
              </a:solidFill>
              <a:latin typeface="TT Wellingtons DemiBold" panose="02000503020000020004" pitchFamily="2" charset="77"/>
            </a:endParaRPr>
          </a:p>
        </p:txBody>
      </p:sp>
      <mc:AlternateContent xmlns:mc="http://schemas.openxmlformats.org/markup-compatibility/2006" xmlns:a14="http://schemas.microsoft.com/office/drawing/2010/main">
        <mc:Choice Requires="a14">
          <p:sp>
            <p:nvSpPr>
              <p:cNvPr id="5" name="CustomShape 2">
                <a:extLst>
                  <a:ext uri="{FF2B5EF4-FFF2-40B4-BE49-F238E27FC236}">
                    <a16:creationId xmlns:a16="http://schemas.microsoft.com/office/drawing/2014/main" id="{296587C5-7D83-6FFC-BA4D-2B0F0D296DD7}"/>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olibri"/>
                    <a:cs typeface="Poppins" pitchFamily="2" charset="77"/>
                  </a:rPr>
                  <a:t>Tasa de participación</a:t>
                </a: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cs typeface="Poppins" pitchFamily="2" charset="77"/>
                        </a:rPr>
                        <m:t>𝑇𝑃</m:t>
                      </m:r>
                      <m:r>
                        <a:rPr lang="es-ES" sz="1800" i="1" smtClean="0">
                          <a:latin typeface="Cambria Math" panose="02040503050406030204" pitchFamily="18" charset="0"/>
                          <a:cs typeface="Poppins" pitchFamily="2" charset="77"/>
                        </a:rPr>
                        <m:t>=</m:t>
                      </m:r>
                      <m:f>
                        <m:fPr>
                          <m:ctrlPr>
                            <a:rPr lang="es-ES" sz="1800" b="0" i="1" smtClean="0">
                              <a:latin typeface="Cambria Math" panose="02040503050406030204" pitchFamily="18" charset="0"/>
                              <a:cs typeface="Poppins" pitchFamily="2" charset="77"/>
                            </a:rPr>
                          </m:ctrlPr>
                        </m:fPr>
                        <m:num>
                          <m:r>
                            <a:rPr lang="es-ES" sz="1800" b="0" i="1" smtClean="0">
                              <a:latin typeface="Cambria Math" panose="02040503050406030204" pitchFamily="18" charset="0"/>
                              <a:cs typeface="Poppins" pitchFamily="2" charset="77"/>
                            </a:rPr>
                            <m:t>𝐹𝑇</m:t>
                          </m:r>
                        </m:num>
                        <m:den>
                          <m:r>
                            <a:rPr lang="es-ES" sz="1800" b="0" i="1" smtClean="0">
                              <a:latin typeface="Cambria Math" panose="02040503050406030204" pitchFamily="18" charset="0"/>
                              <a:cs typeface="Poppins" pitchFamily="2" charset="77"/>
                            </a:rPr>
                            <m:t>𝑃𝐸𝑇</m:t>
                          </m:r>
                        </m:den>
                      </m:f>
                    </m:oMath>
                  </m:oMathPara>
                </a14:m>
                <a:endParaRPr lang="es-ES" sz="1800" dirty="0">
                  <a:latin typeface="Colibri"/>
                  <a:cs typeface="Poppins" pitchFamily="2" charset="77"/>
                </a:endParaRPr>
              </a:p>
              <a:p>
                <a:pPr algn="just">
                  <a:lnSpc>
                    <a:spcPct val="100000"/>
                  </a:lnSpc>
                  <a:spcBef>
                    <a:spcPts val="20"/>
                  </a:spcBef>
                </a:pPr>
                <a:endParaRPr lang="es-ES" sz="1800" dirty="0">
                  <a:latin typeface="Colibri"/>
                  <a:cs typeface="Poppins" pitchFamily="2" charset="77"/>
                </a:endParaRPr>
              </a:p>
              <a:p>
                <a:pPr algn="just">
                  <a:lnSpc>
                    <a:spcPct val="100000"/>
                  </a:lnSpc>
                  <a:spcBef>
                    <a:spcPts val="20"/>
                  </a:spcBef>
                </a:pPr>
                <a:r>
                  <a:rPr lang="es-ES" sz="1800" dirty="0">
                    <a:latin typeface="Colibri"/>
                    <a:cs typeface="Poppins" pitchFamily="2" charset="77"/>
                  </a:rPr>
                  <a:t>Tasa de ocupación</a:t>
                </a: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CL" sz="1800" b="0" i="1" smtClean="0">
                          <a:latin typeface="Cambria Math" panose="02040503050406030204" pitchFamily="18" charset="0"/>
                          <a:cs typeface="Poppins" pitchFamily="2" charset="77"/>
                        </a:rPr>
                        <m:t>𝑒</m:t>
                      </m:r>
                      <m:r>
                        <a:rPr lang="es-ES" sz="1800" i="1" smtClean="0">
                          <a:latin typeface="Cambria Math" panose="02040503050406030204" pitchFamily="18" charset="0"/>
                          <a:cs typeface="Poppins" pitchFamily="2" charset="77"/>
                        </a:rPr>
                        <m:t>=</m:t>
                      </m:r>
                      <m:f>
                        <m:fPr>
                          <m:ctrlPr>
                            <a:rPr lang="es-ES" sz="1800" b="0" i="1" smtClean="0">
                              <a:latin typeface="Cambria Math" panose="02040503050406030204" pitchFamily="18" charset="0"/>
                              <a:cs typeface="Poppins" pitchFamily="2" charset="77"/>
                            </a:rPr>
                          </m:ctrlPr>
                        </m:fPr>
                        <m:num>
                          <m:r>
                            <a:rPr lang="es-CL" sz="1800" b="0" i="1" smtClean="0">
                              <a:latin typeface="Cambria Math" panose="02040503050406030204" pitchFamily="18" charset="0"/>
                              <a:cs typeface="Poppins" pitchFamily="2" charset="77"/>
                            </a:rPr>
                            <m:t>𝑂</m:t>
                          </m:r>
                        </m:num>
                        <m:den>
                          <m:r>
                            <a:rPr lang="es-CL" sz="1800" b="0" i="1" smtClean="0">
                              <a:latin typeface="Cambria Math" panose="02040503050406030204" pitchFamily="18" charset="0"/>
                              <a:cs typeface="Poppins" pitchFamily="2" charset="77"/>
                            </a:rPr>
                            <m:t>𝑃𝐸𝑇</m:t>
                          </m:r>
                        </m:den>
                      </m:f>
                    </m:oMath>
                  </m:oMathPara>
                </a14:m>
                <a:endParaRPr lang="es-ES" sz="1800" dirty="0">
                  <a:latin typeface="Colibri"/>
                  <a:cs typeface="Poppins" pitchFamily="2" charset="77"/>
                </a:endParaRPr>
              </a:p>
              <a:p>
                <a:pPr algn="just">
                  <a:lnSpc>
                    <a:spcPct val="100000"/>
                  </a:lnSpc>
                  <a:spcBef>
                    <a:spcPts val="20"/>
                  </a:spcBef>
                </a:pPr>
                <a:endParaRPr lang="es-ES" sz="1800" dirty="0">
                  <a:latin typeface="Colibri"/>
                  <a:cs typeface="Poppins" pitchFamily="2" charset="77"/>
                </a:endParaRPr>
              </a:p>
              <a:p>
                <a:pPr algn="just">
                  <a:lnSpc>
                    <a:spcPct val="100000"/>
                  </a:lnSpc>
                  <a:spcBef>
                    <a:spcPts val="20"/>
                  </a:spcBef>
                </a:pPr>
                <a:r>
                  <a:rPr lang="es-ES" sz="1800" dirty="0">
                    <a:latin typeface="Colibri"/>
                    <a:cs typeface="Poppins" pitchFamily="2" charset="77"/>
                  </a:rPr>
                  <a:t>Tasa de desempleo</a:t>
                </a: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cs typeface="Poppins" pitchFamily="2" charset="77"/>
                        </a:rPr>
                        <m:t>𝑢</m:t>
                      </m:r>
                      <m:r>
                        <a:rPr lang="es-ES" sz="1800" i="1" smtClean="0">
                          <a:latin typeface="Cambria Math" panose="02040503050406030204" pitchFamily="18" charset="0"/>
                          <a:cs typeface="Poppins" pitchFamily="2" charset="77"/>
                        </a:rPr>
                        <m:t>=</m:t>
                      </m:r>
                      <m:f>
                        <m:fPr>
                          <m:ctrlPr>
                            <a:rPr lang="es-ES" sz="1800" b="0" i="1" smtClean="0">
                              <a:latin typeface="Cambria Math" panose="02040503050406030204" pitchFamily="18" charset="0"/>
                              <a:cs typeface="Poppins" pitchFamily="2" charset="77"/>
                            </a:rPr>
                          </m:ctrlPr>
                        </m:fPr>
                        <m:num>
                          <m:r>
                            <a:rPr lang="es-ES" sz="1800" b="0" i="1" smtClean="0">
                              <a:latin typeface="Cambria Math" panose="02040503050406030204" pitchFamily="18" charset="0"/>
                              <a:cs typeface="Poppins" pitchFamily="2" charset="77"/>
                            </a:rPr>
                            <m:t>𝐷</m:t>
                          </m:r>
                        </m:num>
                        <m:den>
                          <m:r>
                            <a:rPr lang="es-ES" sz="1800" b="0" i="1" smtClean="0">
                              <a:latin typeface="Cambria Math" panose="02040503050406030204" pitchFamily="18" charset="0"/>
                              <a:cs typeface="Poppins" pitchFamily="2" charset="77"/>
                            </a:rPr>
                            <m:t>𝐹𝑇</m:t>
                          </m:r>
                        </m:den>
                      </m:f>
                    </m:oMath>
                  </m:oMathPara>
                </a14:m>
                <a:endParaRPr lang="es-ES" sz="1800" dirty="0">
                  <a:latin typeface="Colibri"/>
                  <a:cs typeface="Poppins" pitchFamily="2" charset="77"/>
                </a:endParaRPr>
              </a:p>
            </p:txBody>
          </p:sp>
        </mc:Choice>
        <mc:Fallback xmlns="">
          <p:sp>
            <p:nvSpPr>
              <p:cNvPr id="5" name="CustomShape 2">
                <a:extLst>
                  <a:ext uri="{FF2B5EF4-FFF2-40B4-BE49-F238E27FC236}">
                    <a16:creationId xmlns:a16="http://schemas.microsoft.com/office/drawing/2014/main" id="{296587C5-7D83-6FFC-BA4D-2B0F0D296DD7}"/>
                  </a:ext>
                </a:extLst>
              </p:cNvPr>
              <p:cNvSpPr>
                <a:spLocks noRot="1" noChangeAspect="1" noMove="1" noResize="1" noEditPoints="1" noAdjustHandles="1" noChangeArrowheads="1" noChangeShapeType="1" noTextEdit="1"/>
              </p:cNvSpPr>
              <p:nvPr/>
            </p:nvSpPr>
            <p:spPr>
              <a:xfrm>
                <a:off x="352080" y="2413416"/>
                <a:ext cx="11520130" cy="2696785"/>
              </a:xfrm>
              <a:prstGeom prst="rect">
                <a:avLst/>
              </a:prstGeom>
              <a:blipFill>
                <a:blip r:embed="rId2"/>
                <a:stretch>
                  <a:fillRect l="-476" t="-1357" b="-9729"/>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4239339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EBC92-E798-988B-574A-38ABCC3F5AF4}"/>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EB957B1C-315E-0246-C0C5-F9398ECCF66A}"/>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13433ED5-23B4-23CC-0729-F35D614B75F3}"/>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¿De qué depende la tasa de desempleo?</a:t>
            </a:r>
          </a:p>
        </p:txBody>
      </p:sp>
      <mc:AlternateContent xmlns:mc="http://schemas.openxmlformats.org/markup-compatibility/2006" xmlns:a14="http://schemas.microsoft.com/office/drawing/2010/main">
        <mc:Choice Requires="a14">
          <p:sp>
            <p:nvSpPr>
              <p:cNvPr id="5" name="CustomShape 2">
                <a:extLst>
                  <a:ext uri="{FF2B5EF4-FFF2-40B4-BE49-F238E27FC236}">
                    <a16:creationId xmlns:a16="http://schemas.microsoft.com/office/drawing/2014/main" id="{8B67F9B2-42E7-978B-A220-0431C7AE504D}"/>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alibri "/>
                    <a:cs typeface="Poppins" pitchFamily="2" charset="77"/>
                  </a:rPr>
                  <a:t>Según lo visto antes, depende tanto de la FT como también como del nivel de empleo de la economía. En este sentido, podemos redifinir la tasa como </a:t>
                </a:r>
                <a:endParaRPr lang="es-ES" sz="1800" b="0" i="1" dirty="0">
                  <a:latin typeface="Calibri "/>
                  <a:cs typeface="Poppins" pitchFamily="2" charset="77"/>
                </a:endParaRPr>
              </a:p>
              <a:p>
                <a:pPr algn="just">
                  <a:lnSpc>
                    <a:spcPct val="100000"/>
                  </a:lnSpc>
                  <a:spcBef>
                    <a:spcPts val="20"/>
                  </a:spcBef>
                </a:pPr>
                <a:endParaRPr lang="es-ES" sz="1800" b="0" i="1" dirty="0">
                  <a:latin typeface="Calibri "/>
                  <a:cs typeface="Poppins" pitchFamily="2" charset="77"/>
                </a:endParaRP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cs typeface="Poppins" pitchFamily="2" charset="77"/>
                        </a:rPr>
                        <m:t>𝑢</m:t>
                      </m:r>
                      <m:r>
                        <a:rPr lang="es-ES" sz="1800" i="1" smtClean="0">
                          <a:latin typeface="Cambria Math" panose="02040503050406030204" pitchFamily="18" charset="0"/>
                          <a:cs typeface="Poppins" pitchFamily="2" charset="77"/>
                        </a:rPr>
                        <m:t>=</m:t>
                      </m:r>
                      <m:f>
                        <m:fPr>
                          <m:ctrlPr>
                            <a:rPr lang="es-ES" sz="1800" b="0" i="1" smtClean="0">
                              <a:latin typeface="Cambria Math" panose="02040503050406030204" pitchFamily="18" charset="0"/>
                              <a:cs typeface="Poppins" pitchFamily="2" charset="77"/>
                            </a:rPr>
                          </m:ctrlPr>
                        </m:fPr>
                        <m:num>
                          <m:r>
                            <a:rPr lang="es-ES" sz="1800" b="0" i="1" smtClean="0">
                              <a:latin typeface="Cambria Math" panose="02040503050406030204" pitchFamily="18" charset="0"/>
                              <a:cs typeface="Poppins" pitchFamily="2" charset="77"/>
                            </a:rPr>
                            <m:t>𝐹𝑇</m:t>
                          </m:r>
                          <m:r>
                            <a:rPr lang="es-ES" sz="1800" b="0" i="1" smtClean="0">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𝐸</m:t>
                          </m:r>
                        </m:num>
                        <m:den>
                          <m:r>
                            <a:rPr lang="es-ES" sz="1800" b="0" i="1" smtClean="0">
                              <a:latin typeface="Cambria Math" panose="02040503050406030204" pitchFamily="18" charset="0"/>
                              <a:cs typeface="Poppins" pitchFamily="2" charset="77"/>
                            </a:rPr>
                            <m:t>𝐹𝑇</m:t>
                          </m:r>
                        </m:den>
                      </m:f>
                    </m:oMath>
                  </m:oMathPara>
                </a14:m>
                <a:endParaRPr lang="es-ES" sz="1800" dirty="0">
                  <a:latin typeface="Calibri "/>
                  <a:cs typeface="Poppins" pitchFamily="2" charset="77"/>
                </a:endParaRP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Parte de esto va a estar determinado por el nivel de salarios de la economía.</a:t>
                </a:r>
              </a:p>
            </p:txBody>
          </p:sp>
        </mc:Choice>
        <mc:Fallback xmlns="">
          <p:sp>
            <p:nvSpPr>
              <p:cNvPr id="5" name="CustomShape 2">
                <a:extLst>
                  <a:ext uri="{FF2B5EF4-FFF2-40B4-BE49-F238E27FC236}">
                    <a16:creationId xmlns:a16="http://schemas.microsoft.com/office/drawing/2014/main" id="{8B67F9B2-42E7-978B-A220-0431C7AE504D}"/>
                  </a:ext>
                </a:extLst>
              </p:cNvPr>
              <p:cNvSpPr>
                <a:spLocks noRot="1" noChangeAspect="1" noMove="1" noResize="1" noEditPoints="1" noAdjustHandles="1" noChangeArrowheads="1" noChangeShapeType="1" noTextEdit="1"/>
              </p:cNvSpPr>
              <p:nvPr/>
            </p:nvSpPr>
            <p:spPr>
              <a:xfrm>
                <a:off x="352080" y="2413416"/>
                <a:ext cx="11520130" cy="2696785"/>
              </a:xfrm>
              <a:prstGeom prst="rect">
                <a:avLst/>
              </a:prstGeom>
              <a:blipFill>
                <a:blip r:embed="rId2"/>
                <a:stretch>
                  <a:fillRect l="-476" t="-1357" r="-42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113280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A86A0-C315-8FD4-A73D-20AAAF0A95A4}"/>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2DBC9C0C-45F0-5CBB-A429-C90DB0E8E8EA}"/>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703E5B45-EF2E-74B7-764A-B0B36E324ADF}"/>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En números:</a:t>
            </a:r>
          </a:p>
        </p:txBody>
      </p:sp>
      <p:sp>
        <p:nvSpPr>
          <p:cNvPr id="5" name="CustomShape 2">
            <a:extLst>
              <a:ext uri="{FF2B5EF4-FFF2-40B4-BE49-F238E27FC236}">
                <a16:creationId xmlns:a16="http://schemas.microsoft.com/office/drawing/2014/main" id="{5AF1CC3D-95E8-97A9-4478-CC7C2C4ED1AD}"/>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endParaRPr lang="es-ES" sz="1800" dirty="0">
              <a:latin typeface="Poppins" pitchFamily="2" charset="77"/>
              <a:cs typeface="Poppins" pitchFamily="2" charset="77"/>
            </a:endParaRPr>
          </a:p>
        </p:txBody>
      </p:sp>
      <p:graphicFrame>
        <p:nvGraphicFramePr>
          <p:cNvPr id="7" name="Tabla 6">
            <a:extLst>
              <a:ext uri="{FF2B5EF4-FFF2-40B4-BE49-F238E27FC236}">
                <a16:creationId xmlns:a16="http://schemas.microsoft.com/office/drawing/2014/main" id="{C7A1A0D8-E12E-7002-A2A6-FA25E88DD037}"/>
              </a:ext>
            </a:extLst>
          </p:cNvPr>
          <p:cNvGraphicFramePr>
            <a:graphicFrameLocks noGrp="1"/>
          </p:cNvGraphicFramePr>
          <p:nvPr>
            <p:extLst>
              <p:ext uri="{D42A27DB-BD31-4B8C-83A1-F6EECF244321}">
                <p14:modId xmlns:p14="http://schemas.microsoft.com/office/powerpoint/2010/main" val="1120535331"/>
              </p:ext>
            </p:extLst>
          </p:nvPr>
        </p:nvGraphicFramePr>
        <p:xfrm>
          <a:off x="3449410" y="2077584"/>
          <a:ext cx="5041709" cy="4079240"/>
        </p:xfrm>
        <a:graphic>
          <a:graphicData uri="http://schemas.openxmlformats.org/drawingml/2006/table">
            <a:tbl>
              <a:tblPr firstRow="1" bandRow="1">
                <a:tableStyleId>{5C22544A-7EE6-4342-B048-85BDC9FD1C3A}</a:tableStyleId>
              </a:tblPr>
              <a:tblGrid>
                <a:gridCol w="2424874">
                  <a:extLst>
                    <a:ext uri="{9D8B030D-6E8A-4147-A177-3AD203B41FA5}">
                      <a16:colId xmlns:a16="http://schemas.microsoft.com/office/drawing/2014/main" val="2530270255"/>
                    </a:ext>
                  </a:extLst>
                </a:gridCol>
                <a:gridCol w="1217930">
                  <a:extLst>
                    <a:ext uri="{9D8B030D-6E8A-4147-A177-3AD203B41FA5}">
                      <a16:colId xmlns:a16="http://schemas.microsoft.com/office/drawing/2014/main" val="3327576091"/>
                    </a:ext>
                  </a:extLst>
                </a:gridCol>
                <a:gridCol w="1398905">
                  <a:extLst>
                    <a:ext uri="{9D8B030D-6E8A-4147-A177-3AD203B41FA5}">
                      <a16:colId xmlns:a16="http://schemas.microsoft.com/office/drawing/2014/main" val="2292329016"/>
                    </a:ext>
                  </a:extLst>
                </a:gridCol>
              </a:tblGrid>
              <a:tr h="370840">
                <a:tc>
                  <a:txBody>
                    <a:bodyPr/>
                    <a:lstStyle/>
                    <a:p>
                      <a:pPr algn="ctr"/>
                      <a:endParaRPr lang="en-US" sz="1400" dirty="0"/>
                    </a:p>
                  </a:txBody>
                  <a:tcPr/>
                </a:tc>
                <a:tc>
                  <a:txBody>
                    <a:bodyPr/>
                    <a:lstStyle/>
                    <a:p>
                      <a:pPr algn="ctr"/>
                      <a:r>
                        <a:rPr lang="es-CL" sz="1400" dirty="0"/>
                        <a:t>Noruega</a:t>
                      </a:r>
                      <a:endParaRPr lang="en-US" sz="1400" dirty="0"/>
                    </a:p>
                  </a:txBody>
                  <a:tcPr/>
                </a:tc>
                <a:tc>
                  <a:txBody>
                    <a:bodyPr/>
                    <a:lstStyle/>
                    <a:p>
                      <a:pPr algn="ctr"/>
                      <a:r>
                        <a:rPr lang="es-CL" sz="1400" dirty="0"/>
                        <a:t>España</a:t>
                      </a:r>
                      <a:endParaRPr lang="en-US" sz="1400" dirty="0"/>
                    </a:p>
                  </a:txBody>
                  <a:tcPr/>
                </a:tc>
                <a:extLst>
                  <a:ext uri="{0D108BD9-81ED-4DB2-BD59-A6C34878D82A}">
                    <a16:rowId xmlns:a16="http://schemas.microsoft.com/office/drawing/2014/main" val="2320691173"/>
                  </a:ext>
                </a:extLst>
              </a:tr>
              <a:tr h="370840">
                <a:tc>
                  <a:txBody>
                    <a:bodyPr/>
                    <a:lstStyle/>
                    <a:p>
                      <a:pPr algn="ctr"/>
                      <a:r>
                        <a:rPr lang="es-ES" sz="1400" dirty="0"/>
                        <a:t>Número de personas, millones</a:t>
                      </a:r>
                      <a:endParaRPr lang="en-US" sz="1400" dirty="0"/>
                    </a:p>
                  </a:txBody>
                  <a:tcPr/>
                </a:tc>
                <a:tc>
                  <a:txBody>
                    <a:bodyPr/>
                    <a:lstStyle/>
                    <a:p>
                      <a:pPr algn="ctr"/>
                      <a:endParaRPr lang="en-US" sz="1400" dirty="0"/>
                    </a:p>
                  </a:txBody>
                  <a:tcPr/>
                </a:tc>
                <a:tc>
                  <a:txBody>
                    <a:bodyPr/>
                    <a:lstStyle/>
                    <a:p>
                      <a:pPr algn="ctr"/>
                      <a:endParaRPr lang="en-US" sz="1400" dirty="0"/>
                    </a:p>
                  </a:txBody>
                  <a:tcPr/>
                </a:tc>
                <a:extLst>
                  <a:ext uri="{0D108BD9-81ED-4DB2-BD59-A6C34878D82A}">
                    <a16:rowId xmlns:a16="http://schemas.microsoft.com/office/drawing/2014/main" val="681746900"/>
                  </a:ext>
                </a:extLst>
              </a:tr>
              <a:tr h="370840">
                <a:tc>
                  <a:txBody>
                    <a:bodyPr/>
                    <a:lstStyle/>
                    <a:p>
                      <a:pPr algn="ctr"/>
                      <a:r>
                        <a:rPr lang="es-ES" sz="1400" dirty="0"/>
                        <a:t>Población en edad de trabajar</a:t>
                      </a:r>
                      <a:endParaRPr lang="en-US" sz="1400"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s-CL" sz="1400" dirty="0"/>
                        <a:t>3.5</a:t>
                      </a:r>
                      <a:endParaRPr lang="en-US" sz="1400"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s-CL" sz="1400" dirty="0"/>
                        <a:t>37.6</a:t>
                      </a:r>
                      <a:endParaRPr lang="en-US" sz="1400" dirty="0"/>
                    </a:p>
                  </a:txBody>
                  <a:tcPr/>
                </a:tc>
                <a:extLst>
                  <a:ext uri="{0D108BD9-81ED-4DB2-BD59-A6C34878D82A}">
                    <a16:rowId xmlns:a16="http://schemas.microsoft.com/office/drawing/2014/main" val="2289881674"/>
                  </a:ext>
                </a:extLst>
              </a:tr>
              <a:tr h="370840">
                <a:tc>
                  <a:txBody>
                    <a:bodyPr/>
                    <a:lstStyle/>
                    <a:p>
                      <a:pPr algn="ctr"/>
                      <a:r>
                        <a:rPr lang="es-ES" sz="1400" dirty="0"/>
                        <a:t>Fuerza de trabajo</a:t>
                      </a:r>
                      <a:endParaRPr lang="en-US" sz="1400" dirty="0"/>
                    </a:p>
                  </a:txBody>
                  <a:tcPr/>
                </a:tc>
                <a:tc>
                  <a:txBody>
                    <a:bodyPr/>
                    <a:lstStyle/>
                    <a:p>
                      <a:pPr algn="ctr"/>
                      <a:r>
                        <a:rPr lang="es-CL" sz="1400" dirty="0"/>
                        <a:t>2.5</a:t>
                      </a:r>
                      <a:endParaRPr lang="en-US" sz="1400" dirty="0"/>
                    </a:p>
                  </a:txBody>
                  <a:tcPr/>
                </a:tc>
                <a:tc>
                  <a:txBody>
                    <a:bodyPr/>
                    <a:lstStyle/>
                    <a:p>
                      <a:pPr algn="ctr"/>
                      <a:r>
                        <a:rPr lang="es-CL" sz="1400" dirty="0"/>
                        <a:t>21.6</a:t>
                      </a:r>
                      <a:endParaRPr lang="en-US" sz="1400" dirty="0"/>
                    </a:p>
                  </a:txBody>
                  <a:tcPr/>
                </a:tc>
                <a:extLst>
                  <a:ext uri="{0D108BD9-81ED-4DB2-BD59-A6C34878D82A}">
                    <a16:rowId xmlns:a16="http://schemas.microsoft.com/office/drawing/2014/main" val="3682651919"/>
                  </a:ext>
                </a:extLst>
              </a:tr>
              <a:tr h="370840">
                <a:tc>
                  <a:txBody>
                    <a:bodyPr/>
                    <a:lstStyle/>
                    <a:p>
                      <a:pPr algn="ctr"/>
                      <a:r>
                        <a:rPr lang="es-CL" sz="1400" dirty="0"/>
                        <a:t>Inactivos</a:t>
                      </a:r>
                      <a:endParaRPr lang="en-US" sz="1400" dirty="0"/>
                    </a:p>
                  </a:txBody>
                  <a:tcPr/>
                </a:tc>
                <a:tc>
                  <a:txBody>
                    <a:bodyPr/>
                    <a:lstStyle/>
                    <a:p>
                      <a:pPr algn="ctr"/>
                      <a:r>
                        <a:rPr lang="es-CL" sz="1400" dirty="0"/>
                        <a:t>1.0</a:t>
                      </a:r>
                      <a:endParaRPr lang="en-US" sz="1400" dirty="0"/>
                    </a:p>
                  </a:txBody>
                  <a:tcPr/>
                </a:tc>
                <a:tc>
                  <a:txBody>
                    <a:bodyPr/>
                    <a:lstStyle/>
                    <a:p>
                      <a:pPr algn="ctr"/>
                      <a:r>
                        <a:rPr lang="es-CL" sz="1400" dirty="0"/>
                        <a:t>16.0</a:t>
                      </a:r>
                      <a:endParaRPr lang="en-US" sz="1400" dirty="0"/>
                    </a:p>
                  </a:txBody>
                  <a:tcPr/>
                </a:tc>
                <a:extLst>
                  <a:ext uri="{0D108BD9-81ED-4DB2-BD59-A6C34878D82A}">
                    <a16:rowId xmlns:a16="http://schemas.microsoft.com/office/drawing/2014/main" val="857356135"/>
                  </a:ext>
                </a:extLst>
              </a:tr>
              <a:tr h="370840">
                <a:tc>
                  <a:txBody>
                    <a:bodyPr/>
                    <a:lstStyle/>
                    <a:p>
                      <a:pPr algn="ctr"/>
                      <a:r>
                        <a:rPr lang="es-CL" sz="1400" dirty="0"/>
                        <a:t>Ocupados</a:t>
                      </a:r>
                      <a:endParaRPr lang="en-US" sz="1400" dirty="0"/>
                    </a:p>
                  </a:txBody>
                  <a:tcPr/>
                </a:tc>
                <a:tc>
                  <a:txBody>
                    <a:bodyPr/>
                    <a:lstStyle/>
                    <a:p>
                      <a:pPr algn="ctr"/>
                      <a:r>
                        <a:rPr lang="es-CL" sz="1400" dirty="0"/>
                        <a:t>2.4</a:t>
                      </a:r>
                      <a:endParaRPr lang="en-US" sz="1400" dirty="0"/>
                    </a:p>
                  </a:txBody>
                  <a:tcPr/>
                </a:tc>
                <a:tc>
                  <a:txBody>
                    <a:bodyPr/>
                    <a:lstStyle/>
                    <a:p>
                      <a:pPr algn="ctr"/>
                      <a:r>
                        <a:rPr lang="es-CL" sz="1400" dirty="0"/>
                        <a:t>18.1</a:t>
                      </a:r>
                      <a:endParaRPr lang="en-US" sz="1400" dirty="0"/>
                    </a:p>
                  </a:txBody>
                  <a:tcPr/>
                </a:tc>
                <a:extLst>
                  <a:ext uri="{0D108BD9-81ED-4DB2-BD59-A6C34878D82A}">
                    <a16:rowId xmlns:a16="http://schemas.microsoft.com/office/drawing/2014/main" val="3088207950"/>
                  </a:ext>
                </a:extLst>
              </a:tr>
              <a:tr h="370840">
                <a:tc>
                  <a:txBody>
                    <a:bodyPr/>
                    <a:lstStyle/>
                    <a:p>
                      <a:pPr algn="ctr"/>
                      <a:r>
                        <a:rPr lang="es-CL" sz="1400" dirty="0"/>
                        <a:t>Desocupados</a:t>
                      </a:r>
                      <a:endParaRPr lang="en-US" sz="1400" dirty="0"/>
                    </a:p>
                  </a:txBody>
                  <a:tcPr/>
                </a:tc>
                <a:tc>
                  <a:txBody>
                    <a:bodyPr/>
                    <a:lstStyle/>
                    <a:p>
                      <a:pPr algn="ctr"/>
                      <a:r>
                        <a:rPr lang="es-CL" sz="1400" dirty="0"/>
                        <a:t>0.1</a:t>
                      </a:r>
                      <a:endParaRPr lang="en-US" sz="1400" dirty="0"/>
                    </a:p>
                  </a:txBody>
                  <a:tcPr/>
                </a:tc>
                <a:tc>
                  <a:txBody>
                    <a:bodyPr/>
                    <a:lstStyle/>
                    <a:p>
                      <a:pPr algn="ctr"/>
                      <a:r>
                        <a:rPr lang="es-CL" sz="1400" dirty="0"/>
                        <a:t>3.5</a:t>
                      </a:r>
                      <a:endParaRPr lang="en-US" sz="1400" dirty="0"/>
                    </a:p>
                  </a:txBody>
                  <a:tcPr/>
                </a:tc>
                <a:extLst>
                  <a:ext uri="{0D108BD9-81ED-4DB2-BD59-A6C34878D82A}">
                    <a16:rowId xmlns:a16="http://schemas.microsoft.com/office/drawing/2014/main" val="1894282570"/>
                  </a:ext>
                </a:extLst>
              </a:tr>
              <a:tr h="370840">
                <a:tc>
                  <a:txBody>
                    <a:bodyPr/>
                    <a:lstStyle/>
                    <a:p>
                      <a:pPr algn="ctr"/>
                      <a:r>
                        <a:rPr lang="es-CL" sz="1400" dirty="0"/>
                        <a:t>Tasa</a:t>
                      </a:r>
                      <a:endParaRPr lang="en-US" sz="1400" dirty="0"/>
                    </a:p>
                  </a:txBody>
                  <a:tcPr/>
                </a:tc>
                <a:tc>
                  <a:txBody>
                    <a:bodyPr/>
                    <a:lstStyle/>
                    <a:p>
                      <a:pPr algn="ctr"/>
                      <a:endParaRPr lang="en-US" sz="1400" dirty="0"/>
                    </a:p>
                  </a:txBody>
                  <a:tcPr/>
                </a:tc>
                <a:tc>
                  <a:txBody>
                    <a:bodyPr/>
                    <a:lstStyle/>
                    <a:p>
                      <a:pPr algn="ctr"/>
                      <a:endParaRPr lang="en-US" sz="1400" dirty="0"/>
                    </a:p>
                  </a:txBody>
                  <a:tcPr/>
                </a:tc>
                <a:extLst>
                  <a:ext uri="{0D108BD9-81ED-4DB2-BD59-A6C34878D82A}">
                    <a16:rowId xmlns:a16="http://schemas.microsoft.com/office/drawing/2014/main" val="519912420"/>
                  </a:ext>
                </a:extLst>
              </a:tr>
              <a:tr h="370840">
                <a:tc>
                  <a:txBody>
                    <a:bodyPr/>
                    <a:lstStyle/>
                    <a:p>
                      <a:pPr algn="ctr"/>
                      <a:r>
                        <a:rPr lang="es-CL" sz="1400" dirty="0"/>
                        <a:t>Participación</a:t>
                      </a:r>
                      <a:endParaRPr lang="en-US" sz="1400" dirty="0"/>
                    </a:p>
                  </a:txBody>
                  <a:tcPr/>
                </a:tc>
                <a:tc>
                  <a:txBody>
                    <a:bodyPr/>
                    <a:lstStyle/>
                    <a:p>
                      <a:pPr algn="ctr"/>
                      <a:r>
                        <a:rPr lang="es-CL" sz="1400" dirty="0"/>
                        <a:t>2.5/3.5 = 71%</a:t>
                      </a:r>
                      <a:endParaRPr lang="en-US" sz="1400" dirty="0"/>
                    </a:p>
                  </a:txBody>
                  <a:tcPr/>
                </a:tc>
                <a:tc>
                  <a:txBody>
                    <a:bodyPr/>
                    <a:lstStyle/>
                    <a:p>
                      <a:pPr algn="ctr"/>
                      <a:r>
                        <a:rPr lang="es-CL" sz="1400" dirty="0"/>
                        <a:t>21.6/37.6 = 58%</a:t>
                      </a:r>
                      <a:endParaRPr lang="en-US" sz="1400" dirty="0"/>
                    </a:p>
                  </a:txBody>
                  <a:tcPr/>
                </a:tc>
                <a:extLst>
                  <a:ext uri="{0D108BD9-81ED-4DB2-BD59-A6C34878D82A}">
                    <a16:rowId xmlns:a16="http://schemas.microsoft.com/office/drawing/2014/main" val="3164181586"/>
                  </a:ext>
                </a:extLst>
              </a:tr>
              <a:tr h="370840">
                <a:tc>
                  <a:txBody>
                    <a:bodyPr/>
                    <a:lstStyle/>
                    <a:p>
                      <a:pPr algn="ctr"/>
                      <a:r>
                        <a:rPr lang="es-CL" sz="1400" dirty="0"/>
                        <a:t>Empleo</a:t>
                      </a:r>
                      <a:endParaRPr lang="en-US" sz="1400" dirty="0"/>
                    </a:p>
                  </a:txBody>
                  <a:tcPr/>
                </a:tc>
                <a:tc>
                  <a:txBody>
                    <a:bodyPr/>
                    <a:lstStyle/>
                    <a:p>
                      <a:pPr algn="ctr"/>
                      <a:r>
                        <a:rPr lang="es-CL" sz="1400" dirty="0"/>
                        <a:t>2.4/3.5 = 69%</a:t>
                      </a:r>
                      <a:endParaRPr lang="en-US" sz="1400" dirty="0"/>
                    </a:p>
                  </a:txBody>
                  <a:tcPr/>
                </a:tc>
                <a:tc>
                  <a:txBody>
                    <a:bodyPr/>
                    <a:lstStyle/>
                    <a:p>
                      <a:pPr algn="ctr"/>
                      <a:r>
                        <a:rPr lang="es-CL" sz="1400" dirty="0"/>
                        <a:t>18.1/37.6 = 48%</a:t>
                      </a:r>
                      <a:endParaRPr lang="en-US" sz="1400" dirty="0"/>
                    </a:p>
                  </a:txBody>
                  <a:tcPr/>
                </a:tc>
                <a:extLst>
                  <a:ext uri="{0D108BD9-81ED-4DB2-BD59-A6C34878D82A}">
                    <a16:rowId xmlns:a16="http://schemas.microsoft.com/office/drawing/2014/main" val="2634931641"/>
                  </a:ext>
                </a:extLst>
              </a:tr>
              <a:tr h="370840">
                <a:tc>
                  <a:txBody>
                    <a:bodyPr/>
                    <a:lstStyle/>
                    <a:p>
                      <a:pPr algn="ctr"/>
                      <a:r>
                        <a:rPr lang="es-CL" sz="1400" dirty="0"/>
                        <a:t>Desempleo</a:t>
                      </a:r>
                      <a:endParaRPr lang="en-US" sz="1400" dirty="0"/>
                    </a:p>
                  </a:txBody>
                  <a:tcPr/>
                </a:tc>
                <a:tc>
                  <a:txBody>
                    <a:bodyPr/>
                    <a:lstStyle/>
                    <a:p>
                      <a:pPr algn="ctr"/>
                      <a:r>
                        <a:rPr lang="es-CL" sz="1400" dirty="0"/>
                        <a:t>0.1/2.5 = 4%</a:t>
                      </a:r>
                      <a:endParaRPr lang="en-US" sz="1400" dirty="0"/>
                    </a:p>
                  </a:txBody>
                  <a:tcPr/>
                </a:tc>
                <a:tc>
                  <a:txBody>
                    <a:bodyPr/>
                    <a:lstStyle/>
                    <a:p>
                      <a:pPr algn="ctr"/>
                      <a:r>
                        <a:rPr lang="es-CL" sz="1400" dirty="0"/>
                        <a:t>3.5/21.6 = 16%</a:t>
                      </a:r>
                      <a:endParaRPr lang="en-US" sz="1400" dirty="0"/>
                    </a:p>
                  </a:txBody>
                  <a:tcPr/>
                </a:tc>
                <a:extLst>
                  <a:ext uri="{0D108BD9-81ED-4DB2-BD59-A6C34878D82A}">
                    <a16:rowId xmlns:a16="http://schemas.microsoft.com/office/drawing/2014/main" val="1176647974"/>
                  </a:ext>
                </a:extLst>
              </a:tr>
            </a:tbl>
          </a:graphicData>
        </a:graphic>
      </p:graphicFrame>
    </p:spTree>
    <p:extLst>
      <p:ext uri="{BB962C8B-B14F-4D97-AF65-F5344CB8AC3E}">
        <p14:creationId xmlns:p14="http://schemas.microsoft.com/office/powerpoint/2010/main" val="15077696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CD14A-3CB5-C233-4A32-4159C0DB512C}"/>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91A0EB0A-760A-3577-59CB-F2B32F4BBABF}"/>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AA2DF08B-5679-ED11-50F2-B47955FF4838}"/>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Ley de Okun</a:t>
            </a:r>
          </a:p>
        </p:txBody>
      </p:sp>
      <mc:AlternateContent xmlns:mc="http://schemas.openxmlformats.org/markup-compatibility/2006" xmlns:a14="http://schemas.microsoft.com/office/drawing/2010/main">
        <mc:Choice Requires="a14">
          <p:sp>
            <p:nvSpPr>
              <p:cNvPr id="5" name="CustomShape 2">
                <a:extLst>
                  <a:ext uri="{FF2B5EF4-FFF2-40B4-BE49-F238E27FC236}">
                    <a16:creationId xmlns:a16="http://schemas.microsoft.com/office/drawing/2014/main" id="{2CE31D93-9B89-EC5C-8463-7FA28C454079}"/>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alibri "/>
                    <a:cs typeface="Poppins" pitchFamily="2" charset="77"/>
                  </a:rPr>
                  <a:t>Se plantea que existe una relación negativa entre el nivel de actividad y el desempleo. Esto viene a ser la confirmación, de cierto modo, de la influencia del crecimiento sobre el desempleo.</a:t>
                </a:r>
              </a:p>
              <a:p>
                <a:pPr algn="just">
                  <a:lnSpc>
                    <a:spcPct val="100000"/>
                  </a:lnSpc>
                  <a:spcBef>
                    <a:spcPts val="20"/>
                  </a:spcBef>
                </a:pPr>
                <a:endParaRPr lang="es-ES" sz="1800" b="0" i="1" dirty="0">
                  <a:latin typeface="Calibri "/>
                  <a:cs typeface="Poppins" pitchFamily="2" charset="77"/>
                </a:endParaRPr>
              </a:p>
              <a:p>
                <a:pPr algn="just">
                  <a:lnSpc>
                    <a:spcPct val="100000"/>
                  </a:lnSpc>
                  <a:spcBef>
                    <a:spcPts val="20"/>
                  </a:spcBef>
                </a:pPr>
                <a14:m>
                  <m:oMathPara xmlns:m="http://schemas.openxmlformats.org/officeDocument/2006/math">
                    <m:oMathParaPr>
                      <m:jc m:val="centerGroup"/>
                    </m:oMathParaPr>
                    <m:oMath xmlns:m="http://schemas.openxmlformats.org/officeDocument/2006/math">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𝑢</m:t>
                          </m:r>
                        </m:e>
                        <m:sub>
                          <m:r>
                            <a:rPr lang="es-ES" sz="1800" b="0" i="1" smtClean="0">
                              <a:latin typeface="Cambria Math" panose="02040503050406030204" pitchFamily="18" charset="0"/>
                              <a:cs typeface="Poppins" pitchFamily="2" charset="77"/>
                            </a:rPr>
                            <m:t>𝑡</m:t>
                          </m:r>
                        </m:sub>
                      </m:sSub>
                      <m:r>
                        <a:rPr lang="es-ES" sz="1800" b="0" i="1" smtClean="0">
                          <a:latin typeface="Cambria Math" panose="02040503050406030204" pitchFamily="18" charset="0"/>
                          <a:cs typeface="Poppins" pitchFamily="2" charset="77"/>
                        </a:rPr>
                        <m:t>−</m:t>
                      </m:r>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𝑢</m:t>
                          </m:r>
                        </m:e>
                        <m:sub>
                          <m:r>
                            <a:rPr lang="es-ES" sz="1800" b="0" i="1" smtClean="0">
                              <a:latin typeface="Cambria Math" panose="02040503050406030204" pitchFamily="18" charset="0"/>
                              <a:cs typeface="Poppins" pitchFamily="2" charset="77"/>
                            </a:rPr>
                            <m:t>𝑡</m:t>
                          </m:r>
                          <m:r>
                            <a:rPr lang="es-ES" sz="1800" b="0" i="1" smtClean="0">
                              <a:latin typeface="Cambria Math" panose="02040503050406030204" pitchFamily="18" charset="0"/>
                              <a:cs typeface="Poppins" pitchFamily="2" charset="77"/>
                            </a:rPr>
                            <m:t>−</m:t>
                          </m:r>
                          <m:r>
                            <a:rPr lang="es-ES" sz="1800" b="0" i="1" smtClean="0">
                              <a:latin typeface="Cambria Math" panose="02040503050406030204" pitchFamily="18" charset="0"/>
                              <a:cs typeface="Poppins" pitchFamily="2" charset="77"/>
                            </a:rPr>
                            <m:t>1</m:t>
                          </m:r>
                        </m:sub>
                      </m:sSub>
                      <m:r>
                        <a:rPr lang="es-ES" sz="1800" b="0" i="1" smtClean="0">
                          <a:latin typeface="Cambria Math" panose="02040503050406030204" pitchFamily="18" charset="0"/>
                          <a:cs typeface="Poppins" pitchFamily="2" charset="77"/>
                        </a:rPr>
                        <m:t>=</m:t>
                      </m:r>
                      <m:r>
                        <a:rPr lang="es-ES" sz="1800" b="0" i="1" smtClean="0">
                          <a:latin typeface="Cambria Math" panose="02040503050406030204" pitchFamily="18" charset="0"/>
                          <a:cs typeface="Poppins" pitchFamily="2" charset="77"/>
                        </a:rPr>
                        <m:t>𝜇</m:t>
                      </m:r>
                      <m:r>
                        <a:rPr lang="es-ES" sz="1800" b="0" i="1" smtClean="0">
                          <a:latin typeface="Cambria Math" panose="02040503050406030204" pitchFamily="18" charset="0"/>
                          <a:cs typeface="Poppins" pitchFamily="2" charset="77"/>
                        </a:rPr>
                        <m:t>−</m:t>
                      </m:r>
                      <m:d>
                        <m:dPr>
                          <m:ctrlPr>
                            <a:rPr lang="es-ES" sz="1800" b="0" i="1" smtClean="0">
                              <a:latin typeface="Cambria Math" panose="02040503050406030204" pitchFamily="18" charset="0"/>
                              <a:cs typeface="Poppins" pitchFamily="2" charset="77"/>
                            </a:rPr>
                          </m:ctrlPr>
                        </m:dPr>
                        <m:e>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𝑦</m:t>
                              </m:r>
                            </m:e>
                            <m:sub>
                              <m:r>
                                <a:rPr lang="es-ES" sz="1800" b="0" i="1" smtClean="0">
                                  <a:latin typeface="Cambria Math" panose="02040503050406030204" pitchFamily="18" charset="0"/>
                                  <a:cs typeface="Poppins" pitchFamily="2" charset="77"/>
                                </a:rPr>
                                <m:t>𝑡</m:t>
                              </m:r>
                            </m:sub>
                          </m:sSub>
                          <m:r>
                            <a:rPr lang="es-ES" sz="1800" b="0" i="1" smtClean="0">
                              <a:latin typeface="Cambria Math" panose="02040503050406030204" pitchFamily="18" charset="0"/>
                              <a:cs typeface="Poppins" pitchFamily="2" charset="77"/>
                            </a:rPr>
                            <m:t>−</m:t>
                          </m:r>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𝑦</m:t>
                              </m:r>
                            </m:e>
                            <m:sub>
                              <m:r>
                                <a:rPr lang="es-ES" sz="1800" b="0" i="1" smtClean="0">
                                  <a:latin typeface="Cambria Math" panose="02040503050406030204" pitchFamily="18" charset="0"/>
                                  <a:cs typeface="Poppins" pitchFamily="2" charset="77"/>
                                </a:rPr>
                                <m:t>𝑡</m:t>
                              </m:r>
                              <m:r>
                                <a:rPr lang="es-ES" sz="1800" b="0" i="1" smtClean="0">
                                  <a:latin typeface="Cambria Math" panose="02040503050406030204" pitchFamily="18" charset="0"/>
                                  <a:cs typeface="Poppins" pitchFamily="2" charset="77"/>
                                </a:rPr>
                                <m:t>−</m:t>
                              </m:r>
                              <m:r>
                                <a:rPr lang="es-ES" sz="1800" b="0" i="1" smtClean="0">
                                  <a:latin typeface="Cambria Math" panose="02040503050406030204" pitchFamily="18" charset="0"/>
                                  <a:cs typeface="Poppins" pitchFamily="2" charset="77"/>
                                </a:rPr>
                                <m:t>1</m:t>
                              </m:r>
                            </m:sub>
                          </m:sSub>
                        </m:e>
                      </m:d>
                    </m:oMath>
                  </m:oMathPara>
                </a14:m>
                <a:endParaRPr lang="es-ES" sz="1800" b="0" dirty="0">
                  <a:latin typeface="Calibri "/>
                  <a:cs typeface="Poppins" pitchFamily="2" charset="77"/>
                </a:endParaRP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O también</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14:m>
                  <m:oMathPara xmlns:m="http://schemas.openxmlformats.org/officeDocument/2006/math">
                    <m:oMathParaPr>
                      <m:jc m:val="centerGroup"/>
                    </m:oMathParaPr>
                    <m:oMath xmlns:m="http://schemas.openxmlformats.org/officeDocument/2006/math">
                      <m:sSub>
                        <m:sSubPr>
                          <m:ctrlPr>
                            <a:rPr lang="es-ES" sz="1800" b="0" i="1" smtClean="0">
                              <a:latin typeface="Cambria Math" panose="02040503050406030204" pitchFamily="18" charset="0"/>
                              <a:cs typeface="Poppins" pitchFamily="2" charset="77"/>
                            </a:rPr>
                          </m:ctrlPr>
                        </m:sSubPr>
                        <m:e>
                          <m:r>
                            <m:rPr>
                              <m:sty m:val="p"/>
                            </m:rPr>
                            <a:rPr lang="es-ES" sz="1800" b="0" i="0" smtClean="0">
                              <a:latin typeface="Cambria Math" panose="02040503050406030204" pitchFamily="18" charset="0"/>
                              <a:cs typeface="Poppins" pitchFamily="2" charset="77"/>
                            </a:rPr>
                            <m:t>Δ</m:t>
                          </m:r>
                        </m:e>
                        <m:sub>
                          <m:r>
                            <a:rPr lang="es-ES" sz="1800" b="0" i="1" smtClean="0">
                              <a:latin typeface="Cambria Math" panose="02040503050406030204" pitchFamily="18" charset="0"/>
                              <a:cs typeface="Poppins" pitchFamily="2" charset="77"/>
                            </a:rPr>
                            <m:t>𝑢</m:t>
                          </m:r>
                        </m:sub>
                      </m:sSub>
                      <m:r>
                        <a:rPr lang="es-ES" sz="1800" b="0" i="1" smtClean="0">
                          <a:latin typeface="Cambria Math" panose="02040503050406030204" pitchFamily="18" charset="0"/>
                          <a:cs typeface="Poppins" pitchFamily="2" charset="77"/>
                        </a:rPr>
                        <m:t>=</m:t>
                      </m:r>
                      <m:r>
                        <a:rPr lang="es-ES" sz="1800" b="0" i="1" smtClean="0">
                          <a:latin typeface="Cambria Math" panose="02040503050406030204" pitchFamily="18" charset="0"/>
                          <a:cs typeface="Poppins" pitchFamily="2" charset="77"/>
                        </a:rPr>
                        <m:t>𝜇</m:t>
                      </m:r>
                      <m:r>
                        <a:rPr lang="es-ES" sz="1800" b="0" i="1" smtClean="0">
                          <a:latin typeface="Cambria Math" panose="02040503050406030204" pitchFamily="18" charset="0"/>
                          <a:cs typeface="Poppins" pitchFamily="2" charset="77"/>
                        </a:rPr>
                        <m:t>−</m:t>
                      </m:r>
                      <m:d>
                        <m:dPr>
                          <m:ctrlPr>
                            <a:rPr lang="es-ES" sz="1800" b="0" i="1" smtClean="0">
                              <a:latin typeface="Cambria Math" panose="02040503050406030204" pitchFamily="18" charset="0"/>
                              <a:cs typeface="Poppins" pitchFamily="2" charset="77"/>
                            </a:rPr>
                          </m:ctrlPr>
                        </m:dPr>
                        <m:e>
                          <m:sSub>
                            <m:sSubPr>
                              <m:ctrlPr>
                                <a:rPr lang="es-ES" sz="1800" b="0" i="1" smtClean="0">
                                  <a:latin typeface="Cambria Math" panose="02040503050406030204" pitchFamily="18" charset="0"/>
                                  <a:cs typeface="Poppins" pitchFamily="2" charset="77"/>
                                </a:rPr>
                              </m:ctrlPr>
                            </m:sSubPr>
                            <m:e>
                              <m:r>
                                <m:rPr>
                                  <m:sty m:val="p"/>
                                </m:rPr>
                                <a:rPr lang="es-ES" sz="1800" b="0" i="0" smtClean="0">
                                  <a:latin typeface="Cambria Math" panose="02040503050406030204" pitchFamily="18" charset="0"/>
                                  <a:cs typeface="Poppins" pitchFamily="2" charset="77"/>
                                </a:rPr>
                                <m:t>Δ</m:t>
                              </m:r>
                            </m:e>
                            <m:sub>
                              <m:r>
                                <a:rPr lang="es-ES" sz="1800" b="0" i="1" smtClean="0">
                                  <a:latin typeface="Cambria Math" panose="02040503050406030204" pitchFamily="18" charset="0"/>
                                  <a:cs typeface="Poppins" pitchFamily="2" charset="77"/>
                                </a:rPr>
                                <m:t>𝑦</m:t>
                              </m:r>
                            </m:sub>
                          </m:sSub>
                        </m:e>
                      </m:d>
                    </m:oMath>
                  </m:oMathPara>
                </a14:m>
                <a:endParaRPr lang="es-ES" sz="1800" dirty="0">
                  <a:latin typeface="Calibri "/>
                  <a:cs typeface="Poppins" pitchFamily="2" charset="77"/>
                </a:endParaRP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Un problema que va más allá de esta relación corresponde a la fuente del crecimiento y la naturaleza de la creación de empleo que se da.</a:t>
                </a:r>
              </a:p>
            </p:txBody>
          </p:sp>
        </mc:Choice>
        <mc:Fallback xmlns="">
          <p:sp>
            <p:nvSpPr>
              <p:cNvPr id="5" name="CustomShape 2">
                <a:extLst>
                  <a:ext uri="{FF2B5EF4-FFF2-40B4-BE49-F238E27FC236}">
                    <a16:creationId xmlns:a16="http://schemas.microsoft.com/office/drawing/2014/main" id="{2CE31D93-9B89-EC5C-8463-7FA28C454079}"/>
                  </a:ext>
                </a:extLst>
              </p:cNvPr>
              <p:cNvSpPr>
                <a:spLocks noRot="1" noChangeAspect="1" noMove="1" noResize="1" noEditPoints="1" noAdjustHandles="1" noChangeArrowheads="1" noChangeShapeType="1" noTextEdit="1"/>
              </p:cNvSpPr>
              <p:nvPr/>
            </p:nvSpPr>
            <p:spPr>
              <a:xfrm>
                <a:off x="352080" y="2413416"/>
                <a:ext cx="11520130" cy="2696785"/>
              </a:xfrm>
              <a:prstGeom prst="rect">
                <a:avLst/>
              </a:prstGeom>
              <a:blipFill>
                <a:blip r:embed="rId2"/>
                <a:stretch>
                  <a:fillRect l="-476" t="-1357" r="-423" b="-20588"/>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868538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B35CF-1C6B-A81D-1E9D-F9E34B861C01}"/>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33469013-5178-759B-5CCD-52913208DC28}"/>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7822179B-E8BC-2881-DF78-13D0093703CF}"/>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¿Es normal la existencia de desempleo?</a:t>
            </a:r>
          </a:p>
        </p:txBody>
      </p:sp>
      <p:sp>
        <p:nvSpPr>
          <p:cNvPr id="5" name="CustomShape 2">
            <a:extLst>
              <a:ext uri="{FF2B5EF4-FFF2-40B4-BE49-F238E27FC236}">
                <a16:creationId xmlns:a16="http://schemas.microsoft.com/office/drawing/2014/main" id="{90198E8A-4ECF-3233-A406-F420ED46E8C8}"/>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alibri "/>
                <a:cs typeface="Poppins" pitchFamily="2" charset="77"/>
              </a:rPr>
              <a:t>Debemos pensar, ¿qué implica la inexistencia de desempleo? Pensemos en las cifras que vimos.</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No existiría costo de perder el trabajo; al perder el trabajo, la gente debería emplearse de manera inmediata en otro trabajo</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No existirían personas en búsqueda de “su primer trabajo”</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¿Esto qué implica?</a:t>
            </a:r>
          </a:p>
        </p:txBody>
      </p:sp>
    </p:spTree>
    <p:extLst>
      <p:ext uri="{BB962C8B-B14F-4D97-AF65-F5344CB8AC3E}">
        <p14:creationId xmlns:p14="http://schemas.microsoft.com/office/powerpoint/2010/main" val="13243633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0F54A-7249-4300-4D73-DC9D394A7EAF}"/>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20D2520D-B7D0-461B-51EF-4B78D8BD70E7}"/>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119A0441-5724-0286-5D9B-786F07A38027}"/>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Situación Laboral y estrés</a:t>
            </a:r>
          </a:p>
        </p:txBody>
      </p:sp>
      <p:sp>
        <p:nvSpPr>
          <p:cNvPr id="5" name="CustomShape 2">
            <a:extLst>
              <a:ext uri="{FF2B5EF4-FFF2-40B4-BE49-F238E27FC236}">
                <a16:creationId xmlns:a16="http://schemas.microsoft.com/office/drawing/2014/main" id="{82492669-5909-C190-69F1-1F77E7623C50}"/>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alibri "/>
                <a:cs typeface="Poppins" pitchFamily="2" charset="77"/>
              </a:rPr>
              <a:t>En base a Clark y Oswald (2002), un británico promedio debería recibir 15.000 libras esterlinas para poder compensar la pérdida de un trabajo que le reportaba ingresos de 2.000 libras esterlinas.</a:t>
            </a:r>
          </a:p>
        </p:txBody>
      </p:sp>
      <p:pic>
        <p:nvPicPr>
          <p:cNvPr id="2" name="Picture 2">
            <a:extLst>
              <a:ext uri="{FF2B5EF4-FFF2-40B4-BE49-F238E27FC236}">
                <a16:creationId xmlns:a16="http://schemas.microsoft.com/office/drawing/2014/main" id="{00DF85D2-085D-F96E-A27C-6538153AC2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3347" y="3107094"/>
            <a:ext cx="4984410" cy="2784862"/>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190CD4B5-796E-6F20-D4CC-5D63CD195BA0}"/>
              </a:ext>
            </a:extLst>
          </p:cNvPr>
          <p:cNvSpPr txBox="1"/>
          <p:nvPr/>
        </p:nvSpPr>
        <p:spPr>
          <a:xfrm>
            <a:off x="352080" y="6056345"/>
            <a:ext cx="10058400" cy="276999"/>
          </a:xfrm>
          <a:prstGeom prst="rect">
            <a:avLst/>
          </a:prstGeom>
          <a:noFill/>
        </p:spPr>
        <p:txBody>
          <a:bodyPr wrap="square">
            <a:spAutoFit/>
          </a:bodyPr>
          <a:lstStyle/>
          <a:p>
            <a:r>
              <a:rPr lang="es-CL" sz="1200" dirty="0">
                <a:latin typeface="Colibri"/>
              </a:rPr>
              <a:t>Recuperado</a:t>
            </a:r>
            <a:r>
              <a:rPr lang="en-US" sz="1200" dirty="0">
                <a:latin typeface="Colibri"/>
              </a:rPr>
              <a:t> </a:t>
            </a:r>
            <a:r>
              <a:rPr lang="es-CL" sz="1200" dirty="0">
                <a:latin typeface="Colibri"/>
              </a:rPr>
              <a:t>en</a:t>
            </a:r>
            <a:r>
              <a:rPr lang="en-US" sz="1200" dirty="0">
                <a:latin typeface="Colibri"/>
              </a:rPr>
              <a:t>: https://www.core-econ.org/the-economy/book/es/text/13.html</a:t>
            </a:r>
          </a:p>
        </p:txBody>
      </p:sp>
    </p:spTree>
    <p:extLst>
      <p:ext uri="{BB962C8B-B14F-4D97-AF65-F5344CB8AC3E}">
        <p14:creationId xmlns:p14="http://schemas.microsoft.com/office/powerpoint/2010/main" val="34438969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086FD-1AAB-FEAB-58D7-7A6A764037F9}"/>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1BB5E6C5-A0EF-C9A3-F64D-7F9640189B70}"/>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AF6A6DCA-9ACE-4C60-8A24-E79D62B5167F}"/>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El trabajo en el contexto del Marxismo</a:t>
            </a:r>
          </a:p>
        </p:txBody>
      </p:sp>
      <mc:AlternateContent xmlns:mc="http://schemas.openxmlformats.org/markup-compatibility/2006" xmlns:a14="http://schemas.microsoft.com/office/drawing/2010/main">
        <mc:Choice Requires="a14">
          <p:sp>
            <p:nvSpPr>
              <p:cNvPr id="5" name="CustomShape 2">
                <a:extLst>
                  <a:ext uri="{FF2B5EF4-FFF2-40B4-BE49-F238E27FC236}">
                    <a16:creationId xmlns:a16="http://schemas.microsoft.com/office/drawing/2014/main" id="{4CBA7BF9-8A6D-AA83-873F-002098AC9247}"/>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alibri "/>
                    <a:cs typeface="Poppins" pitchFamily="2" charset="77"/>
                  </a:rPr>
                  <a:t>Premisa: en el contexto de la sociedad moderna, existen hombres que solo pueden vender su trabajo para sobrevivir y otros que pueden comprar la capacidad de trabajo de otros; desde acá nace el concepto del capital.</a:t>
                </a:r>
              </a:p>
              <a:p>
                <a:pPr algn="just">
                  <a:lnSpc>
                    <a:spcPct val="100000"/>
                  </a:lnSpc>
                  <a:spcBef>
                    <a:spcPts val="20"/>
                  </a:spcBef>
                </a:pPr>
                <a:endParaRPr lang="es-ES" sz="1800" b="0" i="1" dirty="0">
                  <a:latin typeface="Calibri "/>
                  <a:cs typeface="Poppins" pitchFamily="2" charset="77"/>
                </a:endParaRPr>
              </a:p>
              <a:p>
                <a:pPr algn="just">
                  <a:lnSpc>
                    <a:spcPct val="100000"/>
                  </a:lnSpc>
                  <a:spcBef>
                    <a:spcPts val="20"/>
                  </a:spcBef>
                </a:pPr>
                <a:r>
                  <a:rPr lang="es-ES" sz="1800" dirty="0">
                    <a:latin typeface="Calibri "/>
                    <a:cs typeface="Poppins" pitchFamily="2" charset="77"/>
                  </a:rPr>
                  <a:t>El mercado del trabajo se mueve en torno al concepto de la plusvalía: valor agregado del trabajo. Esto es la base de la acumulación capitalista. </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Formalmente:</a:t>
                </a: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CL" sz="1800" b="0" i="1" smtClean="0">
                          <a:latin typeface="Cambria Math" panose="02040503050406030204" pitchFamily="18" charset="0"/>
                          <a:cs typeface="Poppins" pitchFamily="2" charset="77"/>
                        </a:rPr>
                        <m:t>𝑃𝑙𝑢𝑠𝑣𝑎𝑙𝑖𝑎</m:t>
                      </m:r>
                      <m:d>
                        <m:dPr>
                          <m:ctrlPr>
                            <a:rPr lang="es-CL" sz="1800" b="0" i="1" smtClean="0">
                              <a:latin typeface="Cambria Math" panose="02040503050406030204" pitchFamily="18" charset="0"/>
                              <a:cs typeface="Poppins" pitchFamily="2" charset="77"/>
                            </a:rPr>
                          </m:ctrlPr>
                        </m:dPr>
                        <m:e>
                          <m:r>
                            <a:rPr lang="es-CL" sz="1800" b="0" i="1" smtClean="0">
                              <a:latin typeface="Cambria Math" panose="02040503050406030204" pitchFamily="18" charset="0"/>
                              <a:cs typeface="Poppins" pitchFamily="2" charset="77"/>
                            </a:rPr>
                            <m:t>𝑠</m:t>
                          </m:r>
                        </m:e>
                      </m:d>
                      <m:r>
                        <a:rPr lang="es-CL" sz="1800" b="0" i="1" smtClean="0">
                          <a:latin typeface="Cambria Math" panose="02040503050406030204" pitchFamily="18" charset="0"/>
                          <a:cs typeface="Poppins" pitchFamily="2" charset="77"/>
                        </a:rPr>
                        <m:t>=</m:t>
                      </m:r>
                      <m:r>
                        <a:rPr lang="es-CL" sz="1800" b="0" i="1" smtClean="0">
                          <a:latin typeface="Cambria Math" panose="02040503050406030204" pitchFamily="18" charset="0"/>
                          <a:cs typeface="Poppins" pitchFamily="2" charset="77"/>
                        </a:rPr>
                        <m:t>𝐼𝑛𝑔𝑟𝑒𝑠𝑜𝑠</m:t>
                      </m:r>
                      <m:r>
                        <a:rPr lang="es-CL" sz="1800" b="0" i="1" smtClean="0">
                          <a:latin typeface="Cambria Math" panose="02040503050406030204" pitchFamily="18" charset="0"/>
                          <a:cs typeface="Poppins" pitchFamily="2" charset="77"/>
                        </a:rPr>
                        <m:t> −</m:t>
                      </m:r>
                      <m:r>
                        <a:rPr lang="es-CL" sz="1800" b="0" i="1" smtClean="0">
                          <a:latin typeface="Cambria Math" panose="02040503050406030204" pitchFamily="18" charset="0"/>
                          <a:cs typeface="Poppins" pitchFamily="2" charset="77"/>
                        </a:rPr>
                        <m:t>𝑐𝑜𝑠𝑡𝑜𝑠</m:t>
                      </m:r>
                      <m:r>
                        <a:rPr lang="es-CL" sz="1800" b="0" i="1" smtClean="0">
                          <a:latin typeface="Cambria Math" panose="02040503050406030204" pitchFamily="18" charset="0"/>
                          <a:cs typeface="Poppins" pitchFamily="2" charset="77"/>
                        </a:rPr>
                        <m:t> </m:t>
                      </m:r>
                      <m:r>
                        <a:rPr lang="es-CL" sz="1800" b="0" i="1" smtClean="0">
                          <a:latin typeface="Cambria Math" panose="02040503050406030204" pitchFamily="18" charset="0"/>
                          <a:cs typeface="Poppins" pitchFamily="2" charset="77"/>
                        </a:rPr>
                        <m:t>𝑑𝑒</m:t>
                      </m:r>
                      <m:r>
                        <a:rPr lang="es-CL" sz="1800" b="0" i="1" smtClean="0">
                          <a:latin typeface="Cambria Math" panose="02040503050406030204" pitchFamily="18" charset="0"/>
                          <a:cs typeface="Poppins" pitchFamily="2" charset="77"/>
                        </a:rPr>
                        <m:t> </m:t>
                      </m:r>
                      <m:r>
                        <a:rPr lang="es-CL" sz="1800" b="0" i="1" smtClean="0">
                          <a:latin typeface="Cambria Math" panose="02040503050406030204" pitchFamily="18" charset="0"/>
                          <a:cs typeface="Poppins" pitchFamily="2" charset="77"/>
                        </a:rPr>
                        <m:t>𝑝𝑟𝑜𝑑𝑢𝑐𝑐𝑖</m:t>
                      </m:r>
                      <m:r>
                        <a:rPr lang="es-CL" sz="1800" b="0" i="1" smtClean="0">
                          <a:latin typeface="Cambria Math" panose="02040503050406030204" pitchFamily="18" charset="0"/>
                          <a:cs typeface="Poppins" pitchFamily="2" charset="77"/>
                        </a:rPr>
                        <m:t>ó</m:t>
                      </m:r>
                      <m:r>
                        <a:rPr lang="es-CL" sz="1800" b="0" i="1" smtClean="0">
                          <a:latin typeface="Cambria Math" panose="02040503050406030204" pitchFamily="18" charset="0"/>
                          <a:cs typeface="Poppins" pitchFamily="2" charset="77"/>
                        </a:rPr>
                        <m:t>𝑛</m:t>
                      </m:r>
                      <m:r>
                        <a:rPr lang="es-CL" sz="1800" b="0" i="1" smtClean="0">
                          <a:latin typeface="Cambria Math" panose="02040503050406030204" pitchFamily="18" charset="0"/>
                          <a:cs typeface="Poppins" pitchFamily="2" charset="77"/>
                        </a:rPr>
                        <m:t>(</m:t>
                      </m:r>
                      <m:r>
                        <a:rPr lang="es-CL" sz="1800" b="0" i="1" smtClean="0">
                          <a:latin typeface="Cambria Math" panose="02040503050406030204" pitchFamily="18" charset="0"/>
                          <a:cs typeface="Poppins" pitchFamily="2" charset="77"/>
                        </a:rPr>
                        <m:t>𝑐</m:t>
                      </m:r>
                      <m:r>
                        <a:rPr lang="es-CL" sz="1800" b="0" i="1" smtClean="0">
                          <a:latin typeface="Cambria Math" panose="02040503050406030204" pitchFamily="18" charset="0"/>
                          <a:cs typeface="Poppins" pitchFamily="2" charset="77"/>
                        </a:rPr>
                        <m:t>+</m:t>
                      </m:r>
                      <m:r>
                        <a:rPr lang="es-CL" sz="1800" b="0" i="1" smtClean="0">
                          <a:latin typeface="Cambria Math" panose="02040503050406030204" pitchFamily="18" charset="0"/>
                          <a:cs typeface="Poppins" pitchFamily="2" charset="77"/>
                        </a:rPr>
                        <m:t>𝑣</m:t>
                      </m:r>
                      <m:r>
                        <a:rPr lang="es-CL" sz="1800" b="0" i="1" smtClean="0">
                          <a:latin typeface="Cambria Math" panose="02040503050406030204" pitchFamily="18" charset="0"/>
                          <a:cs typeface="Poppins" pitchFamily="2" charset="77"/>
                        </a:rPr>
                        <m:t>)</m:t>
                      </m:r>
                    </m:oMath>
                  </m:oMathPara>
                </a14:m>
                <a:endParaRPr lang="es-ES" sz="1800" dirty="0">
                  <a:latin typeface="Calibri "/>
                  <a:cs typeface="Poppins" pitchFamily="2" charset="77"/>
                </a:endParaRP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Donde c, corresponde al capital constantes (maquinarias, etc.) y v corresponde al capital variable (trabajadores). Donde la plusvalía se define como:</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CL" sz="1800" b="0" i="1" smtClean="0">
                          <a:latin typeface="Cambria Math" panose="02040503050406030204" pitchFamily="18" charset="0"/>
                          <a:cs typeface="Poppins" pitchFamily="2" charset="77"/>
                        </a:rPr>
                        <m:t>𝑇𝑎𝑠𝑎</m:t>
                      </m:r>
                      <m:r>
                        <a:rPr lang="es-CL" sz="1800" b="0" i="1" smtClean="0">
                          <a:latin typeface="Cambria Math" panose="02040503050406030204" pitchFamily="18" charset="0"/>
                          <a:cs typeface="Poppins" pitchFamily="2" charset="77"/>
                        </a:rPr>
                        <m:t> </m:t>
                      </m:r>
                      <m:r>
                        <a:rPr lang="es-CL" sz="1800" b="0" i="1" smtClean="0">
                          <a:latin typeface="Cambria Math" panose="02040503050406030204" pitchFamily="18" charset="0"/>
                          <a:cs typeface="Poppins" pitchFamily="2" charset="77"/>
                        </a:rPr>
                        <m:t>𝑑𝑒</m:t>
                      </m:r>
                      <m:r>
                        <a:rPr lang="es-CL" sz="1800" b="0" i="1" smtClean="0">
                          <a:latin typeface="Cambria Math" panose="02040503050406030204" pitchFamily="18" charset="0"/>
                          <a:cs typeface="Poppins" pitchFamily="2" charset="77"/>
                        </a:rPr>
                        <m:t> </m:t>
                      </m:r>
                      <m:r>
                        <a:rPr lang="es-CL" sz="1800" b="0" i="1" smtClean="0">
                          <a:latin typeface="Cambria Math" panose="02040503050406030204" pitchFamily="18" charset="0"/>
                          <a:cs typeface="Poppins" pitchFamily="2" charset="77"/>
                        </a:rPr>
                        <m:t>𝑝𝑙𝑢𝑠𝑣𝑎𝑙</m:t>
                      </m:r>
                      <m:r>
                        <a:rPr lang="es-CL" sz="1800" b="0" i="1" smtClean="0">
                          <a:latin typeface="Cambria Math" panose="02040503050406030204" pitchFamily="18" charset="0"/>
                          <a:cs typeface="Poppins" pitchFamily="2" charset="77"/>
                        </a:rPr>
                        <m:t>í</m:t>
                      </m:r>
                      <m:r>
                        <a:rPr lang="es-CL" sz="1800" b="0" i="1" smtClean="0">
                          <a:latin typeface="Cambria Math" panose="02040503050406030204" pitchFamily="18" charset="0"/>
                          <a:cs typeface="Poppins" pitchFamily="2" charset="77"/>
                        </a:rPr>
                        <m:t>𝑎</m:t>
                      </m:r>
                      <m:r>
                        <a:rPr lang="es-CL" sz="1800" b="0" i="1" smtClean="0">
                          <a:latin typeface="Cambria Math" panose="02040503050406030204" pitchFamily="18" charset="0"/>
                          <a:cs typeface="Poppins" pitchFamily="2" charset="77"/>
                        </a:rPr>
                        <m:t>=</m:t>
                      </m:r>
                      <m:f>
                        <m:fPr>
                          <m:ctrlPr>
                            <a:rPr lang="es-CL" sz="1800" b="0" i="1" smtClean="0">
                              <a:latin typeface="Cambria Math" panose="02040503050406030204" pitchFamily="18" charset="0"/>
                              <a:cs typeface="Poppins" pitchFamily="2" charset="77"/>
                            </a:rPr>
                          </m:ctrlPr>
                        </m:fPr>
                        <m:num>
                          <m:r>
                            <a:rPr lang="es-CL" sz="1800" b="0" i="1" smtClean="0">
                              <a:latin typeface="Cambria Math" panose="02040503050406030204" pitchFamily="18" charset="0"/>
                              <a:cs typeface="Poppins" pitchFamily="2" charset="77"/>
                            </a:rPr>
                            <m:t>𝑠</m:t>
                          </m:r>
                        </m:num>
                        <m:den>
                          <m:r>
                            <a:rPr lang="es-CL" sz="1800" b="0" i="1" smtClean="0">
                              <a:latin typeface="Cambria Math" panose="02040503050406030204" pitchFamily="18" charset="0"/>
                              <a:cs typeface="Poppins" pitchFamily="2" charset="77"/>
                            </a:rPr>
                            <m:t>𝑣</m:t>
                          </m:r>
                        </m:den>
                      </m:f>
                    </m:oMath>
                  </m:oMathPara>
                </a14:m>
                <a:endParaRPr lang="es-ES" sz="1800" dirty="0">
                  <a:latin typeface="Calibri "/>
                  <a:cs typeface="Poppins" pitchFamily="2" charset="77"/>
                </a:endParaRPr>
              </a:p>
            </p:txBody>
          </p:sp>
        </mc:Choice>
        <mc:Fallback xmlns="">
          <p:sp>
            <p:nvSpPr>
              <p:cNvPr id="5" name="CustomShape 2">
                <a:extLst>
                  <a:ext uri="{FF2B5EF4-FFF2-40B4-BE49-F238E27FC236}">
                    <a16:creationId xmlns:a16="http://schemas.microsoft.com/office/drawing/2014/main" id="{4CBA7BF9-8A6D-AA83-873F-002098AC9247}"/>
                  </a:ext>
                </a:extLst>
              </p:cNvPr>
              <p:cNvSpPr>
                <a:spLocks noRot="1" noChangeAspect="1" noMove="1" noResize="1" noEditPoints="1" noAdjustHandles="1" noChangeArrowheads="1" noChangeShapeType="1" noTextEdit="1"/>
              </p:cNvSpPr>
              <p:nvPr/>
            </p:nvSpPr>
            <p:spPr>
              <a:xfrm>
                <a:off x="352080" y="2413416"/>
                <a:ext cx="11520130" cy="2696785"/>
              </a:xfrm>
              <a:prstGeom prst="rect">
                <a:avLst/>
              </a:prstGeom>
              <a:blipFill>
                <a:blip r:embed="rId2"/>
                <a:stretch>
                  <a:fillRect l="-476" t="-1357" r="-423" b="-4140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228288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36479-3E83-FFAC-A854-4AA6379AE4DD}"/>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6D1455A6-0D8B-721D-1989-A5829D1DEB53}"/>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AAFA9AD1-3594-1B17-09CD-A3884AF095AE}"/>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fontScale="92500"/>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El trabajo en el contexto del Marxismo: ejemplo numérico</a:t>
            </a:r>
          </a:p>
        </p:txBody>
      </p:sp>
      <p:sp>
        <p:nvSpPr>
          <p:cNvPr id="5" name="CustomShape 2">
            <a:extLst>
              <a:ext uri="{FF2B5EF4-FFF2-40B4-BE49-F238E27FC236}">
                <a16:creationId xmlns:a16="http://schemas.microsoft.com/office/drawing/2014/main" id="{3627D03D-C91C-A8D3-D0EC-62EC3CBC4F25}"/>
              </a:ext>
            </a:extLst>
          </p:cNvPr>
          <p:cNvSpPr/>
          <p:nvPr/>
        </p:nvSpPr>
        <p:spPr>
          <a:xfrm>
            <a:off x="352080" y="241341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l"/>
            <a:r>
              <a:rPr lang="es-ES" sz="1800" dirty="0">
                <a:latin typeface="Calibri "/>
                <a:cs typeface="Poppins" pitchFamily="2" charset="77"/>
              </a:rPr>
              <a:t>Supongamos que existe una empresa que dedica 80 dólares a maquinaria (c), 50 dólares a los salarios de los trabajadores (v) y vende sus mercancías por 150 dólares (ingresos). </a:t>
            </a:r>
          </a:p>
          <a:p>
            <a:pPr algn="l"/>
            <a:endParaRPr lang="es-ES" sz="1800" dirty="0">
              <a:latin typeface="Calibri "/>
              <a:cs typeface="Poppins" pitchFamily="2" charset="77"/>
            </a:endParaRPr>
          </a:p>
          <a:p>
            <a:pPr algn="l"/>
            <a:r>
              <a:rPr lang="es-ES" sz="1800" dirty="0">
                <a:latin typeface="Calibri "/>
                <a:cs typeface="Poppins" pitchFamily="2" charset="77"/>
              </a:rPr>
              <a:t>Entonces la plusvalía es:</a:t>
            </a:r>
          </a:p>
          <a:p>
            <a:pPr algn="l"/>
            <a:endParaRPr lang="es-ES" sz="1800" dirty="0">
              <a:latin typeface="Calibri "/>
              <a:cs typeface="Poppins" pitchFamily="2" charset="77"/>
            </a:endParaRPr>
          </a:p>
          <a:p>
            <a:pPr algn="l"/>
            <a:r>
              <a:rPr lang="es-ES" sz="1800" dirty="0">
                <a:latin typeface="Calibri "/>
                <a:cs typeface="Poppins" pitchFamily="2" charset="77"/>
              </a:rPr>
              <a:t>Plusvalía (s) = Ingresos – costes de producción (</a:t>
            </a:r>
            <a:r>
              <a:rPr lang="es-ES" sz="1800" dirty="0" err="1">
                <a:latin typeface="Calibri "/>
                <a:cs typeface="Poppins" pitchFamily="2" charset="77"/>
              </a:rPr>
              <a:t>c+v</a:t>
            </a:r>
            <a:r>
              <a:rPr lang="es-ES" sz="1800" dirty="0">
                <a:latin typeface="Calibri "/>
                <a:cs typeface="Poppins" pitchFamily="2" charset="77"/>
              </a:rPr>
              <a:t>) = 150 – (80+50) = 20</a:t>
            </a:r>
          </a:p>
          <a:p>
            <a:pPr algn="l"/>
            <a:endParaRPr lang="es-ES" sz="1800" dirty="0">
              <a:latin typeface="Calibri "/>
              <a:cs typeface="Poppins" pitchFamily="2" charset="77"/>
            </a:endParaRPr>
          </a:p>
          <a:p>
            <a:pPr algn="l"/>
            <a:r>
              <a:rPr lang="es-ES" sz="1800" dirty="0">
                <a:latin typeface="Calibri "/>
                <a:cs typeface="Poppins" pitchFamily="2" charset="77"/>
              </a:rPr>
              <a:t>Tasa de plusvalía = 20 / 50 = 0,4</a:t>
            </a:r>
          </a:p>
          <a:p>
            <a:pPr algn="l"/>
            <a:endParaRPr lang="es-ES" sz="1800" dirty="0">
              <a:latin typeface="Calibri "/>
              <a:cs typeface="Poppins" pitchFamily="2" charset="77"/>
            </a:endParaRPr>
          </a:p>
          <a:p>
            <a:pPr algn="l"/>
            <a:r>
              <a:rPr lang="es-ES" sz="1800" dirty="0">
                <a:latin typeface="Calibri "/>
                <a:cs typeface="Poppins" pitchFamily="2" charset="77"/>
              </a:rPr>
              <a:t>Los resultados anteriores se interpretan de la siguiente forma:</a:t>
            </a:r>
          </a:p>
          <a:p>
            <a:pPr algn="l"/>
            <a:endParaRPr lang="es-ES" sz="1800" dirty="0">
              <a:latin typeface="Calibri "/>
              <a:cs typeface="Poppins" pitchFamily="2" charset="77"/>
            </a:endParaRPr>
          </a:p>
          <a:p>
            <a:pPr marL="457200" indent="-457200" algn="l">
              <a:buFont typeface="Arial" panose="020B0604020202020204" pitchFamily="34" charset="0"/>
              <a:buChar char="•"/>
            </a:pPr>
            <a:r>
              <a:rPr lang="es-ES" sz="1800" dirty="0">
                <a:latin typeface="Calibri "/>
                <a:cs typeface="Poppins" pitchFamily="2" charset="77"/>
              </a:rPr>
              <a:t>La plusvalía total del empresario (s) es de 20 dólares.</a:t>
            </a:r>
          </a:p>
          <a:p>
            <a:pPr marL="457200" indent="-457200" algn="l">
              <a:buFont typeface="Arial" panose="020B0604020202020204" pitchFamily="34" charset="0"/>
              <a:buChar char="•"/>
            </a:pPr>
            <a:r>
              <a:rPr lang="es-ES" sz="1800" dirty="0">
                <a:latin typeface="Calibri "/>
                <a:cs typeface="Poppins" pitchFamily="2" charset="77"/>
              </a:rPr>
              <a:t>Asimismo, la tasa de plusvalía es de 0,4. Este 0,4 equivale a decir que el empresario se queda con un 40% del producto generado por los trabajadores.</a:t>
            </a:r>
          </a:p>
          <a:p>
            <a:pPr algn="l"/>
            <a:endParaRPr lang="es-ES" sz="1800" dirty="0">
              <a:latin typeface="Calibri "/>
              <a:cs typeface="Poppins" pitchFamily="2" charset="77"/>
            </a:endParaRPr>
          </a:p>
        </p:txBody>
      </p:sp>
    </p:spTree>
    <p:extLst>
      <p:ext uri="{BB962C8B-B14F-4D97-AF65-F5344CB8AC3E}">
        <p14:creationId xmlns:p14="http://schemas.microsoft.com/office/powerpoint/2010/main" val="27076523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9E8FC-702E-0772-2883-E57F6F72B18F}"/>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3F0E5A99-D94D-D106-EB7E-9BE134F065E3}"/>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E52F9F1D-97A0-672A-B032-1F7752138E5F}"/>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Algunas preguntas</a:t>
            </a:r>
          </a:p>
        </p:txBody>
      </p:sp>
      <p:sp>
        <p:nvSpPr>
          <p:cNvPr id="5" name="CustomShape 2">
            <a:extLst>
              <a:ext uri="{FF2B5EF4-FFF2-40B4-BE49-F238E27FC236}">
                <a16:creationId xmlns:a16="http://schemas.microsoft.com/office/drawing/2014/main" id="{F3CC6697-7100-D451-7B85-48C7216B71C7}"/>
              </a:ext>
            </a:extLst>
          </p:cNvPr>
          <p:cNvSpPr/>
          <p:nvPr/>
        </p:nvSpPr>
        <p:spPr>
          <a:xfrm>
            <a:off x="352080" y="240408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342900" indent="-342900" algn="l">
              <a:buFont typeface="+mj-lt"/>
              <a:buAutoNum type="arabicPeriod"/>
            </a:pPr>
            <a:r>
              <a:rPr lang="es-ES" dirty="0"/>
              <a:t>¿Cómo impacta la plusvalía en la distribución de la riqueza dentro de una sociedad capitalista?</a:t>
            </a:r>
          </a:p>
          <a:p>
            <a:pPr marL="342900" indent="-342900" algn="l">
              <a:buFont typeface="+mj-lt"/>
              <a:buAutoNum type="arabicPeriod"/>
            </a:pPr>
            <a:endParaRPr lang="es-ES" sz="1800" dirty="0">
              <a:latin typeface="Calibri "/>
              <a:cs typeface="Poppins" pitchFamily="2" charset="77"/>
            </a:endParaRPr>
          </a:p>
          <a:p>
            <a:pPr marL="342900" indent="-342900" algn="l">
              <a:buFont typeface="+mj-lt"/>
              <a:buAutoNum type="arabicPeriod"/>
            </a:pPr>
            <a:r>
              <a:rPr lang="es-ES" dirty="0"/>
              <a:t>¿Es la plusvalía una forma de explotación o simplemente una condición necesaria del mercado laboral?</a:t>
            </a:r>
          </a:p>
          <a:p>
            <a:pPr marL="342900" indent="-342900" algn="l">
              <a:buFont typeface="+mj-lt"/>
              <a:buAutoNum type="arabicPeriod"/>
            </a:pPr>
            <a:endParaRPr lang="es-ES" sz="1800" dirty="0">
              <a:latin typeface="Calibri "/>
              <a:cs typeface="Poppins" pitchFamily="2" charset="77"/>
            </a:endParaRPr>
          </a:p>
          <a:p>
            <a:pPr marL="342900" indent="-342900" algn="l">
              <a:buFont typeface="+mj-lt"/>
              <a:buAutoNum type="arabicPeriod"/>
            </a:pPr>
            <a:r>
              <a:rPr lang="es-ES" sz="1800" dirty="0">
                <a:latin typeface="Calibri "/>
                <a:cs typeface="Poppins" pitchFamily="2" charset="77"/>
              </a:rPr>
              <a:t>¿En qué sectores crees que la proporción de capital constante (c) es mayor que la del capital variable (v)?</a:t>
            </a:r>
          </a:p>
          <a:p>
            <a:pPr marL="342900" indent="-342900" algn="l">
              <a:buFont typeface="+mj-lt"/>
              <a:buAutoNum type="arabicPeriod"/>
            </a:pPr>
            <a:endParaRPr lang="es-ES" dirty="0">
              <a:latin typeface="Calibri "/>
              <a:cs typeface="Poppins" pitchFamily="2" charset="77"/>
            </a:endParaRPr>
          </a:p>
          <a:p>
            <a:pPr marL="342900" indent="-342900" algn="l">
              <a:buFont typeface="+mj-lt"/>
              <a:buAutoNum type="arabicPeriod"/>
            </a:pPr>
            <a:r>
              <a:rPr lang="es-ES" sz="1800" dirty="0">
                <a:latin typeface="Calibri "/>
                <a:cs typeface="Poppins" pitchFamily="2" charset="77"/>
              </a:rPr>
              <a:t>Con el avance de la automatización, ¿cómo se ve afectada la plusvalía y la tasa de explotación?</a:t>
            </a:r>
          </a:p>
        </p:txBody>
      </p:sp>
    </p:spTree>
    <p:extLst>
      <p:ext uri="{BB962C8B-B14F-4D97-AF65-F5344CB8AC3E}">
        <p14:creationId xmlns:p14="http://schemas.microsoft.com/office/powerpoint/2010/main" val="2754257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43CF7-6CC5-20C4-BC8E-DEF60303FE88}"/>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AB5C235B-11AF-8649-B743-5EA013F9938E}"/>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Mercado laboral</a:t>
            </a:r>
          </a:p>
        </p:txBody>
      </p:sp>
      <p:sp>
        <p:nvSpPr>
          <p:cNvPr id="6" name="CustomShape 1">
            <a:extLst>
              <a:ext uri="{FF2B5EF4-FFF2-40B4-BE49-F238E27FC236}">
                <a16:creationId xmlns:a16="http://schemas.microsoft.com/office/drawing/2014/main" id="{1101F1E6-4C15-90D5-F44D-7668FDACE567}"/>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Fuentes de información</a:t>
            </a:r>
          </a:p>
        </p:txBody>
      </p:sp>
      <p:sp>
        <p:nvSpPr>
          <p:cNvPr id="5" name="CustomShape 2">
            <a:extLst>
              <a:ext uri="{FF2B5EF4-FFF2-40B4-BE49-F238E27FC236}">
                <a16:creationId xmlns:a16="http://schemas.microsoft.com/office/drawing/2014/main" id="{7FF7272C-231F-0F4C-109E-026059CF33A8}"/>
              </a:ext>
            </a:extLst>
          </p:cNvPr>
          <p:cNvSpPr/>
          <p:nvPr/>
        </p:nvSpPr>
        <p:spPr>
          <a:xfrm>
            <a:off x="352080" y="240408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57200" indent="-457200" algn="just">
              <a:lnSpc>
                <a:spcPct val="100000"/>
              </a:lnSpc>
              <a:spcBef>
                <a:spcPts val="20"/>
              </a:spcBef>
              <a:buFont typeface="Arial" panose="020B0604020202020204" pitchFamily="34" charset="0"/>
              <a:buChar char="•"/>
            </a:pPr>
            <a:r>
              <a:rPr lang="es-ES" sz="1800" dirty="0">
                <a:latin typeface="Calibri "/>
                <a:cs typeface="Poppins" pitchFamily="2" charset="77"/>
              </a:rPr>
              <a:t>INE: </a:t>
            </a:r>
            <a:r>
              <a:rPr lang="es-ES" sz="1800" dirty="0">
                <a:latin typeface="Calibri "/>
                <a:cs typeface="Poppins" pitchFamily="2" charset="77"/>
                <a:hlinkClick r:id="rId2"/>
              </a:rPr>
              <a:t>🚩</a:t>
            </a:r>
            <a:endParaRPr lang="es-ES" sz="1800" dirty="0">
              <a:latin typeface="Calibri "/>
              <a:cs typeface="Poppins" pitchFamily="2" charset="77"/>
            </a:endParaRPr>
          </a:p>
          <a:p>
            <a:pPr marL="457200" indent="-457200" algn="just">
              <a:lnSpc>
                <a:spcPct val="100000"/>
              </a:lnSpc>
              <a:spcBef>
                <a:spcPts val="20"/>
              </a:spcBef>
              <a:buFont typeface="Arial" panose="020B0604020202020204" pitchFamily="34" charset="0"/>
              <a:buChar char="•"/>
            </a:pPr>
            <a:r>
              <a:rPr lang="es-ES" sz="1800" dirty="0">
                <a:latin typeface="Calibri "/>
                <a:cs typeface="Poppins" pitchFamily="2" charset="77"/>
              </a:rPr>
              <a:t>Observatorio Laboral: </a:t>
            </a:r>
            <a:r>
              <a:rPr lang="es-ES" sz="1800" dirty="0">
                <a:latin typeface="Calibri "/>
                <a:cs typeface="Poppins" pitchFamily="2" charset="77"/>
                <a:hlinkClick r:id="rId3"/>
              </a:rPr>
              <a:t>🚩</a:t>
            </a:r>
            <a:endParaRPr lang="es-ES" sz="1800" dirty="0">
              <a:latin typeface="Calibri "/>
              <a:cs typeface="Poppins" pitchFamily="2" charset="77"/>
            </a:endParaRPr>
          </a:p>
          <a:p>
            <a:pPr algn="l"/>
            <a:endParaRPr lang="es-ES" sz="1800" dirty="0">
              <a:latin typeface="Calibri "/>
              <a:cs typeface="Poppins" pitchFamily="2" charset="77"/>
            </a:endParaRPr>
          </a:p>
        </p:txBody>
      </p:sp>
    </p:spTree>
    <p:extLst>
      <p:ext uri="{BB962C8B-B14F-4D97-AF65-F5344CB8AC3E}">
        <p14:creationId xmlns:p14="http://schemas.microsoft.com/office/powerpoint/2010/main" val="749232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C5D90-5546-EAE2-28AD-5FE2568A1351}"/>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0C882783-A995-1C9B-106F-1C5089E67854}"/>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Variables nominales</a:t>
            </a:r>
            <a:r>
              <a:rPr lang="es-CL" sz="4400" b="1" spc="-1" dirty="0">
                <a:solidFill>
                  <a:srgbClr val="0034D9"/>
                </a:solidFill>
                <a:latin typeface="TT Wellingtons" panose="02000503020000020004" pitchFamily="2" charset="77"/>
                <a:ea typeface="DejaVu Sans"/>
              </a:rPr>
              <a:t> y</a:t>
            </a:r>
            <a:r>
              <a:rPr lang="es-CL" sz="4400" b="1" spc="-1" noProof="0" dirty="0">
                <a:solidFill>
                  <a:srgbClr val="0034D9"/>
                </a:solidFill>
                <a:latin typeface="TT Wellingtons" panose="02000503020000020004" pitchFamily="2" charset="77"/>
                <a:ea typeface="DejaVu Sans"/>
              </a:rPr>
              <a:t> reales</a:t>
            </a:r>
          </a:p>
        </p:txBody>
      </p:sp>
      <p:sp>
        <p:nvSpPr>
          <p:cNvPr id="6" name="CustomShape 1">
            <a:extLst>
              <a:ext uri="{FF2B5EF4-FFF2-40B4-BE49-F238E27FC236}">
                <a16:creationId xmlns:a16="http://schemas.microsoft.com/office/drawing/2014/main" id="{BEE94286-B39A-7B1C-DF4B-98E2D056F8CF}"/>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Nominal versus real</a:t>
            </a:r>
          </a:p>
        </p:txBody>
      </p:sp>
      <p:sp>
        <p:nvSpPr>
          <p:cNvPr id="5" name="CustomShape 2">
            <a:extLst>
              <a:ext uri="{FF2B5EF4-FFF2-40B4-BE49-F238E27FC236}">
                <a16:creationId xmlns:a16="http://schemas.microsoft.com/office/drawing/2014/main" id="{A31D64E6-59CB-3842-CB23-AC2235A6E057}"/>
              </a:ext>
            </a:extLst>
          </p:cNvPr>
          <p:cNvSpPr/>
          <p:nvPr/>
        </p:nvSpPr>
        <p:spPr>
          <a:xfrm>
            <a:off x="352080" y="240408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57200" indent="-457200" algn="just">
              <a:lnSpc>
                <a:spcPct val="100000"/>
              </a:lnSpc>
              <a:spcBef>
                <a:spcPts val="20"/>
              </a:spcBef>
              <a:buFont typeface="Arial" panose="020B0604020202020204" pitchFamily="34" charset="0"/>
              <a:buChar char="•"/>
            </a:pPr>
            <a:r>
              <a:rPr lang="es-ES" sz="1800" dirty="0">
                <a:latin typeface="Calibri "/>
                <a:cs typeface="Poppins" pitchFamily="2" charset="77"/>
              </a:rPr>
              <a:t>Dentro de la economía en general, se debe conocer la diferencia entre valores nominales y reales. En este sentido, una variable nominal se refiere a la que se mide en base a sus precios corrientes o del año, mientras que las variables reales se definen como las que son medidas a precios constantes. </a:t>
            </a:r>
          </a:p>
          <a:p>
            <a:pPr marL="457200" indent="-457200" algn="just">
              <a:lnSpc>
                <a:spcPct val="100000"/>
              </a:lnSpc>
              <a:spcBef>
                <a:spcPts val="20"/>
              </a:spcBef>
              <a:buFont typeface="Arial" panose="020B0604020202020204" pitchFamily="34" charset="0"/>
              <a:buChar char="•"/>
            </a:pPr>
            <a:endParaRPr lang="es-ES" sz="1800" dirty="0">
              <a:latin typeface="Calibri "/>
              <a:cs typeface="Poppins" pitchFamily="2" charset="77"/>
            </a:endParaRPr>
          </a:p>
          <a:p>
            <a:pPr marL="457200" indent="-457200" algn="just">
              <a:lnSpc>
                <a:spcPct val="100000"/>
              </a:lnSpc>
              <a:spcBef>
                <a:spcPts val="20"/>
              </a:spcBef>
              <a:buFont typeface="Arial" panose="020B0604020202020204" pitchFamily="34" charset="0"/>
              <a:buChar char="•"/>
            </a:pPr>
            <a:r>
              <a:rPr lang="es-ES" sz="1800" dirty="0">
                <a:latin typeface="Calibri "/>
                <a:cs typeface="Poppins" pitchFamily="2" charset="77"/>
              </a:rPr>
              <a:t>Por ejemplo, en base al PIB este puede ser presentado en términos nominales como también reales</a:t>
            </a:r>
          </a:p>
          <a:p>
            <a:pPr marL="457200" indent="-457200" algn="just">
              <a:lnSpc>
                <a:spcPct val="100000"/>
              </a:lnSpc>
              <a:spcBef>
                <a:spcPts val="20"/>
              </a:spcBef>
              <a:buFont typeface="Arial" panose="020B0604020202020204" pitchFamily="34" charset="0"/>
              <a:buChar char="•"/>
            </a:pPr>
            <a:endParaRPr lang="es-ES" dirty="0">
              <a:latin typeface="Calibri "/>
              <a:cs typeface="Poppins" pitchFamily="2" charset="77"/>
            </a:endParaRPr>
          </a:p>
          <a:p>
            <a:pPr algn="just">
              <a:lnSpc>
                <a:spcPct val="100000"/>
              </a:lnSpc>
              <a:spcBef>
                <a:spcPts val="20"/>
              </a:spcBef>
            </a:pPr>
            <a:r>
              <a:rPr lang="es-CL" sz="1800" dirty="0">
                <a:latin typeface="Calibri "/>
                <a:cs typeface="Poppins" pitchFamily="2" charset="77"/>
              </a:rPr>
              <a:t>⁉️</a:t>
            </a:r>
            <a:r>
              <a:rPr lang="es-ES" sz="1800" dirty="0">
                <a:latin typeface="Calibri "/>
                <a:cs typeface="Poppins" pitchFamily="2" charset="77"/>
              </a:rPr>
              <a:t>Pregunta:</a:t>
            </a:r>
          </a:p>
          <a:p>
            <a:pPr algn="just">
              <a:lnSpc>
                <a:spcPct val="100000"/>
              </a:lnSpc>
              <a:spcBef>
                <a:spcPts val="20"/>
              </a:spcBef>
            </a:pPr>
            <a:endParaRPr lang="es-ES" dirty="0">
              <a:latin typeface="Calibri "/>
              <a:cs typeface="Poppins" pitchFamily="2" charset="77"/>
            </a:endParaRPr>
          </a:p>
          <a:p>
            <a:pPr algn="just">
              <a:lnSpc>
                <a:spcPct val="100000"/>
              </a:lnSpc>
              <a:spcBef>
                <a:spcPts val="20"/>
              </a:spcBef>
            </a:pPr>
            <a:r>
              <a:rPr lang="es-ES" sz="1800" dirty="0">
                <a:latin typeface="Calibri "/>
                <a:cs typeface="Poppins" pitchFamily="2" charset="77"/>
              </a:rPr>
              <a:t>Cuando hablamos de crecimiento del PIB, ¿nos referimos en el sentido de una variable real o nominal?</a:t>
            </a:r>
          </a:p>
          <a:p>
            <a:pPr algn="just">
              <a:lnSpc>
                <a:spcPct val="100000"/>
              </a:lnSpc>
              <a:spcBef>
                <a:spcPts val="20"/>
              </a:spcBef>
            </a:pPr>
            <a:endParaRPr lang="es-ES" sz="1800" dirty="0">
              <a:latin typeface="Calibri "/>
              <a:cs typeface="Poppins" pitchFamily="2" charset="77"/>
            </a:endParaRPr>
          </a:p>
          <a:p>
            <a:pPr algn="l"/>
            <a:endParaRPr lang="es-ES" sz="1800" dirty="0">
              <a:latin typeface="Calibri "/>
              <a:cs typeface="Poppins" pitchFamily="2" charset="77"/>
            </a:endParaRPr>
          </a:p>
        </p:txBody>
      </p:sp>
    </p:spTree>
    <p:extLst>
      <p:ext uri="{BB962C8B-B14F-4D97-AF65-F5344CB8AC3E}">
        <p14:creationId xmlns:p14="http://schemas.microsoft.com/office/powerpoint/2010/main" val="31318459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6D69-9121-B022-05B5-AC5F84A4BA81}"/>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99B1C374-4AD2-5424-B269-0EFBB2A57960}"/>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Variables nominales</a:t>
            </a:r>
            <a:r>
              <a:rPr lang="es-CL" sz="4400" b="1" spc="-1" dirty="0">
                <a:solidFill>
                  <a:srgbClr val="0034D9"/>
                </a:solidFill>
                <a:latin typeface="TT Wellingtons" panose="02000503020000020004" pitchFamily="2" charset="77"/>
                <a:ea typeface="DejaVu Sans"/>
              </a:rPr>
              <a:t> y</a:t>
            </a:r>
            <a:r>
              <a:rPr lang="es-CL" sz="4400" b="1" spc="-1" noProof="0" dirty="0">
                <a:solidFill>
                  <a:srgbClr val="0034D9"/>
                </a:solidFill>
                <a:latin typeface="TT Wellingtons" panose="02000503020000020004" pitchFamily="2" charset="77"/>
                <a:ea typeface="DejaVu Sans"/>
              </a:rPr>
              <a:t> reales</a:t>
            </a:r>
          </a:p>
        </p:txBody>
      </p:sp>
      <p:sp>
        <p:nvSpPr>
          <p:cNvPr id="6" name="CustomShape 1">
            <a:extLst>
              <a:ext uri="{FF2B5EF4-FFF2-40B4-BE49-F238E27FC236}">
                <a16:creationId xmlns:a16="http://schemas.microsoft.com/office/drawing/2014/main" id="{DA8FF370-FB54-7C60-01D0-CA5C05CCA387}"/>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Inflación</a:t>
            </a:r>
          </a:p>
        </p:txBody>
      </p:sp>
      <mc:AlternateContent xmlns:mc="http://schemas.openxmlformats.org/markup-compatibility/2006" xmlns:a14="http://schemas.microsoft.com/office/drawing/2010/main">
        <mc:Choice Requires="a14">
          <p:sp>
            <p:nvSpPr>
              <p:cNvPr id="5" name="CustomShape 2">
                <a:extLst>
                  <a:ext uri="{FF2B5EF4-FFF2-40B4-BE49-F238E27FC236}">
                    <a16:creationId xmlns:a16="http://schemas.microsoft.com/office/drawing/2014/main" id="{4BA169C5-CB89-6209-3F84-95F23F3EAFB1}"/>
                  </a:ext>
                </a:extLst>
              </p:cNvPr>
              <p:cNvSpPr/>
              <p:nvPr/>
            </p:nvSpPr>
            <p:spPr>
              <a:xfrm>
                <a:off x="352080" y="240408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alibri "/>
                    <a:cs typeface="Poppins" pitchFamily="2" charset="77"/>
                  </a:rPr>
                  <a:t>Se debe considerar que la inflación como medida, pretende incorporar la variación de precios de los bienes y servicios de una economía en particular. Según esto, existe dos medidas de inflación relevantes, también conocidas como índices de precios:</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Deflactor del PIB: Corresponde a la división entre el PIB Nominal y PIB Real de una economía. Considerar en este caso, que la diferencia de ambos viene dada por el cambio en los precios que incorpora el PIB Nominal.</a:t>
                </a:r>
              </a:p>
              <a:p>
                <a:pPr algn="just">
                  <a:lnSpc>
                    <a:spcPct val="100000"/>
                  </a:lnSpc>
                  <a:spcBef>
                    <a:spcPts val="20"/>
                  </a:spcBef>
                </a:pPr>
                <a:endParaRPr lang="es-ES" sz="1800" b="0" i="1" dirty="0">
                  <a:latin typeface="Calibri "/>
                  <a:cs typeface="Poppins" pitchFamily="2" charset="77"/>
                </a:endParaRP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cs typeface="Poppins" pitchFamily="2" charset="77"/>
                        </a:rPr>
                        <m:t>𝐷𝑒𝑓𝑙𝑎𝑐𝑡𝑜𝑟</m:t>
                      </m:r>
                      <m:r>
                        <a:rPr lang="es-ES" sz="1800" b="0" i="1" smtClean="0">
                          <a:latin typeface="Cambria Math" panose="02040503050406030204" pitchFamily="18" charset="0"/>
                          <a:cs typeface="Poppins" pitchFamily="2" charset="77"/>
                        </a:rPr>
                        <m:t>=</m:t>
                      </m:r>
                      <m:f>
                        <m:fPr>
                          <m:ctrlPr>
                            <a:rPr lang="es-ES" sz="1800" b="0" i="1" smtClean="0">
                              <a:latin typeface="Cambria Math" panose="02040503050406030204" pitchFamily="18" charset="0"/>
                              <a:cs typeface="Poppins" pitchFamily="2" charset="77"/>
                            </a:rPr>
                          </m:ctrlPr>
                        </m:fPr>
                        <m:num>
                          <m:r>
                            <a:rPr lang="es-CL" sz="1800" b="0" i="1" smtClean="0">
                              <a:latin typeface="Cambria Math" panose="02040503050406030204" pitchFamily="18" charset="0"/>
                              <a:cs typeface="Poppins" pitchFamily="2" charset="77"/>
                            </a:rPr>
                            <m:t>𝑃𝐼𝐵</m:t>
                          </m:r>
                          <m:r>
                            <a:rPr lang="es-CL" sz="1800" b="0" i="1" smtClean="0">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𝑁𝑜𝑚𝑖𝑛𝑎𝑙</m:t>
                          </m:r>
                        </m:num>
                        <m:den>
                          <m:r>
                            <a:rPr lang="es-ES" sz="1800" b="0" i="1" smtClean="0">
                              <a:latin typeface="Cambria Math" panose="02040503050406030204" pitchFamily="18" charset="0"/>
                              <a:cs typeface="Poppins" pitchFamily="2" charset="77"/>
                            </a:rPr>
                            <m:t>𝑃𝐼𝐵</m:t>
                          </m:r>
                          <m:r>
                            <a:rPr lang="es-ES" sz="1800" b="0" i="1" smtClean="0">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𝑅𝑒𝑎𝑙</m:t>
                          </m:r>
                        </m:den>
                      </m:f>
                    </m:oMath>
                  </m:oMathPara>
                </a14:m>
                <a:endParaRPr lang="es-ES" sz="1800" b="0" i="1" dirty="0">
                  <a:latin typeface="Calibri "/>
                  <a:cs typeface="Poppins" pitchFamily="2" charset="77"/>
                </a:endParaRPr>
              </a:p>
              <a:p>
                <a:pPr algn="just">
                  <a:lnSpc>
                    <a:spcPct val="100000"/>
                  </a:lnSpc>
                  <a:spcBef>
                    <a:spcPts val="20"/>
                  </a:spcBef>
                </a:pPr>
                <a:endParaRPr lang="es-ES" sz="1800" i="1" dirty="0">
                  <a:latin typeface="Calibri "/>
                  <a:cs typeface="Poppins" pitchFamily="2" charset="77"/>
                </a:endParaRPr>
              </a:p>
              <a:p>
                <a:pPr algn="just">
                  <a:spcBef>
                    <a:spcPts val="20"/>
                  </a:spcBef>
                </a:pPr>
                <a:r>
                  <a:rPr lang="es-ES" sz="1800" dirty="0">
                    <a:latin typeface="Calibri "/>
                    <a:cs typeface="Poppins" pitchFamily="2" charset="77"/>
                  </a:rPr>
                  <a:t>Índice de precios al consumidor: Corresponde a la medida mes a mes de la variación de precios de una canasta de bienes y servicios representativos del consumo de los hogares urbanos.</a:t>
                </a:r>
              </a:p>
            </p:txBody>
          </p:sp>
        </mc:Choice>
        <mc:Fallback xmlns="">
          <p:sp>
            <p:nvSpPr>
              <p:cNvPr id="5" name="CustomShape 2">
                <a:extLst>
                  <a:ext uri="{FF2B5EF4-FFF2-40B4-BE49-F238E27FC236}">
                    <a16:creationId xmlns:a16="http://schemas.microsoft.com/office/drawing/2014/main" id="{4BA169C5-CB89-6209-3F84-95F23F3EAFB1}"/>
                  </a:ext>
                </a:extLst>
              </p:cNvPr>
              <p:cNvSpPr>
                <a:spLocks noRot="1" noChangeAspect="1" noMove="1" noResize="1" noEditPoints="1" noAdjustHandles="1" noChangeArrowheads="1" noChangeShapeType="1" noTextEdit="1"/>
              </p:cNvSpPr>
              <p:nvPr/>
            </p:nvSpPr>
            <p:spPr>
              <a:xfrm>
                <a:off x="352080" y="2404086"/>
                <a:ext cx="11520130" cy="2696785"/>
              </a:xfrm>
              <a:prstGeom prst="rect">
                <a:avLst/>
              </a:prstGeom>
              <a:blipFill>
                <a:blip r:embed="rId2"/>
                <a:stretch>
                  <a:fillRect l="-476" t="-1129" r="-423" b="-27991"/>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4251633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E5066-0E55-792B-76AC-2EAE888B30C8}"/>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4DFEF883-0F8E-3B92-8692-05C56586F953}"/>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Variables nominales</a:t>
            </a:r>
            <a:r>
              <a:rPr lang="es-CL" sz="4400" b="1" spc="-1" dirty="0">
                <a:solidFill>
                  <a:srgbClr val="0034D9"/>
                </a:solidFill>
                <a:latin typeface="TT Wellingtons" panose="02000503020000020004" pitchFamily="2" charset="77"/>
                <a:ea typeface="DejaVu Sans"/>
              </a:rPr>
              <a:t> y</a:t>
            </a:r>
            <a:r>
              <a:rPr lang="es-CL" sz="4400" b="1" spc="-1" noProof="0" dirty="0">
                <a:solidFill>
                  <a:srgbClr val="0034D9"/>
                </a:solidFill>
                <a:latin typeface="TT Wellingtons" panose="02000503020000020004" pitchFamily="2" charset="77"/>
                <a:ea typeface="DejaVu Sans"/>
              </a:rPr>
              <a:t> reales</a:t>
            </a:r>
          </a:p>
        </p:txBody>
      </p:sp>
      <p:sp>
        <p:nvSpPr>
          <p:cNvPr id="6" name="CustomShape 1">
            <a:extLst>
              <a:ext uri="{FF2B5EF4-FFF2-40B4-BE49-F238E27FC236}">
                <a16:creationId xmlns:a16="http://schemas.microsoft.com/office/drawing/2014/main" id="{236ED49F-5AF6-7DF1-25B7-05714DB99529}"/>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Inflación en Chile</a:t>
            </a:r>
          </a:p>
        </p:txBody>
      </p:sp>
      <p:sp>
        <p:nvSpPr>
          <p:cNvPr id="5" name="CustomShape 2">
            <a:extLst>
              <a:ext uri="{FF2B5EF4-FFF2-40B4-BE49-F238E27FC236}">
                <a16:creationId xmlns:a16="http://schemas.microsoft.com/office/drawing/2014/main" id="{940C9E3C-219D-B71F-B1C3-3EFF32BAFDAC}"/>
              </a:ext>
            </a:extLst>
          </p:cNvPr>
          <p:cNvSpPr/>
          <p:nvPr/>
        </p:nvSpPr>
        <p:spPr>
          <a:xfrm>
            <a:off x="352080" y="240408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alibri "/>
                <a:cs typeface="Poppins" pitchFamily="2" charset="77"/>
              </a:rPr>
              <a:t>En base al INE: "El Índice de Precios al Consumidor (IPC) es un indicador económico elaborado y publicado por el INE, que mide mes a mes la variación conjunta de los precios de una canasta de bienes y servicios representativa del consumo de los hogares del país.</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¿Para qué se usa el IPC?: "Este indicador se usa frecuentemente para reajustar arriendos, créditos, sueldos y salarios, y diferentes contratos públicos y privados. Además, se usa para reajustar diversas tarifas reguladas por la autoridad como los servicios básicos, por ejemplo, electricidad y agua potable, locomoción colectiva, entre otros. El IPC también se utiliza para el cálculo de la Unidad de Fomento (UF) y la Unidad Tributaria Mensual (UTM)"</a:t>
            </a:r>
          </a:p>
        </p:txBody>
      </p:sp>
      <p:sp>
        <p:nvSpPr>
          <p:cNvPr id="2" name="CuadroTexto 1">
            <a:extLst>
              <a:ext uri="{FF2B5EF4-FFF2-40B4-BE49-F238E27FC236}">
                <a16:creationId xmlns:a16="http://schemas.microsoft.com/office/drawing/2014/main" id="{89FB4619-CF15-6703-7BAD-4B457AF632D6}"/>
              </a:ext>
            </a:extLst>
          </p:cNvPr>
          <p:cNvSpPr txBox="1"/>
          <p:nvPr/>
        </p:nvSpPr>
        <p:spPr>
          <a:xfrm>
            <a:off x="352080" y="6056345"/>
            <a:ext cx="10050780" cy="276999"/>
          </a:xfrm>
          <a:prstGeom prst="rect">
            <a:avLst/>
          </a:prstGeom>
          <a:noFill/>
        </p:spPr>
        <p:txBody>
          <a:bodyPr wrap="square">
            <a:spAutoFit/>
          </a:bodyPr>
          <a:lstStyle/>
          <a:p>
            <a:r>
              <a:rPr lang="en-US" sz="1200" dirty="0">
                <a:latin typeface="Calibri "/>
              </a:rPr>
              <a:t>https://www.ine.cl/estadisticas/economia/indices-de-precio-e-inflacion/indice-de-precios-al-consumidor</a:t>
            </a:r>
          </a:p>
        </p:txBody>
      </p:sp>
    </p:spTree>
    <p:extLst>
      <p:ext uri="{BB962C8B-B14F-4D97-AF65-F5344CB8AC3E}">
        <p14:creationId xmlns:p14="http://schemas.microsoft.com/office/powerpoint/2010/main" val="13232453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17AFE-9DD1-E7D1-45DB-4AFD941E4C86}"/>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9606929C-F090-6214-1CF5-358F1EE8A1FB}"/>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Variables nominales</a:t>
            </a:r>
            <a:r>
              <a:rPr lang="es-CL" sz="4400" b="1" spc="-1" dirty="0">
                <a:solidFill>
                  <a:srgbClr val="0034D9"/>
                </a:solidFill>
                <a:latin typeface="TT Wellingtons" panose="02000503020000020004" pitchFamily="2" charset="77"/>
                <a:ea typeface="DejaVu Sans"/>
              </a:rPr>
              <a:t> y</a:t>
            </a:r>
            <a:r>
              <a:rPr lang="es-CL" sz="4400" b="1" spc="-1" noProof="0" dirty="0">
                <a:solidFill>
                  <a:srgbClr val="0034D9"/>
                </a:solidFill>
                <a:latin typeface="TT Wellingtons" panose="02000503020000020004" pitchFamily="2" charset="77"/>
                <a:ea typeface="DejaVu Sans"/>
              </a:rPr>
              <a:t> reales</a:t>
            </a:r>
          </a:p>
        </p:txBody>
      </p:sp>
      <p:sp>
        <p:nvSpPr>
          <p:cNvPr id="6" name="CustomShape 1">
            <a:extLst>
              <a:ext uri="{FF2B5EF4-FFF2-40B4-BE49-F238E27FC236}">
                <a16:creationId xmlns:a16="http://schemas.microsoft.com/office/drawing/2014/main" id="{AD521562-260A-43AC-4EEA-4DB7CCC9600E}"/>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Medidas del alza de los precios</a:t>
            </a:r>
          </a:p>
        </p:txBody>
      </p:sp>
      <mc:AlternateContent xmlns:mc="http://schemas.openxmlformats.org/markup-compatibility/2006" xmlns:a14="http://schemas.microsoft.com/office/drawing/2010/main">
        <mc:Choice Requires="a14">
          <p:sp>
            <p:nvSpPr>
              <p:cNvPr id="5" name="CustomShape 2">
                <a:extLst>
                  <a:ext uri="{FF2B5EF4-FFF2-40B4-BE49-F238E27FC236}">
                    <a16:creationId xmlns:a16="http://schemas.microsoft.com/office/drawing/2014/main" id="{6206480F-228F-1976-7163-A17F9ACD1B3E}"/>
                  </a:ext>
                </a:extLst>
              </p:cNvPr>
              <p:cNvSpPr/>
              <p:nvPr/>
            </p:nvSpPr>
            <p:spPr>
              <a:xfrm>
                <a:off x="352080" y="240408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alibri "/>
                    <a:cs typeface="Poppins" pitchFamily="2" charset="77"/>
                  </a:rPr>
                  <a:t>Índice de Laspeyres</a:t>
                </a:r>
              </a:p>
              <a:p>
                <a:pPr marL="457200" indent="-457200" algn="just">
                  <a:lnSpc>
                    <a:spcPct val="100000"/>
                  </a:lnSpc>
                  <a:spcBef>
                    <a:spcPts val="20"/>
                  </a:spcBef>
                  <a:buFont typeface="Arial" panose="020B0604020202020204" pitchFamily="34" charset="0"/>
                  <a:buChar char="•"/>
                </a:pPr>
                <a:endParaRPr lang="es-ES" sz="1800" dirty="0">
                  <a:latin typeface="Calibri "/>
                  <a:cs typeface="Poppins" pitchFamily="2" charset="77"/>
                </a:endParaRP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cs typeface="Poppins" pitchFamily="2" charset="77"/>
                        </a:rPr>
                        <m:t>𝐼</m:t>
                      </m:r>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𝑃</m:t>
                          </m:r>
                        </m:e>
                        <m:sub>
                          <m:r>
                            <a:rPr lang="es-ES" sz="1800" b="0" i="1" smtClean="0">
                              <a:latin typeface="Cambria Math" panose="02040503050406030204" pitchFamily="18" charset="0"/>
                              <a:cs typeface="Poppins" pitchFamily="2" charset="77"/>
                            </a:rPr>
                            <m:t>𝐿</m:t>
                          </m:r>
                        </m:sub>
                      </m:sSub>
                      <m:r>
                        <a:rPr lang="es-ES" sz="1800" i="1" smtClean="0">
                          <a:latin typeface="Cambria Math" panose="02040503050406030204" pitchFamily="18" charset="0"/>
                          <a:cs typeface="Poppins" pitchFamily="2" charset="77"/>
                        </a:rPr>
                        <m:t>=</m:t>
                      </m:r>
                      <m:f>
                        <m:fPr>
                          <m:ctrlPr>
                            <a:rPr lang="es-ES" sz="1800" b="0" i="1" smtClean="0">
                              <a:latin typeface="Cambria Math" panose="02040503050406030204" pitchFamily="18" charset="0"/>
                              <a:cs typeface="Poppins" pitchFamily="2" charset="77"/>
                            </a:rPr>
                          </m:ctrlPr>
                        </m:fPr>
                        <m:num>
                          <m:r>
                            <a:rPr lang="es-ES" sz="1800" b="0" i="1" smtClean="0">
                              <a:latin typeface="Cambria Math" panose="02040503050406030204" pitchFamily="18" charset="0"/>
                              <a:cs typeface="Poppins" pitchFamily="2" charset="77"/>
                            </a:rPr>
                            <m:t>∑</m:t>
                          </m:r>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𝑝</m:t>
                              </m:r>
                            </m:e>
                            <m:sub>
                              <m:r>
                                <a:rPr lang="es-ES" sz="1800" b="0" i="1" smtClean="0">
                                  <a:latin typeface="Cambria Math" panose="02040503050406030204" pitchFamily="18" charset="0"/>
                                  <a:cs typeface="Poppins" pitchFamily="2" charset="77"/>
                                </a:rPr>
                                <m:t>1</m:t>
                              </m:r>
                            </m:sub>
                          </m:sSub>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𝑞</m:t>
                              </m:r>
                            </m:e>
                            <m:sub>
                              <m:r>
                                <a:rPr lang="es-ES" sz="1800" b="0" i="1" smtClean="0">
                                  <a:latin typeface="Cambria Math" panose="02040503050406030204" pitchFamily="18" charset="0"/>
                                  <a:cs typeface="Poppins" pitchFamily="2" charset="77"/>
                                </a:rPr>
                                <m:t>0</m:t>
                              </m:r>
                            </m:sub>
                          </m:sSub>
                        </m:num>
                        <m:den>
                          <m:r>
                            <a:rPr lang="es-ES" sz="1800" i="1">
                              <a:latin typeface="Cambria Math" panose="02040503050406030204" pitchFamily="18" charset="0"/>
                              <a:cs typeface="Poppins" pitchFamily="2" charset="77"/>
                            </a:rPr>
                            <m:t>∑</m:t>
                          </m:r>
                          <m:sSub>
                            <m:sSubPr>
                              <m:ctrlPr>
                                <a:rPr lang="es-ES" sz="1800" i="1">
                                  <a:latin typeface="Cambria Math" panose="02040503050406030204" pitchFamily="18" charset="0"/>
                                  <a:cs typeface="Poppins" pitchFamily="2" charset="77"/>
                                </a:rPr>
                              </m:ctrlPr>
                            </m:sSubPr>
                            <m:e>
                              <m:r>
                                <a:rPr lang="es-ES" sz="1800" i="1">
                                  <a:latin typeface="Cambria Math" panose="02040503050406030204" pitchFamily="18" charset="0"/>
                                  <a:cs typeface="Poppins" pitchFamily="2" charset="77"/>
                                </a:rPr>
                                <m:t>𝑝</m:t>
                              </m:r>
                            </m:e>
                            <m:sub>
                              <m:r>
                                <a:rPr lang="es-ES" sz="1800" b="0" i="1" smtClean="0">
                                  <a:latin typeface="Cambria Math" panose="02040503050406030204" pitchFamily="18" charset="0"/>
                                  <a:cs typeface="Poppins" pitchFamily="2" charset="77"/>
                                </a:rPr>
                                <m:t>0</m:t>
                              </m:r>
                            </m:sub>
                          </m:sSub>
                          <m:sSub>
                            <m:sSubPr>
                              <m:ctrlPr>
                                <a:rPr lang="es-ES" sz="1800" i="1">
                                  <a:latin typeface="Cambria Math" panose="02040503050406030204" pitchFamily="18" charset="0"/>
                                  <a:cs typeface="Poppins" pitchFamily="2" charset="77"/>
                                </a:rPr>
                              </m:ctrlPr>
                            </m:sSubPr>
                            <m:e>
                              <m:r>
                                <a:rPr lang="es-ES" sz="1800" i="1">
                                  <a:latin typeface="Cambria Math" panose="02040503050406030204" pitchFamily="18" charset="0"/>
                                  <a:cs typeface="Poppins" pitchFamily="2" charset="77"/>
                                </a:rPr>
                                <m:t>𝑞</m:t>
                              </m:r>
                            </m:e>
                            <m:sub>
                              <m:r>
                                <a:rPr lang="es-ES" sz="1800" i="1">
                                  <a:latin typeface="Cambria Math" panose="02040503050406030204" pitchFamily="18" charset="0"/>
                                  <a:cs typeface="Poppins" pitchFamily="2" charset="77"/>
                                </a:rPr>
                                <m:t>0</m:t>
                              </m:r>
                            </m:sub>
                          </m:sSub>
                        </m:den>
                      </m:f>
                      <m:r>
                        <a:rPr lang="es-ES" sz="1800" b="0" i="1" smtClean="0">
                          <a:latin typeface="Cambria Math" panose="02040503050406030204" pitchFamily="18" charset="0"/>
                          <a:cs typeface="Poppins" pitchFamily="2" charset="77"/>
                        </a:rPr>
                        <m:t>=</m:t>
                      </m:r>
                      <m:f>
                        <m:fPr>
                          <m:ctrlPr>
                            <a:rPr lang="es-ES" sz="1800" b="0" i="1" smtClean="0">
                              <a:latin typeface="Cambria Math" panose="02040503050406030204" pitchFamily="18" charset="0"/>
                              <a:cs typeface="Poppins" pitchFamily="2" charset="77"/>
                            </a:rPr>
                          </m:ctrlPr>
                        </m:fPr>
                        <m:num>
                          <m:r>
                            <a:rPr lang="es-ES" sz="1800" i="1">
                              <a:latin typeface="Cambria Math" panose="02040503050406030204" pitchFamily="18" charset="0"/>
                              <a:cs typeface="Poppins" pitchFamily="2" charset="77"/>
                            </a:rPr>
                            <m:t>𝑃𝑟𝑒𝑐𝑖𝑜𝑠</m:t>
                          </m:r>
                          <m:r>
                            <a:rPr lang="es-ES" sz="1800" i="1">
                              <a:latin typeface="Cambria Math" panose="02040503050406030204" pitchFamily="18" charset="0"/>
                              <a:cs typeface="Poppins" pitchFamily="2" charset="77"/>
                            </a:rPr>
                            <m:t> </m:t>
                          </m:r>
                          <m:r>
                            <a:rPr lang="es-ES" sz="1800" i="1">
                              <a:latin typeface="Cambria Math" panose="02040503050406030204" pitchFamily="18" charset="0"/>
                              <a:cs typeface="Poppins" pitchFamily="2" charset="77"/>
                            </a:rPr>
                            <m:t>𝑛𝑢𝑒𝑣𝑜𝑠</m:t>
                          </m:r>
                          <m:r>
                            <a:rPr lang="es-ES" sz="1800" i="1">
                              <a:latin typeface="Cambria Math" panose="02040503050406030204" pitchFamily="18" charset="0"/>
                              <a:cs typeface="Poppins" pitchFamily="2" charset="77"/>
                            </a:rPr>
                            <m:t> ∗</m:t>
                          </m:r>
                          <m:r>
                            <a:rPr lang="es-ES" sz="1800" i="1">
                              <a:latin typeface="Cambria Math" panose="02040503050406030204" pitchFamily="18" charset="0"/>
                              <a:cs typeface="Poppins" pitchFamily="2" charset="77"/>
                            </a:rPr>
                            <m:t>𝐶𝑎𝑛𝑡𝑖𝑑𝑎𝑑𝑒𝑠</m:t>
                          </m:r>
                          <m:r>
                            <a:rPr lang="es-ES" sz="1800" b="0" i="1" smtClean="0">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𝑣𝑖𝑒𝑗𝑎𝑠</m:t>
                          </m:r>
                        </m:num>
                        <m:den>
                          <m:r>
                            <a:rPr lang="es-ES" sz="1800" i="1">
                              <a:latin typeface="Cambria Math" panose="02040503050406030204" pitchFamily="18" charset="0"/>
                              <a:cs typeface="Poppins" pitchFamily="2" charset="77"/>
                            </a:rPr>
                            <m:t>𝑃𝑟𝑒𝑐𝑖𝑜𝑠</m:t>
                          </m:r>
                          <m:r>
                            <a:rPr lang="es-ES" sz="1800" i="1">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𝑣𝑖𝑒𝑗𝑜𝑠</m:t>
                          </m:r>
                          <m:r>
                            <a:rPr lang="es-ES" sz="1800" i="1">
                              <a:latin typeface="Cambria Math" panose="02040503050406030204" pitchFamily="18" charset="0"/>
                              <a:cs typeface="Poppins" pitchFamily="2" charset="77"/>
                            </a:rPr>
                            <m:t> ∗</m:t>
                          </m:r>
                          <m:r>
                            <a:rPr lang="es-ES" sz="1800" i="1">
                              <a:latin typeface="Cambria Math" panose="02040503050406030204" pitchFamily="18" charset="0"/>
                              <a:cs typeface="Poppins" pitchFamily="2" charset="77"/>
                            </a:rPr>
                            <m:t>𝐶𝑎𝑛𝑡𝑖𝑑𝑎𝑑𝑒𝑠</m:t>
                          </m:r>
                          <m:r>
                            <a:rPr lang="es-ES" sz="1800" i="1">
                              <a:latin typeface="Cambria Math" panose="02040503050406030204" pitchFamily="18" charset="0"/>
                              <a:cs typeface="Poppins" pitchFamily="2" charset="77"/>
                            </a:rPr>
                            <m:t> </m:t>
                          </m:r>
                          <m:r>
                            <a:rPr lang="es-ES" sz="1800" i="1">
                              <a:latin typeface="Cambria Math" panose="02040503050406030204" pitchFamily="18" charset="0"/>
                              <a:cs typeface="Poppins" pitchFamily="2" charset="77"/>
                            </a:rPr>
                            <m:t>𝑣𝑖𝑒𝑗𝑎𝑠</m:t>
                          </m:r>
                        </m:den>
                      </m:f>
                    </m:oMath>
                  </m:oMathPara>
                </a14:m>
                <a:endParaRPr lang="es-ES" sz="1800" dirty="0">
                  <a:latin typeface="Calibri "/>
                  <a:cs typeface="Poppins" pitchFamily="2" charset="77"/>
                </a:endParaRP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Es el índice que se utiliza para calcular el IPC. En base al IPC, la inflación se define como:</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cs typeface="Poppins" pitchFamily="2" charset="77"/>
                        </a:rPr>
                        <m:t>𝐼𝑛𝑓𝑙𝑎𝑐𝑖</m:t>
                      </m:r>
                      <m:r>
                        <a:rPr lang="es-ES" sz="1800" b="0" i="1" smtClean="0">
                          <a:latin typeface="Cambria Math" panose="02040503050406030204" pitchFamily="18" charset="0"/>
                          <a:cs typeface="Poppins" pitchFamily="2" charset="77"/>
                        </a:rPr>
                        <m:t>ó</m:t>
                      </m:r>
                      <m:r>
                        <a:rPr lang="es-ES" sz="1800" b="0" i="1" smtClean="0">
                          <a:latin typeface="Cambria Math" panose="02040503050406030204" pitchFamily="18" charset="0"/>
                          <a:cs typeface="Poppins" pitchFamily="2" charset="77"/>
                        </a:rPr>
                        <m:t>𝑛</m:t>
                      </m:r>
                      <m:r>
                        <a:rPr lang="es-ES" sz="1800" i="1" smtClean="0">
                          <a:latin typeface="Cambria Math" panose="02040503050406030204" pitchFamily="18" charset="0"/>
                          <a:cs typeface="Poppins" pitchFamily="2" charset="77"/>
                        </a:rPr>
                        <m:t>=</m:t>
                      </m:r>
                      <m:f>
                        <m:fPr>
                          <m:ctrlPr>
                            <a:rPr lang="es-ES" sz="1800" b="0" i="1" smtClean="0">
                              <a:latin typeface="Cambria Math" panose="02040503050406030204" pitchFamily="18" charset="0"/>
                              <a:cs typeface="Poppins" pitchFamily="2" charset="77"/>
                            </a:rPr>
                          </m:ctrlPr>
                        </m:fPr>
                        <m:num>
                          <m:r>
                            <a:rPr lang="es-ES" sz="1800" b="0" i="1" smtClean="0">
                              <a:latin typeface="Cambria Math" panose="02040503050406030204" pitchFamily="18" charset="0"/>
                              <a:cs typeface="Poppins" pitchFamily="2" charset="77"/>
                            </a:rPr>
                            <m:t>𝐼𝑃</m:t>
                          </m:r>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𝐶</m:t>
                              </m:r>
                            </m:e>
                            <m:sub>
                              <m:r>
                                <a:rPr lang="es-ES" sz="1800" b="0" i="1" smtClean="0">
                                  <a:latin typeface="Cambria Math" panose="02040503050406030204" pitchFamily="18" charset="0"/>
                                  <a:cs typeface="Poppins" pitchFamily="2" charset="77"/>
                                </a:rPr>
                                <m:t>1</m:t>
                              </m:r>
                            </m:sub>
                          </m:sSub>
                          <m:r>
                            <a:rPr lang="es-ES" sz="1800" b="0" i="1" smtClean="0">
                              <a:latin typeface="Cambria Math" panose="02040503050406030204" pitchFamily="18" charset="0"/>
                              <a:cs typeface="Poppins" pitchFamily="2" charset="77"/>
                            </a:rPr>
                            <m:t>−</m:t>
                          </m:r>
                          <m:r>
                            <a:rPr lang="es-ES" sz="1800" b="0" i="1" smtClean="0">
                              <a:latin typeface="Cambria Math" panose="02040503050406030204" pitchFamily="18" charset="0"/>
                              <a:cs typeface="Poppins" pitchFamily="2" charset="77"/>
                            </a:rPr>
                            <m:t>𝐼𝑃</m:t>
                          </m:r>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𝐶</m:t>
                              </m:r>
                            </m:e>
                            <m:sub>
                              <m:r>
                                <a:rPr lang="es-ES" sz="1800" b="0" i="1" smtClean="0">
                                  <a:latin typeface="Cambria Math" panose="02040503050406030204" pitchFamily="18" charset="0"/>
                                  <a:cs typeface="Poppins" pitchFamily="2" charset="77"/>
                                </a:rPr>
                                <m:t>0</m:t>
                              </m:r>
                            </m:sub>
                          </m:sSub>
                        </m:num>
                        <m:den>
                          <m:r>
                            <a:rPr lang="es-ES" sz="1800" b="0" i="1" smtClean="0">
                              <a:latin typeface="Cambria Math" panose="02040503050406030204" pitchFamily="18" charset="0"/>
                              <a:cs typeface="Poppins" pitchFamily="2" charset="77"/>
                            </a:rPr>
                            <m:t>𝐼𝑃</m:t>
                          </m:r>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𝐶</m:t>
                              </m:r>
                            </m:e>
                            <m:sub>
                              <m:r>
                                <a:rPr lang="es-ES" sz="1800" b="0" i="1" smtClean="0">
                                  <a:latin typeface="Cambria Math" panose="02040503050406030204" pitchFamily="18" charset="0"/>
                                  <a:cs typeface="Poppins" pitchFamily="2" charset="77"/>
                                </a:rPr>
                                <m:t>0</m:t>
                              </m:r>
                            </m:sub>
                          </m:sSub>
                        </m:den>
                      </m:f>
                    </m:oMath>
                  </m:oMathPara>
                </a14:m>
                <a:endParaRPr lang="es-ES" sz="1800" dirty="0">
                  <a:latin typeface="Calibri "/>
                  <a:cs typeface="Poppins" pitchFamily="2" charset="77"/>
                </a:endParaRPr>
              </a:p>
              <a:p>
                <a:pPr algn="just">
                  <a:lnSpc>
                    <a:spcPct val="100000"/>
                  </a:lnSpc>
                  <a:spcBef>
                    <a:spcPts val="20"/>
                  </a:spcBef>
                </a:pPr>
                <a:endParaRPr lang="es-ES" sz="1800" dirty="0">
                  <a:latin typeface="Calibri "/>
                  <a:cs typeface="Poppins" pitchFamily="2" charset="77"/>
                </a:endParaRPr>
              </a:p>
            </p:txBody>
          </p:sp>
        </mc:Choice>
        <mc:Fallback xmlns="">
          <p:sp>
            <p:nvSpPr>
              <p:cNvPr id="5" name="CustomShape 2">
                <a:extLst>
                  <a:ext uri="{FF2B5EF4-FFF2-40B4-BE49-F238E27FC236}">
                    <a16:creationId xmlns:a16="http://schemas.microsoft.com/office/drawing/2014/main" id="{6206480F-228F-1976-7163-A17F9ACD1B3E}"/>
                  </a:ext>
                </a:extLst>
              </p:cNvPr>
              <p:cNvSpPr>
                <a:spLocks noRot="1" noChangeAspect="1" noMove="1" noResize="1" noEditPoints="1" noAdjustHandles="1" noChangeArrowheads="1" noChangeShapeType="1" noTextEdit="1"/>
              </p:cNvSpPr>
              <p:nvPr/>
            </p:nvSpPr>
            <p:spPr>
              <a:xfrm>
                <a:off x="352080" y="2404086"/>
                <a:ext cx="11520130" cy="2696785"/>
              </a:xfrm>
              <a:prstGeom prst="rect">
                <a:avLst/>
              </a:prstGeom>
              <a:blipFill>
                <a:blip r:embed="rId2"/>
                <a:stretch>
                  <a:fillRect l="-476" t="-1129"/>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5101493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52CC8-D33D-E0D8-1E3A-47B4D1C14759}"/>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594CD836-5603-F470-0E63-BF045A80CB74}"/>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Variables nominales</a:t>
            </a:r>
            <a:r>
              <a:rPr lang="es-CL" sz="4400" b="1" spc="-1" dirty="0">
                <a:solidFill>
                  <a:srgbClr val="0034D9"/>
                </a:solidFill>
                <a:latin typeface="TT Wellingtons" panose="02000503020000020004" pitchFamily="2" charset="77"/>
                <a:ea typeface="DejaVu Sans"/>
              </a:rPr>
              <a:t> y</a:t>
            </a:r>
            <a:r>
              <a:rPr lang="es-CL" sz="4400" b="1" spc="-1" noProof="0" dirty="0">
                <a:solidFill>
                  <a:srgbClr val="0034D9"/>
                </a:solidFill>
                <a:latin typeface="TT Wellingtons" panose="02000503020000020004" pitchFamily="2" charset="77"/>
                <a:ea typeface="DejaVu Sans"/>
              </a:rPr>
              <a:t> reales</a:t>
            </a:r>
          </a:p>
        </p:txBody>
      </p:sp>
      <p:sp>
        <p:nvSpPr>
          <p:cNvPr id="6" name="CustomShape 1">
            <a:extLst>
              <a:ext uri="{FF2B5EF4-FFF2-40B4-BE49-F238E27FC236}">
                <a16:creationId xmlns:a16="http://schemas.microsoft.com/office/drawing/2014/main" id="{8008A7C6-97C5-B126-C1D0-AFF66F7DDB56}"/>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Medidas del alza de los precios</a:t>
            </a:r>
          </a:p>
        </p:txBody>
      </p:sp>
      <mc:AlternateContent xmlns:mc="http://schemas.openxmlformats.org/markup-compatibility/2006" xmlns:a14="http://schemas.microsoft.com/office/drawing/2010/main">
        <mc:Choice Requires="a14">
          <p:sp>
            <p:nvSpPr>
              <p:cNvPr id="5" name="CustomShape 2">
                <a:extLst>
                  <a:ext uri="{FF2B5EF4-FFF2-40B4-BE49-F238E27FC236}">
                    <a16:creationId xmlns:a16="http://schemas.microsoft.com/office/drawing/2014/main" id="{8B056E23-F0CC-09C2-9969-148F24DE6EE0}"/>
                  </a:ext>
                </a:extLst>
              </p:cNvPr>
              <p:cNvSpPr/>
              <p:nvPr/>
            </p:nvSpPr>
            <p:spPr>
              <a:xfrm>
                <a:off x="352080" y="240408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alibri "/>
                    <a:cs typeface="Poppins" pitchFamily="2" charset="77"/>
                  </a:rPr>
                  <a:t>Índice de Paasche</a:t>
                </a:r>
              </a:p>
              <a:p>
                <a:pPr marL="457200" indent="-457200" algn="just">
                  <a:lnSpc>
                    <a:spcPct val="100000"/>
                  </a:lnSpc>
                  <a:spcBef>
                    <a:spcPts val="20"/>
                  </a:spcBef>
                  <a:buFont typeface="Arial" panose="020B0604020202020204" pitchFamily="34" charset="0"/>
                  <a:buChar char="•"/>
                </a:pPr>
                <a:endParaRPr lang="es-ES" sz="1800" dirty="0">
                  <a:latin typeface="Calibri "/>
                  <a:cs typeface="Poppins" pitchFamily="2" charset="77"/>
                </a:endParaRP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cs typeface="Poppins" pitchFamily="2" charset="77"/>
                        </a:rPr>
                        <m:t>𝐼</m:t>
                      </m:r>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𝑃</m:t>
                          </m:r>
                        </m:e>
                        <m:sub>
                          <m:r>
                            <a:rPr lang="es-ES" sz="1800" b="0" i="1" smtClean="0">
                              <a:latin typeface="Cambria Math" panose="02040503050406030204" pitchFamily="18" charset="0"/>
                              <a:cs typeface="Poppins" pitchFamily="2" charset="77"/>
                            </a:rPr>
                            <m:t>𝑃</m:t>
                          </m:r>
                        </m:sub>
                      </m:sSub>
                      <m:r>
                        <a:rPr lang="es-ES" sz="1800" i="1" smtClean="0">
                          <a:latin typeface="Cambria Math" panose="02040503050406030204" pitchFamily="18" charset="0"/>
                          <a:cs typeface="Poppins" pitchFamily="2" charset="77"/>
                        </a:rPr>
                        <m:t>=</m:t>
                      </m:r>
                      <m:f>
                        <m:fPr>
                          <m:ctrlPr>
                            <a:rPr lang="es-ES" sz="1800" b="0" i="1" smtClean="0">
                              <a:latin typeface="Cambria Math" panose="02040503050406030204" pitchFamily="18" charset="0"/>
                              <a:cs typeface="Poppins" pitchFamily="2" charset="77"/>
                            </a:rPr>
                          </m:ctrlPr>
                        </m:fPr>
                        <m:num>
                          <m:r>
                            <a:rPr lang="es-ES" sz="1800" b="0" i="1" smtClean="0">
                              <a:latin typeface="Cambria Math" panose="02040503050406030204" pitchFamily="18" charset="0"/>
                              <a:cs typeface="Poppins" pitchFamily="2" charset="77"/>
                            </a:rPr>
                            <m:t>∑</m:t>
                          </m:r>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𝑝</m:t>
                              </m:r>
                            </m:e>
                            <m:sub>
                              <m:r>
                                <a:rPr lang="es-ES" sz="1800" b="0" i="1" smtClean="0">
                                  <a:latin typeface="Cambria Math" panose="02040503050406030204" pitchFamily="18" charset="0"/>
                                  <a:cs typeface="Poppins" pitchFamily="2" charset="77"/>
                                </a:rPr>
                                <m:t>1</m:t>
                              </m:r>
                              <m:r>
                                <a:rPr lang="es-ES" sz="1800" b="0" i="1" smtClean="0">
                                  <a:latin typeface="Cambria Math" panose="02040503050406030204" pitchFamily="18" charset="0"/>
                                  <a:cs typeface="Poppins" pitchFamily="2" charset="77"/>
                                </a:rPr>
                                <m:t>𝑖</m:t>
                              </m:r>
                            </m:sub>
                          </m:sSub>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𝑞</m:t>
                              </m:r>
                            </m:e>
                            <m:sub>
                              <m:r>
                                <a:rPr lang="es-ES" sz="1800" b="0" i="1" smtClean="0">
                                  <a:latin typeface="Cambria Math" panose="02040503050406030204" pitchFamily="18" charset="0"/>
                                  <a:cs typeface="Poppins" pitchFamily="2" charset="77"/>
                                </a:rPr>
                                <m:t>1</m:t>
                              </m:r>
                              <m:r>
                                <a:rPr lang="es-ES" sz="1800" b="0" i="1" smtClean="0">
                                  <a:latin typeface="Cambria Math" panose="02040503050406030204" pitchFamily="18" charset="0"/>
                                  <a:cs typeface="Poppins" pitchFamily="2" charset="77"/>
                                </a:rPr>
                                <m:t>𝑖</m:t>
                              </m:r>
                            </m:sub>
                          </m:sSub>
                        </m:num>
                        <m:den>
                          <m:r>
                            <a:rPr lang="es-ES" sz="1800" i="1">
                              <a:latin typeface="Cambria Math" panose="02040503050406030204" pitchFamily="18" charset="0"/>
                              <a:cs typeface="Poppins" pitchFamily="2" charset="77"/>
                            </a:rPr>
                            <m:t>∑</m:t>
                          </m:r>
                          <m:sSub>
                            <m:sSubPr>
                              <m:ctrlPr>
                                <a:rPr lang="es-ES" sz="1800" i="1">
                                  <a:latin typeface="Cambria Math" panose="02040503050406030204" pitchFamily="18" charset="0"/>
                                  <a:cs typeface="Poppins" pitchFamily="2" charset="77"/>
                                </a:rPr>
                              </m:ctrlPr>
                            </m:sSubPr>
                            <m:e>
                              <m:r>
                                <a:rPr lang="es-ES" sz="1800" i="1">
                                  <a:latin typeface="Cambria Math" panose="02040503050406030204" pitchFamily="18" charset="0"/>
                                  <a:cs typeface="Poppins" pitchFamily="2" charset="77"/>
                                </a:rPr>
                                <m:t>𝑝</m:t>
                              </m:r>
                            </m:e>
                            <m:sub>
                              <m:r>
                                <a:rPr lang="es-ES" sz="1800" b="0" i="1" smtClean="0">
                                  <a:latin typeface="Cambria Math" panose="02040503050406030204" pitchFamily="18" charset="0"/>
                                  <a:cs typeface="Poppins" pitchFamily="2" charset="77"/>
                                </a:rPr>
                                <m:t>0</m:t>
                              </m:r>
                              <m:r>
                                <a:rPr lang="es-ES" sz="1800" b="0" i="1" smtClean="0">
                                  <a:latin typeface="Cambria Math" panose="02040503050406030204" pitchFamily="18" charset="0"/>
                                  <a:cs typeface="Poppins" pitchFamily="2" charset="77"/>
                                </a:rPr>
                                <m:t>𝑖</m:t>
                              </m:r>
                            </m:sub>
                          </m:sSub>
                          <m:sSub>
                            <m:sSubPr>
                              <m:ctrlPr>
                                <a:rPr lang="es-ES" sz="1800" i="1">
                                  <a:latin typeface="Cambria Math" panose="02040503050406030204" pitchFamily="18" charset="0"/>
                                  <a:cs typeface="Poppins" pitchFamily="2" charset="77"/>
                                </a:rPr>
                              </m:ctrlPr>
                            </m:sSubPr>
                            <m:e>
                              <m:r>
                                <a:rPr lang="es-ES" sz="1800" i="1">
                                  <a:latin typeface="Cambria Math" panose="02040503050406030204" pitchFamily="18" charset="0"/>
                                  <a:cs typeface="Poppins" pitchFamily="2" charset="77"/>
                                </a:rPr>
                                <m:t>𝑞</m:t>
                              </m:r>
                            </m:e>
                            <m:sub>
                              <m:r>
                                <a:rPr lang="es-ES" sz="1800" b="0" i="1" smtClean="0">
                                  <a:latin typeface="Cambria Math" panose="02040503050406030204" pitchFamily="18" charset="0"/>
                                  <a:cs typeface="Poppins" pitchFamily="2" charset="77"/>
                                </a:rPr>
                                <m:t>1</m:t>
                              </m:r>
                              <m:r>
                                <a:rPr lang="es-ES" sz="1800" b="0" i="1" smtClean="0">
                                  <a:latin typeface="Cambria Math" panose="02040503050406030204" pitchFamily="18" charset="0"/>
                                  <a:cs typeface="Poppins" pitchFamily="2" charset="77"/>
                                </a:rPr>
                                <m:t>𝑖</m:t>
                              </m:r>
                            </m:sub>
                          </m:sSub>
                        </m:den>
                      </m:f>
                      <m:r>
                        <a:rPr lang="es-ES" sz="1800" b="0" i="1" smtClean="0">
                          <a:latin typeface="Cambria Math" panose="02040503050406030204" pitchFamily="18" charset="0"/>
                          <a:cs typeface="Poppins" pitchFamily="2" charset="77"/>
                        </a:rPr>
                        <m:t>=</m:t>
                      </m:r>
                      <m:f>
                        <m:fPr>
                          <m:ctrlPr>
                            <a:rPr lang="es-ES" sz="1800" b="0" i="1" smtClean="0">
                              <a:latin typeface="Cambria Math" panose="02040503050406030204" pitchFamily="18" charset="0"/>
                              <a:cs typeface="Poppins" pitchFamily="2" charset="77"/>
                            </a:rPr>
                          </m:ctrlPr>
                        </m:fPr>
                        <m:num>
                          <m:r>
                            <a:rPr lang="es-ES" sz="1800" i="1">
                              <a:latin typeface="Cambria Math" panose="02040503050406030204" pitchFamily="18" charset="0"/>
                              <a:cs typeface="Poppins" pitchFamily="2" charset="77"/>
                            </a:rPr>
                            <m:t>𝑃𝑟𝑒𝑐𝑖𝑜𝑠</m:t>
                          </m:r>
                          <m:r>
                            <a:rPr lang="es-ES" sz="1800" i="1">
                              <a:latin typeface="Cambria Math" panose="02040503050406030204" pitchFamily="18" charset="0"/>
                              <a:cs typeface="Poppins" pitchFamily="2" charset="77"/>
                            </a:rPr>
                            <m:t> </m:t>
                          </m:r>
                          <m:r>
                            <a:rPr lang="es-ES" sz="1800" i="1">
                              <a:latin typeface="Cambria Math" panose="02040503050406030204" pitchFamily="18" charset="0"/>
                              <a:cs typeface="Poppins" pitchFamily="2" charset="77"/>
                            </a:rPr>
                            <m:t>𝑛𝑢𝑒𝑣𝑜𝑠</m:t>
                          </m:r>
                          <m:r>
                            <a:rPr lang="es-ES" sz="1800" i="1">
                              <a:latin typeface="Cambria Math" panose="02040503050406030204" pitchFamily="18" charset="0"/>
                              <a:cs typeface="Poppins" pitchFamily="2" charset="77"/>
                            </a:rPr>
                            <m:t> ∗</m:t>
                          </m:r>
                          <m:r>
                            <a:rPr lang="es-ES" sz="1800" i="1">
                              <a:latin typeface="Cambria Math" panose="02040503050406030204" pitchFamily="18" charset="0"/>
                              <a:cs typeface="Poppins" pitchFamily="2" charset="77"/>
                            </a:rPr>
                            <m:t>𝐶𝑎𝑛𝑡𝑖𝑑𝑎𝑑𝑒𝑠</m:t>
                          </m:r>
                          <m:r>
                            <a:rPr lang="es-ES" sz="1800" b="0" i="1" smtClean="0">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𝑛𝑢𝑒𝑣𝑎𝑠</m:t>
                          </m:r>
                        </m:num>
                        <m:den>
                          <m:r>
                            <a:rPr lang="es-ES" sz="1800" i="1">
                              <a:latin typeface="Cambria Math" panose="02040503050406030204" pitchFamily="18" charset="0"/>
                              <a:cs typeface="Poppins" pitchFamily="2" charset="77"/>
                            </a:rPr>
                            <m:t>𝑃𝑟𝑒𝑐𝑖𝑜𝑠</m:t>
                          </m:r>
                          <m:r>
                            <a:rPr lang="es-ES" sz="1800" i="1">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𝑣𝑖𝑒𝑗𝑜𝑠</m:t>
                          </m:r>
                          <m:r>
                            <a:rPr lang="es-ES" sz="1800" i="1">
                              <a:latin typeface="Cambria Math" panose="02040503050406030204" pitchFamily="18" charset="0"/>
                              <a:cs typeface="Poppins" pitchFamily="2" charset="77"/>
                            </a:rPr>
                            <m:t> ∗</m:t>
                          </m:r>
                          <m:r>
                            <a:rPr lang="es-ES" sz="1800" i="1">
                              <a:latin typeface="Cambria Math" panose="02040503050406030204" pitchFamily="18" charset="0"/>
                              <a:cs typeface="Poppins" pitchFamily="2" charset="77"/>
                            </a:rPr>
                            <m:t>𝐶𝑎𝑛𝑡𝑖𝑑𝑎𝑑𝑒𝑠</m:t>
                          </m:r>
                          <m:r>
                            <a:rPr lang="es-ES" sz="1800" i="1">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𝑛𝑢𝑒𝑣𝑎𝑠</m:t>
                          </m:r>
                        </m:den>
                      </m:f>
                    </m:oMath>
                  </m:oMathPara>
                </a14:m>
                <a:endParaRPr lang="es-ES" sz="1800" dirty="0">
                  <a:latin typeface="Calibri "/>
                  <a:cs typeface="Poppins" pitchFamily="2" charset="77"/>
                </a:endParaRP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Es el índice que se utiliza para calcular deflactor del PIB:</a:t>
                </a: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cs typeface="Poppins" pitchFamily="2" charset="77"/>
                        </a:rPr>
                        <m:t>𝐷</m:t>
                      </m:r>
                      <m:r>
                        <a:rPr lang="es-ES" sz="1800" i="1" smtClean="0">
                          <a:latin typeface="Cambria Math" panose="02040503050406030204" pitchFamily="18" charset="0"/>
                          <a:cs typeface="Poppins" pitchFamily="2" charset="77"/>
                        </a:rPr>
                        <m:t>=</m:t>
                      </m:r>
                      <m:f>
                        <m:fPr>
                          <m:ctrlPr>
                            <a:rPr lang="es-ES" sz="1800" b="0" i="1" smtClean="0">
                              <a:latin typeface="Cambria Math" panose="02040503050406030204" pitchFamily="18" charset="0"/>
                              <a:cs typeface="Poppins" pitchFamily="2" charset="77"/>
                            </a:rPr>
                          </m:ctrlPr>
                        </m:fPr>
                        <m:num>
                          <m:r>
                            <a:rPr lang="es-ES" sz="1800" b="0" i="1" smtClean="0">
                              <a:latin typeface="Cambria Math" panose="02040503050406030204" pitchFamily="18" charset="0"/>
                              <a:cs typeface="Poppins" pitchFamily="2" charset="77"/>
                            </a:rPr>
                            <m:t>𝑃𝐼</m:t>
                          </m:r>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𝐵</m:t>
                              </m:r>
                            </m:e>
                            <m:sub>
                              <m:r>
                                <a:rPr lang="es-ES" sz="1800" b="0" i="1" smtClean="0">
                                  <a:latin typeface="Cambria Math" panose="02040503050406030204" pitchFamily="18" charset="0"/>
                                  <a:cs typeface="Poppins" pitchFamily="2" charset="77"/>
                                </a:rPr>
                                <m:t>𝑁𝑜𝑚𝑖𝑛𝑎𝑙</m:t>
                              </m:r>
                            </m:sub>
                          </m:sSub>
                        </m:num>
                        <m:den>
                          <m:r>
                            <a:rPr lang="es-ES" sz="1800" b="0" i="1" smtClean="0">
                              <a:latin typeface="Cambria Math" panose="02040503050406030204" pitchFamily="18" charset="0"/>
                              <a:cs typeface="Poppins" pitchFamily="2" charset="77"/>
                            </a:rPr>
                            <m:t>𝑃𝐼</m:t>
                          </m:r>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𝐵</m:t>
                              </m:r>
                            </m:e>
                            <m:sub>
                              <m:r>
                                <a:rPr lang="es-ES" sz="1800" b="0" i="1" smtClean="0">
                                  <a:latin typeface="Cambria Math" panose="02040503050406030204" pitchFamily="18" charset="0"/>
                                  <a:cs typeface="Poppins" pitchFamily="2" charset="77"/>
                                </a:rPr>
                                <m:t>𝑅𝑒𝑎𝑙</m:t>
                              </m:r>
                            </m:sub>
                          </m:sSub>
                        </m:den>
                      </m:f>
                    </m:oMath>
                  </m:oMathPara>
                </a14:m>
                <a:endParaRPr lang="es-ES" sz="1800" dirty="0">
                  <a:latin typeface="Calibri "/>
                  <a:cs typeface="Poppins" pitchFamily="2" charset="77"/>
                </a:endParaRP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Donde la inflación:</a:t>
                </a: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cs typeface="Poppins" pitchFamily="2" charset="77"/>
                        </a:rPr>
                        <m:t>𝐼𝑛𝑓𝑙𝑎𝑐𝑖</m:t>
                      </m:r>
                      <m:r>
                        <a:rPr lang="es-ES" sz="1800" b="0" i="1" smtClean="0">
                          <a:latin typeface="Cambria Math" panose="02040503050406030204" pitchFamily="18" charset="0"/>
                          <a:cs typeface="Poppins" pitchFamily="2" charset="77"/>
                        </a:rPr>
                        <m:t>ó</m:t>
                      </m:r>
                      <m:r>
                        <a:rPr lang="es-ES" sz="1800" b="0" i="1" smtClean="0">
                          <a:latin typeface="Cambria Math" panose="02040503050406030204" pitchFamily="18" charset="0"/>
                          <a:cs typeface="Poppins" pitchFamily="2" charset="77"/>
                        </a:rPr>
                        <m:t>𝑛</m:t>
                      </m:r>
                      <m:r>
                        <a:rPr lang="es-ES" sz="1800" i="1" smtClean="0">
                          <a:latin typeface="Cambria Math" panose="02040503050406030204" pitchFamily="18" charset="0"/>
                          <a:cs typeface="Poppins" pitchFamily="2" charset="77"/>
                        </a:rPr>
                        <m:t>=</m:t>
                      </m:r>
                      <m:f>
                        <m:fPr>
                          <m:ctrlPr>
                            <a:rPr lang="es-ES" sz="1800" b="0" i="1" smtClean="0">
                              <a:latin typeface="Cambria Math" panose="02040503050406030204" pitchFamily="18" charset="0"/>
                              <a:cs typeface="Poppins" pitchFamily="2" charset="77"/>
                            </a:rPr>
                          </m:ctrlPr>
                        </m:fPr>
                        <m:num>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𝐷</m:t>
                              </m:r>
                            </m:e>
                            <m:sub>
                              <m:r>
                                <a:rPr lang="es-ES" sz="1800" b="0" i="1" smtClean="0">
                                  <a:latin typeface="Cambria Math" panose="02040503050406030204" pitchFamily="18" charset="0"/>
                                  <a:cs typeface="Poppins" pitchFamily="2" charset="77"/>
                                </a:rPr>
                                <m:t>1</m:t>
                              </m:r>
                            </m:sub>
                          </m:sSub>
                          <m:r>
                            <a:rPr lang="es-ES" sz="1800" b="0" i="1" smtClean="0">
                              <a:latin typeface="Cambria Math" panose="02040503050406030204" pitchFamily="18" charset="0"/>
                              <a:cs typeface="Poppins" pitchFamily="2" charset="77"/>
                            </a:rPr>
                            <m:t>−</m:t>
                          </m:r>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𝐷</m:t>
                              </m:r>
                            </m:e>
                            <m:sub>
                              <m:r>
                                <a:rPr lang="es-ES" sz="1800" b="0" i="1" smtClean="0">
                                  <a:latin typeface="Cambria Math" panose="02040503050406030204" pitchFamily="18" charset="0"/>
                                  <a:cs typeface="Poppins" pitchFamily="2" charset="77"/>
                                </a:rPr>
                                <m:t>0</m:t>
                              </m:r>
                            </m:sub>
                          </m:sSub>
                        </m:num>
                        <m:den>
                          <m:sSub>
                            <m:sSubPr>
                              <m:ctrlPr>
                                <a:rPr lang="es-ES" sz="1800" b="0" i="1" smtClean="0">
                                  <a:latin typeface="Cambria Math" panose="02040503050406030204" pitchFamily="18" charset="0"/>
                                  <a:cs typeface="Poppins" pitchFamily="2" charset="77"/>
                                </a:rPr>
                              </m:ctrlPr>
                            </m:sSubPr>
                            <m:e>
                              <m:r>
                                <a:rPr lang="es-ES" sz="1800" b="0" i="1" smtClean="0">
                                  <a:latin typeface="Cambria Math" panose="02040503050406030204" pitchFamily="18" charset="0"/>
                                  <a:cs typeface="Poppins" pitchFamily="2" charset="77"/>
                                </a:rPr>
                                <m:t>𝐷</m:t>
                              </m:r>
                            </m:e>
                            <m:sub>
                              <m:r>
                                <a:rPr lang="es-ES" sz="1800" b="0" i="1" smtClean="0">
                                  <a:latin typeface="Cambria Math" panose="02040503050406030204" pitchFamily="18" charset="0"/>
                                  <a:cs typeface="Poppins" pitchFamily="2" charset="77"/>
                                </a:rPr>
                                <m:t>0</m:t>
                              </m:r>
                            </m:sub>
                          </m:sSub>
                        </m:den>
                      </m:f>
                    </m:oMath>
                  </m:oMathPara>
                </a14:m>
                <a:endParaRPr lang="es-ES" sz="1800" dirty="0">
                  <a:latin typeface="Calibri "/>
                  <a:cs typeface="Poppins" pitchFamily="2" charset="77"/>
                </a:endParaRPr>
              </a:p>
              <a:p>
                <a:pPr algn="just">
                  <a:spcBef>
                    <a:spcPts val="20"/>
                  </a:spcBef>
                </a:pPr>
                <a:r>
                  <a:rPr lang="es-ES" sz="1800" dirty="0">
                    <a:latin typeface="Calibri "/>
                    <a:cs typeface="Poppins" pitchFamily="2" charset="77"/>
                  </a:rPr>
                  <a:t>Ver ejercicio en Excel </a:t>
                </a:r>
                <a:r>
                  <a:rPr lang="es-CL" sz="1800" dirty="0">
                    <a:latin typeface="Calibri "/>
                    <a:cs typeface="Poppins" pitchFamily="2" charset="77"/>
                  </a:rPr>
                  <a:t>🧮</a:t>
                </a:r>
                <a:endParaRPr lang="es-ES" sz="1800" dirty="0">
                  <a:latin typeface="Calibri "/>
                  <a:cs typeface="Poppins" pitchFamily="2" charset="77"/>
                </a:endParaRPr>
              </a:p>
              <a:p>
                <a:pPr algn="just">
                  <a:lnSpc>
                    <a:spcPct val="100000"/>
                  </a:lnSpc>
                  <a:spcBef>
                    <a:spcPts val="20"/>
                  </a:spcBef>
                </a:pPr>
                <a:endParaRPr lang="es-ES" sz="1800" dirty="0">
                  <a:latin typeface="Calibri "/>
                  <a:cs typeface="Poppins" pitchFamily="2" charset="77"/>
                </a:endParaRPr>
              </a:p>
            </p:txBody>
          </p:sp>
        </mc:Choice>
        <mc:Fallback xmlns="">
          <p:sp>
            <p:nvSpPr>
              <p:cNvPr id="5" name="CustomShape 2">
                <a:extLst>
                  <a:ext uri="{FF2B5EF4-FFF2-40B4-BE49-F238E27FC236}">
                    <a16:creationId xmlns:a16="http://schemas.microsoft.com/office/drawing/2014/main" id="{8B056E23-F0CC-09C2-9969-148F24DE6EE0}"/>
                  </a:ext>
                </a:extLst>
              </p:cNvPr>
              <p:cNvSpPr>
                <a:spLocks noRot="1" noChangeAspect="1" noMove="1" noResize="1" noEditPoints="1" noAdjustHandles="1" noChangeArrowheads="1" noChangeShapeType="1" noTextEdit="1"/>
              </p:cNvSpPr>
              <p:nvPr/>
            </p:nvSpPr>
            <p:spPr>
              <a:xfrm>
                <a:off x="352080" y="2404086"/>
                <a:ext cx="11520130" cy="2696785"/>
              </a:xfrm>
              <a:prstGeom prst="rect">
                <a:avLst/>
              </a:prstGeom>
              <a:blipFill>
                <a:blip r:embed="rId2"/>
                <a:stretch>
                  <a:fillRect l="-476" t="-1129" b="-40632"/>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1713646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43DD9-F77F-32A4-DB72-0F67646531D8}"/>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D60D98B4-9D98-53DC-5866-7D7684C80E28}"/>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Variables nominales</a:t>
            </a:r>
            <a:r>
              <a:rPr lang="es-CL" sz="4400" b="1" spc="-1" dirty="0">
                <a:solidFill>
                  <a:srgbClr val="0034D9"/>
                </a:solidFill>
                <a:latin typeface="TT Wellingtons" panose="02000503020000020004" pitchFamily="2" charset="77"/>
                <a:ea typeface="DejaVu Sans"/>
              </a:rPr>
              <a:t> y</a:t>
            </a:r>
            <a:r>
              <a:rPr lang="es-CL" sz="4400" b="1" spc="-1" noProof="0" dirty="0">
                <a:solidFill>
                  <a:srgbClr val="0034D9"/>
                </a:solidFill>
                <a:latin typeface="TT Wellingtons" panose="02000503020000020004" pitchFamily="2" charset="77"/>
                <a:ea typeface="DejaVu Sans"/>
              </a:rPr>
              <a:t> reales</a:t>
            </a:r>
          </a:p>
        </p:txBody>
      </p:sp>
      <p:sp>
        <p:nvSpPr>
          <p:cNvPr id="6" name="CustomShape 1">
            <a:extLst>
              <a:ext uri="{FF2B5EF4-FFF2-40B4-BE49-F238E27FC236}">
                <a16:creationId xmlns:a16="http://schemas.microsoft.com/office/drawing/2014/main" id="{1D499CBD-AC5B-1626-FF1C-6376BE92EB64}"/>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Relación con mercado laboral</a:t>
            </a:r>
          </a:p>
        </p:txBody>
      </p:sp>
      <mc:AlternateContent xmlns:mc="http://schemas.openxmlformats.org/markup-compatibility/2006" xmlns:a14="http://schemas.microsoft.com/office/drawing/2010/main">
        <mc:Choice Requires="a14">
          <p:sp>
            <p:nvSpPr>
              <p:cNvPr id="5" name="CustomShape 2">
                <a:extLst>
                  <a:ext uri="{FF2B5EF4-FFF2-40B4-BE49-F238E27FC236}">
                    <a16:creationId xmlns:a16="http://schemas.microsoft.com/office/drawing/2014/main" id="{90B15FDD-DF22-6EFC-CFD8-804833EA45F6}"/>
                  </a:ext>
                </a:extLst>
              </p:cNvPr>
              <p:cNvSpPr/>
              <p:nvPr/>
            </p:nvSpPr>
            <p:spPr>
              <a:xfrm>
                <a:off x="352080" y="240408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alibri "/>
                    <a:cs typeface="Poppins" pitchFamily="2" charset="77"/>
                  </a:rPr>
                  <a:t>En base al salario, tenemos que:</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cs typeface="Poppins" pitchFamily="2" charset="77"/>
                        </a:rPr>
                        <m:t>𝑁𝑖𝑣𝑒𝑙</m:t>
                      </m:r>
                      <m:r>
                        <a:rPr lang="es-ES" sz="1800" b="0" i="1" smtClean="0">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𝑑𝑒</m:t>
                      </m:r>
                      <m:r>
                        <a:rPr lang="es-ES" sz="1800" b="0" i="1" smtClean="0">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𝑝𝑟𝑒𝑐𝑖𝑜𝑠</m:t>
                      </m:r>
                      <m:r>
                        <a:rPr lang="es-ES" sz="1800" i="1" smtClean="0">
                          <a:latin typeface="Cambria Math" panose="02040503050406030204" pitchFamily="18" charset="0"/>
                          <a:cs typeface="Poppins" pitchFamily="2" charset="77"/>
                        </a:rPr>
                        <m:t>=</m:t>
                      </m:r>
                      <m:f>
                        <m:fPr>
                          <m:ctrlPr>
                            <a:rPr lang="es-ES" sz="1800" b="0" i="1" smtClean="0">
                              <a:latin typeface="Cambria Math" panose="02040503050406030204" pitchFamily="18" charset="0"/>
                              <a:cs typeface="Poppins" pitchFamily="2" charset="77"/>
                            </a:rPr>
                          </m:ctrlPr>
                        </m:fPr>
                        <m:num>
                          <m:r>
                            <a:rPr lang="es-ES" sz="1800" b="0" i="1" smtClean="0">
                              <a:latin typeface="Cambria Math" panose="02040503050406030204" pitchFamily="18" charset="0"/>
                              <a:cs typeface="Poppins" pitchFamily="2" charset="77"/>
                            </a:rPr>
                            <m:t>𝑆𝑎𝑙𝑎𝑟𝑖𝑜</m:t>
                          </m:r>
                          <m:r>
                            <a:rPr lang="es-ES" sz="1800" b="0" i="1" smtClean="0">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𝑁𝑜𝑚𝑖𝑛𝑎𝑙</m:t>
                          </m:r>
                        </m:num>
                        <m:den>
                          <m:r>
                            <a:rPr lang="es-ES" sz="1800" b="0" i="1" smtClean="0">
                              <a:latin typeface="Cambria Math" panose="02040503050406030204" pitchFamily="18" charset="0"/>
                              <a:cs typeface="Poppins" pitchFamily="2" charset="77"/>
                            </a:rPr>
                            <m:t>𝑆𝑎𝑙𝑎𝑟𝑖𝑜</m:t>
                          </m:r>
                          <m:r>
                            <a:rPr lang="es-ES" sz="1800" b="0" i="1" smtClean="0">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𝑅𝑒𝑎𝑙</m:t>
                          </m:r>
                        </m:den>
                      </m:f>
                    </m:oMath>
                  </m:oMathPara>
                </a14:m>
                <a:endParaRPr lang="es-ES" sz="1800" dirty="0">
                  <a:latin typeface="Calibri "/>
                  <a:cs typeface="Poppins" pitchFamily="2" charset="77"/>
                </a:endParaRP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La diferencia se encuentra en que no tenemos información sobre el salario real de la economía, pero si sobre el nivel de precios. Por lo tanto, se reescribe de la siguiente manera:</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cs typeface="Poppins" pitchFamily="2" charset="77"/>
                        </a:rPr>
                        <m:t>𝑆𝑎𝑙𝑎𝑟𝑖𝑜</m:t>
                      </m:r>
                      <m:r>
                        <a:rPr lang="es-ES" sz="1800" b="0" i="1" smtClean="0">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𝑅𝑒𝑎𝑙</m:t>
                      </m:r>
                      <m:r>
                        <a:rPr lang="es-ES" sz="1800" i="1" smtClean="0">
                          <a:latin typeface="Cambria Math" panose="02040503050406030204" pitchFamily="18" charset="0"/>
                          <a:cs typeface="Poppins" pitchFamily="2" charset="77"/>
                        </a:rPr>
                        <m:t>=</m:t>
                      </m:r>
                      <m:f>
                        <m:fPr>
                          <m:ctrlPr>
                            <a:rPr lang="es-ES" sz="1800" b="0" i="1" smtClean="0">
                              <a:latin typeface="Cambria Math" panose="02040503050406030204" pitchFamily="18" charset="0"/>
                              <a:cs typeface="Poppins" pitchFamily="2" charset="77"/>
                            </a:rPr>
                          </m:ctrlPr>
                        </m:fPr>
                        <m:num>
                          <m:r>
                            <a:rPr lang="es-ES" sz="1800" b="0" i="1" smtClean="0">
                              <a:latin typeface="Cambria Math" panose="02040503050406030204" pitchFamily="18" charset="0"/>
                              <a:cs typeface="Poppins" pitchFamily="2" charset="77"/>
                            </a:rPr>
                            <m:t>𝑆𝑎𝑙𝑎𝑟𝑖𝑜</m:t>
                          </m:r>
                          <m:r>
                            <a:rPr lang="es-ES" sz="1800" b="0" i="1" smtClean="0">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𝑁𝑜𝑚𝑖𝑛𝑎𝑙</m:t>
                          </m:r>
                        </m:num>
                        <m:den>
                          <m:r>
                            <a:rPr lang="es-ES" sz="1800" b="0" i="1" smtClean="0">
                              <a:latin typeface="Cambria Math" panose="02040503050406030204" pitchFamily="18" charset="0"/>
                              <a:cs typeface="Poppins" pitchFamily="2" charset="77"/>
                            </a:rPr>
                            <m:t>𝑁𝑖𝑣𝑒𝑙</m:t>
                          </m:r>
                          <m:r>
                            <a:rPr lang="es-ES" sz="1800" b="0" i="1" smtClean="0">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𝑑𝑒</m:t>
                          </m:r>
                          <m:r>
                            <a:rPr lang="es-ES" sz="1800" b="0" i="1" smtClean="0">
                              <a:latin typeface="Cambria Math" panose="02040503050406030204" pitchFamily="18" charset="0"/>
                              <a:cs typeface="Poppins" pitchFamily="2" charset="77"/>
                            </a:rPr>
                            <m:t> </m:t>
                          </m:r>
                          <m:r>
                            <a:rPr lang="es-ES" sz="1800" b="0" i="1" smtClean="0">
                              <a:latin typeface="Cambria Math" panose="02040503050406030204" pitchFamily="18" charset="0"/>
                              <a:cs typeface="Poppins" pitchFamily="2" charset="77"/>
                            </a:rPr>
                            <m:t>𝑝𝑟𝑒𝑐𝑖𝑜𝑠</m:t>
                          </m:r>
                        </m:den>
                      </m:f>
                    </m:oMath>
                  </m:oMathPara>
                </a14:m>
                <a:endParaRPr lang="es-ES" sz="1800" dirty="0">
                  <a:latin typeface="Calibri "/>
                  <a:cs typeface="Poppins" pitchFamily="2" charset="77"/>
                </a:endParaRPr>
              </a:p>
              <a:p>
                <a:pPr algn="just">
                  <a:lnSpc>
                    <a:spcPct val="100000"/>
                  </a:lnSpc>
                  <a:spcBef>
                    <a:spcPts val="20"/>
                  </a:spcBef>
                </a:pPr>
                <a:endParaRPr lang="es-ES" dirty="0">
                  <a:latin typeface="Calibri "/>
                  <a:cs typeface="Poppins" pitchFamily="2" charset="77"/>
                </a:endParaRPr>
              </a:p>
              <a:p>
                <a:pPr algn="just">
                  <a:lnSpc>
                    <a:spcPct val="100000"/>
                  </a:lnSpc>
                  <a:spcBef>
                    <a:spcPts val="20"/>
                  </a:spcBef>
                </a:pPr>
                <a:r>
                  <a:rPr lang="es-ES" sz="1800" dirty="0">
                    <a:latin typeface="Calibri "/>
                    <a:cs typeface="Poppins" pitchFamily="2" charset="77"/>
                  </a:rPr>
                  <a:t>Ver ejercicio en Excel </a:t>
                </a:r>
                <a:r>
                  <a:rPr lang="es-CL" sz="1800" dirty="0">
                    <a:latin typeface="Calibri "/>
                    <a:cs typeface="Poppins" pitchFamily="2" charset="77"/>
                  </a:rPr>
                  <a:t>🧮</a:t>
                </a:r>
                <a:endParaRPr lang="es-ES" sz="1800" dirty="0">
                  <a:latin typeface="Calibri "/>
                  <a:cs typeface="Poppins" pitchFamily="2" charset="77"/>
                </a:endParaRPr>
              </a:p>
              <a:p>
                <a:pPr algn="just">
                  <a:lnSpc>
                    <a:spcPct val="100000"/>
                  </a:lnSpc>
                  <a:spcBef>
                    <a:spcPts val="20"/>
                  </a:spcBef>
                </a:pPr>
                <a:endParaRPr lang="es-ES" sz="1800" dirty="0">
                  <a:latin typeface="Calibri "/>
                  <a:cs typeface="Poppins" pitchFamily="2" charset="77"/>
                </a:endParaRPr>
              </a:p>
            </p:txBody>
          </p:sp>
        </mc:Choice>
        <mc:Fallback xmlns="">
          <p:sp>
            <p:nvSpPr>
              <p:cNvPr id="5" name="CustomShape 2">
                <a:extLst>
                  <a:ext uri="{FF2B5EF4-FFF2-40B4-BE49-F238E27FC236}">
                    <a16:creationId xmlns:a16="http://schemas.microsoft.com/office/drawing/2014/main" id="{90B15FDD-DF22-6EFC-CFD8-804833EA45F6}"/>
                  </a:ext>
                </a:extLst>
              </p:cNvPr>
              <p:cNvSpPr>
                <a:spLocks noRot="1" noChangeAspect="1" noMove="1" noResize="1" noEditPoints="1" noAdjustHandles="1" noChangeArrowheads="1" noChangeShapeType="1" noTextEdit="1"/>
              </p:cNvSpPr>
              <p:nvPr/>
            </p:nvSpPr>
            <p:spPr>
              <a:xfrm>
                <a:off x="352080" y="2404086"/>
                <a:ext cx="11520130" cy="2696785"/>
              </a:xfrm>
              <a:prstGeom prst="rect">
                <a:avLst/>
              </a:prstGeom>
              <a:blipFill>
                <a:blip r:embed="rId2"/>
                <a:stretch>
                  <a:fillRect l="-476" t="-1129" r="-423" b="-28668"/>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5140143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F48B2-2C14-2570-E42F-BB21656402C3}"/>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B57EF5ED-0A33-CFC4-E1F8-AC20D265EE32}"/>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Variables nominales</a:t>
            </a:r>
            <a:r>
              <a:rPr lang="es-CL" sz="4400" b="1" spc="-1" dirty="0">
                <a:solidFill>
                  <a:srgbClr val="0034D9"/>
                </a:solidFill>
                <a:latin typeface="TT Wellingtons" panose="02000503020000020004" pitchFamily="2" charset="77"/>
                <a:ea typeface="DejaVu Sans"/>
              </a:rPr>
              <a:t> y</a:t>
            </a:r>
            <a:r>
              <a:rPr lang="es-CL" sz="4400" b="1" spc="-1" noProof="0" dirty="0">
                <a:solidFill>
                  <a:srgbClr val="0034D9"/>
                </a:solidFill>
                <a:latin typeface="TT Wellingtons" panose="02000503020000020004" pitchFamily="2" charset="77"/>
                <a:ea typeface="DejaVu Sans"/>
              </a:rPr>
              <a:t> reales</a:t>
            </a:r>
          </a:p>
        </p:txBody>
      </p:sp>
      <p:sp>
        <p:nvSpPr>
          <p:cNvPr id="6" name="CustomShape 1">
            <a:extLst>
              <a:ext uri="{FF2B5EF4-FFF2-40B4-BE49-F238E27FC236}">
                <a16:creationId xmlns:a16="http://schemas.microsoft.com/office/drawing/2014/main" id="{BB72EFDE-4C68-D0C8-169C-4D4B7AB39AC6}"/>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Tipo de cambio</a:t>
            </a:r>
          </a:p>
        </p:txBody>
      </p:sp>
      <mc:AlternateContent xmlns:mc="http://schemas.openxmlformats.org/markup-compatibility/2006" xmlns:a14="http://schemas.microsoft.com/office/drawing/2010/main">
        <mc:Choice Requires="a14">
          <p:sp>
            <p:nvSpPr>
              <p:cNvPr id="5" name="CustomShape 2">
                <a:extLst>
                  <a:ext uri="{FF2B5EF4-FFF2-40B4-BE49-F238E27FC236}">
                    <a16:creationId xmlns:a16="http://schemas.microsoft.com/office/drawing/2014/main" id="{C87525B4-1755-3E6D-0E72-D72207C762FE}"/>
                  </a:ext>
                </a:extLst>
              </p:cNvPr>
              <p:cNvSpPr/>
              <p:nvPr/>
            </p:nvSpPr>
            <p:spPr>
              <a:xfrm>
                <a:off x="352080" y="240408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alibri "/>
                    <a:cs typeface="Poppins" pitchFamily="2" charset="77"/>
                  </a:rPr>
                  <a:t>Por lo general, cuando hablamos del dólar nos referimos al tipo de cambio nominal, y hablamos de "el dólar está a X pesos". </a:t>
                </a:r>
              </a:p>
              <a:p>
                <a:pPr algn="just">
                  <a:lnSpc>
                    <a:spcPct val="100000"/>
                  </a:lnSpc>
                  <a:spcBef>
                    <a:spcPts val="20"/>
                  </a:spcBef>
                </a:pPr>
                <a:endParaRPr lang="es-ES" dirty="0">
                  <a:latin typeface="Calibri "/>
                  <a:cs typeface="Poppins" pitchFamily="2" charset="77"/>
                </a:endParaRPr>
              </a:p>
              <a:p>
                <a:pPr algn="just">
                  <a:lnSpc>
                    <a:spcPct val="100000"/>
                  </a:lnSpc>
                  <a:spcBef>
                    <a:spcPts val="20"/>
                  </a:spcBef>
                </a:pPr>
                <a:r>
                  <a:rPr lang="es-ES" sz="1800" dirty="0">
                    <a:latin typeface="Calibri "/>
                    <a:cs typeface="Poppins" pitchFamily="2" charset="77"/>
                  </a:rPr>
                  <a:t>Apreciación y depreciación: Un fenómeno relevante, corresponde a la </a:t>
                </a:r>
                <a:r>
                  <a:rPr lang="es-ES" sz="1800" b="1" dirty="0">
                    <a:latin typeface="Calibri "/>
                    <a:cs typeface="Poppins" pitchFamily="2" charset="77"/>
                  </a:rPr>
                  <a:t>apreciación</a:t>
                </a:r>
                <a:r>
                  <a:rPr lang="es-ES" sz="1800" dirty="0">
                    <a:latin typeface="Calibri "/>
                    <a:cs typeface="Poppins" pitchFamily="2" charset="77"/>
                  </a:rPr>
                  <a:t> o </a:t>
                </a:r>
                <a:r>
                  <a:rPr lang="es-ES" sz="1800" b="1" dirty="0">
                    <a:latin typeface="Calibri "/>
                    <a:cs typeface="Poppins" pitchFamily="2" charset="77"/>
                  </a:rPr>
                  <a:t>depreciación</a:t>
                </a:r>
                <a:r>
                  <a:rPr lang="es-ES" sz="1800" dirty="0">
                    <a:latin typeface="Calibri "/>
                    <a:cs typeface="Poppins" pitchFamily="2" charset="77"/>
                  </a:rPr>
                  <a:t> de la moneda; una moneda se </a:t>
                </a:r>
                <a:r>
                  <a:rPr lang="es-ES" sz="1800" b="1" dirty="0">
                    <a:latin typeface="Calibri "/>
                    <a:cs typeface="Poppins" pitchFamily="2" charset="77"/>
                  </a:rPr>
                  <a:t>aprecia</a:t>
                </a:r>
                <a:r>
                  <a:rPr lang="es-ES" sz="1800" dirty="0">
                    <a:latin typeface="Calibri "/>
                    <a:cs typeface="Poppins" pitchFamily="2" charset="77"/>
                  </a:rPr>
                  <a:t> cuando la otra moneda se hace más barata; esto quiere decir que:</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cs typeface="Poppins" pitchFamily="2" charset="77"/>
                        </a:rPr>
                        <m:t>𝐴𝑝𝑟𝑒𝑐𝑖𝑎𝑐𝑖</m:t>
                      </m:r>
                      <m:r>
                        <a:rPr lang="es-ES" sz="1800" b="0" i="1" smtClean="0">
                          <a:latin typeface="Cambria Math" panose="02040503050406030204" pitchFamily="18" charset="0"/>
                          <a:cs typeface="Poppins" pitchFamily="2" charset="77"/>
                        </a:rPr>
                        <m:t>ó</m:t>
                      </m:r>
                      <m:r>
                        <a:rPr lang="es-ES" sz="1800" b="0" i="1" smtClean="0">
                          <a:latin typeface="Cambria Math" panose="02040503050406030204" pitchFamily="18" charset="0"/>
                          <a:cs typeface="Poppins" pitchFamily="2" charset="77"/>
                        </a:rPr>
                        <m:t>𝑛</m:t>
                      </m:r>
                      <m:r>
                        <a:rPr lang="es-ES" sz="1800" b="0" i="1" smtClean="0">
                          <a:latin typeface="Cambria Math" panose="02040503050406030204" pitchFamily="18" charset="0"/>
                          <a:cs typeface="Poppins" pitchFamily="2" charset="77"/>
                        </a:rPr>
                        <m:t>=</m:t>
                      </m:r>
                      <m:r>
                        <a:rPr lang="es-ES" sz="1800" b="0" i="1" smtClean="0">
                          <a:latin typeface="Cambria Math" panose="02040503050406030204" pitchFamily="18" charset="0"/>
                          <a:cs typeface="Poppins" pitchFamily="2" charset="77"/>
                        </a:rPr>
                        <m:t>𝑇𝐶𝑁</m:t>
                      </m:r>
                      <m:r>
                        <a:rPr lang="es-ES" sz="1800" b="0" i="1" smtClean="0">
                          <a:latin typeface="Cambria Math" panose="02040503050406030204" pitchFamily="18" charset="0"/>
                          <a:ea typeface="Cambria Math" panose="02040503050406030204" pitchFamily="18" charset="0"/>
                          <a:cs typeface="Poppins" pitchFamily="2" charset="77"/>
                        </a:rPr>
                        <m:t>↓</m:t>
                      </m:r>
                    </m:oMath>
                  </m:oMathPara>
                </a14:m>
                <a:endParaRPr lang="es-ES" sz="1800" dirty="0">
                  <a:latin typeface="Calibri "/>
                  <a:cs typeface="Poppins" pitchFamily="2" charset="77"/>
                </a:endParaRP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Lo que se traduce en un menor valor del dólar. Por obviedad, cuando una moneda se deprecia la otra se aprecia. A la vez, también se habla de fortalecimiento y debilitamiento en contra de la otra. </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Por último, se habla de devaluación y revaluación, las que son utilizadas como sinónimos de depreciación y apreciación, pero de manera más concreta refieren a la decisión por parte de la autoridad económica.</a:t>
                </a:r>
              </a:p>
              <a:p>
                <a:pPr algn="just">
                  <a:lnSpc>
                    <a:spcPct val="100000"/>
                  </a:lnSpc>
                  <a:spcBef>
                    <a:spcPts val="20"/>
                  </a:spcBef>
                </a:pPr>
                <a:endParaRPr lang="es-ES" sz="1800" dirty="0">
                  <a:latin typeface="Calibri "/>
                  <a:cs typeface="Poppins" pitchFamily="2" charset="77"/>
                </a:endParaRPr>
              </a:p>
            </p:txBody>
          </p:sp>
        </mc:Choice>
        <mc:Fallback xmlns="">
          <p:sp>
            <p:nvSpPr>
              <p:cNvPr id="5" name="CustomShape 2">
                <a:extLst>
                  <a:ext uri="{FF2B5EF4-FFF2-40B4-BE49-F238E27FC236}">
                    <a16:creationId xmlns:a16="http://schemas.microsoft.com/office/drawing/2014/main" id="{C87525B4-1755-3E6D-0E72-D72207C762FE}"/>
                  </a:ext>
                </a:extLst>
              </p:cNvPr>
              <p:cNvSpPr>
                <a:spLocks noRot="1" noChangeAspect="1" noMove="1" noResize="1" noEditPoints="1" noAdjustHandles="1" noChangeArrowheads="1" noChangeShapeType="1" noTextEdit="1"/>
              </p:cNvSpPr>
              <p:nvPr/>
            </p:nvSpPr>
            <p:spPr>
              <a:xfrm>
                <a:off x="352080" y="2404086"/>
                <a:ext cx="11520130" cy="2696785"/>
              </a:xfrm>
              <a:prstGeom prst="rect">
                <a:avLst/>
              </a:prstGeom>
              <a:blipFill>
                <a:blip r:embed="rId2"/>
                <a:stretch>
                  <a:fillRect l="-476" t="-1129" r="-847" b="-39052"/>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237906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A5668-A1E3-5C12-3DF8-BACB65E0F6CF}"/>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49E30A5E-16A4-885C-B8D3-F55A9C696070}"/>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Variables nominales</a:t>
            </a:r>
            <a:r>
              <a:rPr lang="es-CL" sz="4400" b="1" spc="-1" dirty="0">
                <a:solidFill>
                  <a:srgbClr val="0034D9"/>
                </a:solidFill>
                <a:latin typeface="TT Wellingtons" panose="02000503020000020004" pitchFamily="2" charset="77"/>
                <a:ea typeface="DejaVu Sans"/>
              </a:rPr>
              <a:t> y</a:t>
            </a:r>
            <a:r>
              <a:rPr lang="es-CL" sz="4400" b="1" spc="-1" noProof="0" dirty="0">
                <a:solidFill>
                  <a:srgbClr val="0034D9"/>
                </a:solidFill>
                <a:latin typeface="TT Wellingtons" panose="02000503020000020004" pitchFamily="2" charset="77"/>
                <a:ea typeface="DejaVu Sans"/>
              </a:rPr>
              <a:t> reales</a:t>
            </a:r>
          </a:p>
        </p:txBody>
      </p:sp>
      <p:sp>
        <p:nvSpPr>
          <p:cNvPr id="6" name="CustomShape 1">
            <a:extLst>
              <a:ext uri="{FF2B5EF4-FFF2-40B4-BE49-F238E27FC236}">
                <a16:creationId xmlns:a16="http://schemas.microsoft.com/office/drawing/2014/main" id="{8D51F36B-38A1-29AA-0E4E-02CCC4994734}"/>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Intervenciones</a:t>
            </a:r>
          </a:p>
        </p:txBody>
      </p:sp>
      <p:sp>
        <p:nvSpPr>
          <p:cNvPr id="5" name="CustomShape 2">
            <a:extLst>
              <a:ext uri="{FF2B5EF4-FFF2-40B4-BE49-F238E27FC236}">
                <a16:creationId xmlns:a16="http://schemas.microsoft.com/office/drawing/2014/main" id="{8F2F839A-3E9E-7F72-6EF4-736011D3E365}"/>
              </a:ext>
            </a:extLst>
          </p:cNvPr>
          <p:cNvSpPr/>
          <p:nvPr/>
        </p:nvSpPr>
        <p:spPr>
          <a:xfrm>
            <a:off x="352080" y="240408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Poppins" pitchFamily="2" charset="77"/>
                <a:cs typeface="Poppins" pitchFamily="2" charset="77"/>
              </a:rPr>
              <a:t>Corresponde a una de las herramientas del Banco Central para mantener la estabilidad de pagos en la economía. </a:t>
            </a:r>
          </a:p>
          <a:p>
            <a:pPr algn="just">
              <a:lnSpc>
                <a:spcPct val="100000"/>
              </a:lnSpc>
              <a:spcBef>
                <a:spcPts val="20"/>
              </a:spcBef>
            </a:pPr>
            <a:endParaRPr lang="es-ES" sz="1800" dirty="0">
              <a:latin typeface="Calibri "/>
              <a:cs typeface="Poppins" pitchFamily="2" charset="77"/>
            </a:endParaRPr>
          </a:p>
        </p:txBody>
      </p:sp>
      <p:sp>
        <p:nvSpPr>
          <p:cNvPr id="2" name="CuadroTexto 1">
            <a:extLst>
              <a:ext uri="{FF2B5EF4-FFF2-40B4-BE49-F238E27FC236}">
                <a16:creationId xmlns:a16="http://schemas.microsoft.com/office/drawing/2014/main" id="{D5C51DB9-44F2-F7EF-9B0D-96AF40608F52}"/>
              </a:ext>
            </a:extLst>
          </p:cNvPr>
          <p:cNvSpPr txBox="1"/>
          <p:nvPr/>
        </p:nvSpPr>
        <p:spPr>
          <a:xfrm>
            <a:off x="286767" y="5697765"/>
            <a:ext cx="11451144" cy="646331"/>
          </a:xfrm>
          <a:prstGeom prst="rect">
            <a:avLst/>
          </a:prstGeom>
          <a:noFill/>
        </p:spPr>
        <p:txBody>
          <a:bodyPr wrap="square">
            <a:spAutoFit/>
          </a:bodyPr>
          <a:lstStyle/>
          <a:p>
            <a:r>
              <a:rPr lang="es-CL" sz="1200" dirty="0">
                <a:latin typeface="Calibri "/>
              </a:rPr>
              <a:t>Referencias: </a:t>
            </a:r>
          </a:p>
          <a:p>
            <a:r>
              <a:rPr lang="es-CL" sz="1200" dirty="0">
                <a:latin typeface="Calibri "/>
              </a:rPr>
              <a:t>https://economipedia.com/definiciones/intervencion-en-el-mercado-de-divisas.html</a:t>
            </a:r>
          </a:p>
          <a:p>
            <a:r>
              <a:rPr lang="es-CL" sz="1200" dirty="0">
                <a:latin typeface="Calibri "/>
              </a:rPr>
              <a:t>https://www.cooperativa.cl/noticias/economia/banco-central/banco-central-reducira-la-intervencion-cambiaria-motivada-por-el/2020-06-04/040333.html</a:t>
            </a:r>
          </a:p>
        </p:txBody>
      </p:sp>
      <p:pic>
        <p:nvPicPr>
          <p:cNvPr id="3" name="Imagen 2" descr="Imagen que contiene Diagrama&#10;&#10;Descripción generada automáticamente">
            <a:extLst>
              <a:ext uri="{FF2B5EF4-FFF2-40B4-BE49-F238E27FC236}">
                <a16:creationId xmlns:a16="http://schemas.microsoft.com/office/drawing/2014/main" id="{338A674E-13B9-574D-4123-387F5A48B942}"/>
              </a:ext>
            </a:extLst>
          </p:cNvPr>
          <p:cNvPicPr>
            <a:picLocks noChangeAspect="1"/>
          </p:cNvPicPr>
          <p:nvPr/>
        </p:nvPicPr>
        <p:blipFill>
          <a:blip r:embed="rId2"/>
          <a:stretch>
            <a:fillRect/>
          </a:stretch>
        </p:blipFill>
        <p:spPr>
          <a:xfrm>
            <a:off x="2702014" y="2930672"/>
            <a:ext cx="6787971" cy="2860128"/>
          </a:xfrm>
          <a:prstGeom prst="rect">
            <a:avLst/>
          </a:prstGeom>
        </p:spPr>
      </p:pic>
    </p:spTree>
    <p:extLst>
      <p:ext uri="{BB962C8B-B14F-4D97-AF65-F5344CB8AC3E}">
        <p14:creationId xmlns:p14="http://schemas.microsoft.com/office/powerpoint/2010/main" val="15348814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402C7-1794-695F-7645-570E070276BB}"/>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29C1BD8B-CA53-389A-7184-49A2DFA7C3C6}"/>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Variables nominales</a:t>
            </a:r>
            <a:r>
              <a:rPr lang="es-CL" sz="4400" b="1" spc="-1" dirty="0">
                <a:solidFill>
                  <a:srgbClr val="0034D9"/>
                </a:solidFill>
                <a:latin typeface="TT Wellingtons" panose="02000503020000020004" pitchFamily="2" charset="77"/>
                <a:ea typeface="DejaVu Sans"/>
              </a:rPr>
              <a:t> y</a:t>
            </a:r>
            <a:r>
              <a:rPr lang="es-CL" sz="4400" b="1" spc="-1" noProof="0" dirty="0">
                <a:solidFill>
                  <a:srgbClr val="0034D9"/>
                </a:solidFill>
                <a:latin typeface="TT Wellingtons" panose="02000503020000020004" pitchFamily="2" charset="77"/>
                <a:ea typeface="DejaVu Sans"/>
              </a:rPr>
              <a:t> reales</a:t>
            </a:r>
          </a:p>
        </p:txBody>
      </p:sp>
      <p:sp>
        <p:nvSpPr>
          <p:cNvPr id="6" name="CustomShape 1">
            <a:extLst>
              <a:ext uri="{FF2B5EF4-FFF2-40B4-BE49-F238E27FC236}">
                <a16:creationId xmlns:a16="http://schemas.microsoft.com/office/drawing/2014/main" id="{E42CD069-E139-E68A-C768-74395C020FC3}"/>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Tipo de cambio real</a:t>
            </a:r>
          </a:p>
        </p:txBody>
      </p:sp>
      <mc:AlternateContent xmlns:mc="http://schemas.openxmlformats.org/markup-compatibility/2006" xmlns:a14="http://schemas.microsoft.com/office/drawing/2010/main">
        <mc:Choice Requires="a14">
          <p:sp>
            <p:nvSpPr>
              <p:cNvPr id="5" name="CustomShape 2">
                <a:extLst>
                  <a:ext uri="{FF2B5EF4-FFF2-40B4-BE49-F238E27FC236}">
                    <a16:creationId xmlns:a16="http://schemas.microsoft.com/office/drawing/2014/main" id="{0DBDEF90-A0B1-714C-0C71-B1677C71CBD7}"/>
                  </a:ext>
                </a:extLst>
              </p:cNvPr>
              <p:cNvSpPr/>
              <p:nvPr/>
            </p:nvSpPr>
            <p:spPr>
              <a:xfrm>
                <a:off x="352080" y="240408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r>
                  <a:rPr lang="es-ES" sz="1800" dirty="0">
                    <a:latin typeface="Calibri "/>
                    <a:cs typeface="Poppins" pitchFamily="2" charset="77"/>
                  </a:rPr>
                  <a:t>En este caso, también tenemos la interacción entre variable nominal y real. Lo que se intenta medir, no es solo el valor de la moneda en interacción con una moneda internacional, sino el poder compra de bienes entre países. En base a esto, el tipo de cambio real se define como:</a:t>
                </a: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14:m>
                  <m:oMathPara xmlns:m="http://schemas.openxmlformats.org/officeDocument/2006/math">
                    <m:oMathParaPr>
                      <m:jc m:val="centerGroup"/>
                    </m:oMathParaPr>
                    <m:oMath xmlns:m="http://schemas.openxmlformats.org/officeDocument/2006/math">
                      <m:r>
                        <a:rPr lang="es-ES" sz="1800" b="0" i="1" smtClean="0">
                          <a:latin typeface="Cambria Math" panose="02040503050406030204" pitchFamily="18" charset="0"/>
                          <a:cs typeface="Poppins" pitchFamily="2" charset="77"/>
                        </a:rPr>
                        <m:t>𝑇𝐶𝑅</m:t>
                      </m:r>
                      <m:r>
                        <a:rPr lang="es-ES" sz="1800" b="0" i="1" smtClean="0">
                          <a:latin typeface="Cambria Math" panose="02040503050406030204" pitchFamily="18" charset="0"/>
                          <a:cs typeface="Poppins" pitchFamily="2" charset="77"/>
                        </a:rPr>
                        <m:t>=</m:t>
                      </m:r>
                      <m:f>
                        <m:fPr>
                          <m:ctrlPr>
                            <a:rPr lang="es-ES" sz="1800" b="0" i="1" smtClean="0">
                              <a:latin typeface="Cambria Math" panose="02040503050406030204" pitchFamily="18" charset="0"/>
                              <a:cs typeface="Poppins" pitchFamily="2" charset="77"/>
                            </a:rPr>
                          </m:ctrlPr>
                        </m:fPr>
                        <m:num>
                          <m:r>
                            <a:rPr lang="es-ES" sz="1800" b="0" i="1" smtClean="0">
                              <a:latin typeface="Cambria Math" panose="02040503050406030204" pitchFamily="18" charset="0"/>
                              <a:cs typeface="Poppins" pitchFamily="2" charset="77"/>
                            </a:rPr>
                            <m:t>𝑒</m:t>
                          </m:r>
                          <m:r>
                            <a:rPr lang="es-ES" sz="1800" b="0" i="1" smtClean="0">
                              <a:latin typeface="Cambria Math" panose="02040503050406030204" pitchFamily="18" charset="0"/>
                              <a:cs typeface="Poppins" pitchFamily="2" charset="77"/>
                            </a:rPr>
                            <m:t>∗</m:t>
                          </m:r>
                          <m:sSup>
                            <m:sSupPr>
                              <m:ctrlPr>
                                <a:rPr lang="es-ES" sz="1800" b="0" i="1" smtClean="0">
                                  <a:latin typeface="Cambria Math" panose="02040503050406030204" pitchFamily="18" charset="0"/>
                                  <a:cs typeface="Poppins" pitchFamily="2" charset="77"/>
                                </a:rPr>
                              </m:ctrlPr>
                            </m:sSupPr>
                            <m:e>
                              <m:r>
                                <a:rPr lang="es-ES" sz="1800" b="0" i="1" smtClean="0">
                                  <a:latin typeface="Cambria Math" panose="02040503050406030204" pitchFamily="18" charset="0"/>
                                  <a:cs typeface="Poppins" pitchFamily="2" charset="77"/>
                                </a:rPr>
                                <m:t>𝑃</m:t>
                              </m:r>
                            </m:e>
                            <m:sup>
                              <m:r>
                                <a:rPr lang="es-ES" sz="1800" b="0" i="1" smtClean="0">
                                  <a:latin typeface="Cambria Math" panose="02040503050406030204" pitchFamily="18" charset="0"/>
                                  <a:cs typeface="Poppins" pitchFamily="2" charset="77"/>
                                </a:rPr>
                                <m:t>∗</m:t>
                              </m:r>
                            </m:sup>
                          </m:sSup>
                        </m:num>
                        <m:den>
                          <m:r>
                            <a:rPr lang="es-ES" sz="1800" b="0" i="1" smtClean="0">
                              <a:latin typeface="Cambria Math" panose="02040503050406030204" pitchFamily="18" charset="0"/>
                              <a:cs typeface="Poppins" pitchFamily="2" charset="77"/>
                            </a:rPr>
                            <m:t>𝑃</m:t>
                          </m:r>
                        </m:den>
                      </m:f>
                    </m:oMath>
                  </m:oMathPara>
                </a14:m>
                <a:endParaRPr lang="es-ES" sz="1800" dirty="0">
                  <a:latin typeface="Calibri "/>
                  <a:cs typeface="Poppins" pitchFamily="2" charset="77"/>
                </a:endParaRPr>
              </a:p>
              <a:p>
                <a:pPr algn="just">
                  <a:lnSpc>
                    <a:spcPct val="100000"/>
                  </a:lnSpc>
                  <a:spcBef>
                    <a:spcPts val="20"/>
                  </a:spcBef>
                </a:pPr>
                <a:endParaRPr lang="es-ES" sz="1800" dirty="0">
                  <a:latin typeface="Calibri "/>
                  <a:cs typeface="Poppins" pitchFamily="2" charset="77"/>
                </a:endParaRPr>
              </a:p>
              <a:p>
                <a:pPr algn="just">
                  <a:lnSpc>
                    <a:spcPct val="100000"/>
                  </a:lnSpc>
                  <a:spcBef>
                    <a:spcPts val="20"/>
                  </a:spcBef>
                </a:pPr>
                <a:r>
                  <a:rPr lang="es-ES" sz="1800" dirty="0">
                    <a:latin typeface="Calibri "/>
                    <a:cs typeface="Poppins" pitchFamily="2" charset="77"/>
                  </a:rPr>
                  <a:t>Donde </a:t>
                </a:r>
                <a14:m>
                  <m:oMath xmlns:m="http://schemas.openxmlformats.org/officeDocument/2006/math">
                    <m:r>
                      <a:rPr lang="es-ES" sz="1800" b="0" i="1" smtClean="0">
                        <a:latin typeface="Cambria Math" panose="02040503050406030204" pitchFamily="18" charset="0"/>
                        <a:cs typeface="Poppins" pitchFamily="2" charset="77"/>
                      </a:rPr>
                      <m:t>𝑒</m:t>
                    </m:r>
                  </m:oMath>
                </a14:m>
                <a:r>
                  <a:rPr lang="es-ES" sz="1800" dirty="0">
                    <a:latin typeface="Calibri "/>
                    <a:cs typeface="Poppins" pitchFamily="2" charset="77"/>
                  </a:rPr>
                  <a:t> corresponde al tipo de cambio nominal, </a:t>
                </a:r>
                <a14:m>
                  <m:oMath xmlns:m="http://schemas.openxmlformats.org/officeDocument/2006/math">
                    <m:sSup>
                      <m:sSupPr>
                        <m:ctrlPr>
                          <a:rPr lang="es-ES" sz="1800" i="1">
                            <a:latin typeface="Cambria Math" panose="02040503050406030204" pitchFamily="18" charset="0"/>
                            <a:cs typeface="Poppins" pitchFamily="2" charset="77"/>
                          </a:rPr>
                        </m:ctrlPr>
                      </m:sSupPr>
                      <m:e>
                        <m:r>
                          <a:rPr lang="es-ES" sz="1800" i="1">
                            <a:latin typeface="Cambria Math" panose="02040503050406030204" pitchFamily="18" charset="0"/>
                            <a:cs typeface="Poppins" pitchFamily="2" charset="77"/>
                          </a:rPr>
                          <m:t>𝑃</m:t>
                        </m:r>
                      </m:e>
                      <m:sup>
                        <m:r>
                          <a:rPr lang="es-ES" sz="1800" i="1">
                            <a:latin typeface="Cambria Math" panose="02040503050406030204" pitchFamily="18" charset="0"/>
                            <a:cs typeface="Poppins" pitchFamily="2" charset="77"/>
                          </a:rPr>
                          <m:t>∗</m:t>
                        </m:r>
                      </m:sup>
                    </m:sSup>
                    <m:r>
                      <a:rPr lang="es-ES" sz="1800" i="1">
                        <a:latin typeface="Cambria Math" panose="02040503050406030204" pitchFamily="18" charset="0"/>
                        <a:cs typeface="Poppins" pitchFamily="2" charset="77"/>
                      </a:rPr>
                      <m:t> </m:t>
                    </m:r>
                  </m:oMath>
                </a14:m>
                <a:r>
                  <a:rPr lang="es-ES" sz="1800" dirty="0">
                    <a:latin typeface="Calibri "/>
                    <a:cs typeface="Poppins" pitchFamily="2" charset="77"/>
                  </a:rPr>
                  <a:t>el nivel de precios internacional y </a:t>
                </a:r>
                <a14:m>
                  <m:oMath xmlns:m="http://schemas.openxmlformats.org/officeDocument/2006/math">
                    <m:r>
                      <a:rPr lang="es-ES" sz="1800" i="1">
                        <a:latin typeface="Cambria Math" panose="02040503050406030204" pitchFamily="18" charset="0"/>
                        <a:cs typeface="Poppins" pitchFamily="2" charset="77"/>
                      </a:rPr>
                      <m:t>𝑃</m:t>
                    </m:r>
                    <m:r>
                      <a:rPr lang="es-ES" sz="1800" i="1">
                        <a:latin typeface="Cambria Math" panose="02040503050406030204" pitchFamily="18" charset="0"/>
                        <a:cs typeface="Poppins" pitchFamily="2" charset="77"/>
                      </a:rPr>
                      <m:t> </m:t>
                    </m:r>
                  </m:oMath>
                </a14:m>
                <a:r>
                  <a:rPr lang="es-ES" sz="1800" dirty="0">
                    <a:latin typeface="Calibri "/>
                    <a:cs typeface="Poppins" pitchFamily="2" charset="77"/>
                  </a:rPr>
                  <a:t> el nivel de precios nacional</a:t>
                </a:r>
              </a:p>
              <a:p>
                <a:pPr algn="just">
                  <a:lnSpc>
                    <a:spcPct val="100000"/>
                  </a:lnSpc>
                  <a:spcBef>
                    <a:spcPts val="20"/>
                  </a:spcBef>
                </a:pPr>
                <a:endParaRPr lang="es-ES" sz="1800" dirty="0">
                  <a:latin typeface="Calibri "/>
                  <a:cs typeface="Poppins" pitchFamily="2" charset="77"/>
                </a:endParaRPr>
              </a:p>
            </p:txBody>
          </p:sp>
        </mc:Choice>
        <mc:Fallback xmlns="">
          <p:sp>
            <p:nvSpPr>
              <p:cNvPr id="5" name="CustomShape 2">
                <a:extLst>
                  <a:ext uri="{FF2B5EF4-FFF2-40B4-BE49-F238E27FC236}">
                    <a16:creationId xmlns:a16="http://schemas.microsoft.com/office/drawing/2014/main" id="{0DBDEF90-A0B1-714C-0C71-B1677C71CBD7}"/>
                  </a:ext>
                </a:extLst>
              </p:cNvPr>
              <p:cNvSpPr>
                <a:spLocks noRot="1" noChangeAspect="1" noMove="1" noResize="1" noEditPoints="1" noAdjustHandles="1" noChangeArrowheads="1" noChangeShapeType="1" noTextEdit="1"/>
              </p:cNvSpPr>
              <p:nvPr/>
            </p:nvSpPr>
            <p:spPr>
              <a:xfrm>
                <a:off x="352080" y="2404086"/>
                <a:ext cx="11520130" cy="2696785"/>
              </a:xfrm>
              <a:prstGeom prst="rect">
                <a:avLst/>
              </a:prstGeom>
              <a:blipFill>
                <a:blip r:embed="rId2"/>
                <a:stretch>
                  <a:fillRect l="-476" t="-1129" r="-42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9953864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7F6DA-E00B-8846-02CB-128492D14CAA}"/>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53628EB6-356B-FF9C-6F5D-E58EBB4AE892}"/>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Variables nominales</a:t>
            </a:r>
            <a:r>
              <a:rPr lang="es-CL" sz="4400" b="1" spc="-1" dirty="0">
                <a:solidFill>
                  <a:srgbClr val="0034D9"/>
                </a:solidFill>
                <a:latin typeface="TT Wellingtons" panose="02000503020000020004" pitchFamily="2" charset="77"/>
                <a:ea typeface="DejaVu Sans"/>
              </a:rPr>
              <a:t> y</a:t>
            </a:r>
            <a:r>
              <a:rPr lang="es-CL" sz="4400" b="1" spc="-1" noProof="0" dirty="0">
                <a:solidFill>
                  <a:srgbClr val="0034D9"/>
                </a:solidFill>
                <a:latin typeface="TT Wellingtons" panose="02000503020000020004" pitchFamily="2" charset="77"/>
                <a:ea typeface="DejaVu Sans"/>
              </a:rPr>
              <a:t> reales</a:t>
            </a:r>
          </a:p>
        </p:txBody>
      </p:sp>
      <p:sp>
        <p:nvSpPr>
          <p:cNvPr id="6" name="CustomShape 1">
            <a:extLst>
              <a:ext uri="{FF2B5EF4-FFF2-40B4-BE49-F238E27FC236}">
                <a16:creationId xmlns:a16="http://schemas.microsoft.com/office/drawing/2014/main" id="{AF1F249D-2B4A-0C3B-BFEA-11F819A8D0F7}"/>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Comportamiento del TC</a:t>
            </a:r>
          </a:p>
        </p:txBody>
      </p:sp>
      <p:sp>
        <p:nvSpPr>
          <p:cNvPr id="5" name="CustomShape 2">
            <a:extLst>
              <a:ext uri="{FF2B5EF4-FFF2-40B4-BE49-F238E27FC236}">
                <a16:creationId xmlns:a16="http://schemas.microsoft.com/office/drawing/2014/main" id="{C5AEC90F-AA66-888A-5461-8BD8EAD8AE27}"/>
              </a:ext>
            </a:extLst>
          </p:cNvPr>
          <p:cNvSpPr/>
          <p:nvPr/>
        </p:nvSpPr>
        <p:spPr>
          <a:xfrm>
            <a:off x="352080" y="240408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spcBef>
                <a:spcPts val="20"/>
              </a:spcBef>
            </a:pPr>
            <a:endParaRPr lang="es-ES" sz="1800" dirty="0">
              <a:latin typeface="Calibri "/>
              <a:cs typeface="Poppins" pitchFamily="2" charset="77"/>
            </a:endParaRPr>
          </a:p>
        </p:txBody>
      </p:sp>
      <p:pic>
        <p:nvPicPr>
          <p:cNvPr id="3" name="Imagen 2" descr="Gráfico, Gráfico de líneas&#10;&#10;Descripción generada automáticamente">
            <a:extLst>
              <a:ext uri="{FF2B5EF4-FFF2-40B4-BE49-F238E27FC236}">
                <a16:creationId xmlns:a16="http://schemas.microsoft.com/office/drawing/2014/main" id="{AEB59BC1-8DA2-2091-AEF3-CD2777F1EB17}"/>
              </a:ext>
            </a:extLst>
          </p:cNvPr>
          <p:cNvPicPr>
            <a:picLocks noChangeAspect="1"/>
          </p:cNvPicPr>
          <p:nvPr/>
        </p:nvPicPr>
        <p:blipFill>
          <a:blip r:embed="rId2"/>
          <a:stretch>
            <a:fillRect/>
          </a:stretch>
        </p:blipFill>
        <p:spPr>
          <a:xfrm>
            <a:off x="352080" y="2077584"/>
            <a:ext cx="5233916" cy="3413424"/>
          </a:xfrm>
          <a:prstGeom prst="rect">
            <a:avLst/>
          </a:prstGeom>
        </p:spPr>
      </p:pic>
      <p:pic>
        <p:nvPicPr>
          <p:cNvPr id="7" name="Imagen 6" descr="Gráfico, Gráfico de líneas&#10;&#10;Descripción generada automáticamente">
            <a:extLst>
              <a:ext uri="{FF2B5EF4-FFF2-40B4-BE49-F238E27FC236}">
                <a16:creationId xmlns:a16="http://schemas.microsoft.com/office/drawing/2014/main" id="{0DC9ED0D-B6FB-CA60-A7C0-FA3BE7C75927}"/>
              </a:ext>
            </a:extLst>
          </p:cNvPr>
          <p:cNvPicPr>
            <a:picLocks noChangeAspect="1"/>
          </p:cNvPicPr>
          <p:nvPr/>
        </p:nvPicPr>
        <p:blipFill>
          <a:blip r:embed="rId3"/>
          <a:stretch>
            <a:fillRect/>
          </a:stretch>
        </p:blipFill>
        <p:spPr>
          <a:xfrm>
            <a:off x="6606006" y="2066832"/>
            <a:ext cx="5233916" cy="3413424"/>
          </a:xfrm>
          <a:prstGeom prst="rect">
            <a:avLst/>
          </a:prstGeom>
        </p:spPr>
      </p:pic>
    </p:spTree>
    <p:extLst>
      <p:ext uri="{BB962C8B-B14F-4D97-AF65-F5344CB8AC3E}">
        <p14:creationId xmlns:p14="http://schemas.microsoft.com/office/powerpoint/2010/main" val="36076955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1840B-5C6F-D4B9-FBF6-87E9313333F0}"/>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09792D5E-0469-BEF4-0008-0DCAFED1082A}"/>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Cierre de la clase</a:t>
            </a:r>
          </a:p>
        </p:txBody>
      </p:sp>
      <p:sp>
        <p:nvSpPr>
          <p:cNvPr id="6" name="CustomShape 1">
            <a:extLst>
              <a:ext uri="{FF2B5EF4-FFF2-40B4-BE49-F238E27FC236}">
                <a16:creationId xmlns:a16="http://schemas.microsoft.com/office/drawing/2014/main" id="{0FA42CBF-482D-BD50-67E4-850D2289AA1F}"/>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Más información</a:t>
            </a:r>
          </a:p>
        </p:txBody>
      </p:sp>
      <p:sp>
        <p:nvSpPr>
          <p:cNvPr id="5" name="CustomShape 2">
            <a:extLst>
              <a:ext uri="{FF2B5EF4-FFF2-40B4-BE49-F238E27FC236}">
                <a16:creationId xmlns:a16="http://schemas.microsoft.com/office/drawing/2014/main" id="{74190168-E127-1FE5-8922-86C9AE1F2C15}"/>
              </a:ext>
            </a:extLst>
          </p:cNvPr>
          <p:cNvSpPr/>
          <p:nvPr/>
        </p:nvSpPr>
        <p:spPr>
          <a:xfrm>
            <a:off x="352080" y="240408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57200" indent="-457200" algn="just">
              <a:lnSpc>
                <a:spcPct val="100000"/>
              </a:lnSpc>
              <a:spcBef>
                <a:spcPts val="20"/>
              </a:spcBef>
              <a:buFont typeface="Arial" panose="020B0604020202020204" pitchFamily="34" charset="0"/>
              <a:buChar char="•"/>
            </a:pPr>
            <a:r>
              <a:rPr lang="es-ES" sz="1800">
                <a:latin typeface="Calibri "/>
                <a:cs typeface="Poppins" pitchFamily="2" charset="77"/>
                <a:hlinkClick r:id="rId2"/>
              </a:rPr>
              <a:t>Informe de política monetaria</a:t>
            </a:r>
            <a:endParaRPr lang="es-ES" sz="1800">
              <a:latin typeface="Calibri "/>
              <a:cs typeface="Poppins" pitchFamily="2" charset="77"/>
              <a:hlinkClick r:id="rId3"/>
            </a:endParaRPr>
          </a:p>
          <a:p>
            <a:pPr marL="457200" indent="-457200" algn="just">
              <a:lnSpc>
                <a:spcPct val="100000"/>
              </a:lnSpc>
              <a:spcBef>
                <a:spcPts val="20"/>
              </a:spcBef>
              <a:buFont typeface="Arial" panose="020B0604020202020204" pitchFamily="34" charset="0"/>
              <a:buChar char="•"/>
            </a:pPr>
            <a:r>
              <a:rPr lang="es-ES" sz="1800">
                <a:latin typeface="Calibri "/>
                <a:cs typeface="Poppins" pitchFamily="2" charset="77"/>
                <a:hlinkClick r:id="rId3"/>
              </a:rPr>
              <a:t>Encuesta de Expectativas Económicas</a:t>
            </a:r>
            <a:endParaRPr lang="es-ES" sz="1800">
              <a:latin typeface="Calibri "/>
              <a:cs typeface="Poppins" pitchFamily="2" charset="77"/>
            </a:endParaRPr>
          </a:p>
          <a:p>
            <a:pPr marL="457200" indent="-457200" algn="just">
              <a:lnSpc>
                <a:spcPct val="100000"/>
              </a:lnSpc>
              <a:spcBef>
                <a:spcPts val="20"/>
              </a:spcBef>
              <a:buFont typeface="Arial" panose="020B0604020202020204" pitchFamily="34" charset="0"/>
              <a:buChar char="•"/>
            </a:pPr>
            <a:r>
              <a:rPr lang="es-ES" sz="1800">
                <a:latin typeface="Calibri "/>
                <a:cs typeface="Poppins" pitchFamily="2" charset="77"/>
                <a:hlinkClick r:id="rId3"/>
              </a:rPr>
              <a:t>Encuesta de Operadores Financieras</a:t>
            </a:r>
            <a:endParaRPr lang="es-ES" sz="1800">
              <a:latin typeface="Calibri "/>
              <a:cs typeface="Poppins" pitchFamily="2" charset="77"/>
            </a:endParaRPr>
          </a:p>
          <a:p>
            <a:pPr marL="457200" indent="-457200" algn="just">
              <a:lnSpc>
                <a:spcPct val="100000"/>
              </a:lnSpc>
              <a:spcBef>
                <a:spcPts val="20"/>
              </a:spcBef>
              <a:buFont typeface="Arial" panose="020B0604020202020204" pitchFamily="34" charset="0"/>
              <a:buChar char="•"/>
            </a:pPr>
            <a:r>
              <a:rPr lang="es-ES" sz="1800">
                <a:latin typeface="Calibri "/>
                <a:cs typeface="Poppins" pitchFamily="2" charset="77"/>
                <a:hlinkClick r:id="rId4"/>
              </a:rPr>
              <a:t>Informes FMI</a:t>
            </a:r>
            <a:endParaRPr lang="es-ES" sz="1800" dirty="0">
              <a:latin typeface="Calibri "/>
              <a:cs typeface="Poppins" pitchFamily="2" charset="77"/>
            </a:endParaRPr>
          </a:p>
        </p:txBody>
      </p:sp>
    </p:spTree>
    <p:extLst>
      <p:ext uri="{BB962C8B-B14F-4D97-AF65-F5344CB8AC3E}">
        <p14:creationId xmlns:p14="http://schemas.microsoft.com/office/powerpoint/2010/main" val="21027304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C48C1-87B9-CE0D-AE21-8F099EBC8C87}"/>
            </a:ext>
          </a:extLst>
        </p:cNvPr>
        <p:cNvGrpSpPr/>
        <p:nvPr/>
      </p:nvGrpSpPr>
      <p:grpSpPr>
        <a:xfrm>
          <a:off x="0" y="0"/>
          <a:ext cx="0" cy="0"/>
          <a:chOff x="0" y="0"/>
          <a:chExt cx="0" cy="0"/>
        </a:xfrm>
      </p:grpSpPr>
      <p:sp>
        <p:nvSpPr>
          <p:cNvPr id="4" name="CustomShape 1">
            <a:extLst>
              <a:ext uri="{FF2B5EF4-FFF2-40B4-BE49-F238E27FC236}">
                <a16:creationId xmlns:a16="http://schemas.microsoft.com/office/drawing/2014/main" id="{CE4B256B-72DE-15EE-313A-1D03D922B02B}"/>
              </a:ext>
            </a:extLst>
          </p:cNvPr>
          <p:cNvSpPr/>
          <p:nvPr/>
        </p:nvSpPr>
        <p:spPr>
          <a:xfrm>
            <a:off x="352080" y="524656"/>
            <a:ext cx="11025454" cy="95937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CL" sz="4400" b="1" spc="-1" noProof="0" dirty="0">
                <a:solidFill>
                  <a:srgbClr val="0034D9"/>
                </a:solidFill>
                <a:latin typeface="TT Wellingtons" panose="02000503020000020004" pitchFamily="2" charset="77"/>
                <a:ea typeface="DejaVu Sans"/>
              </a:rPr>
              <a:t>Cierre de la clase</a:t>
            </a:r>
          </a:p>
        </p:txBody>
      </p:sp>
      <p:sp>
        <p:nvSpPr>
          <p:cNvPr id="6" name="CustomShape 1">
            <a:extLst>
              <a:ext uri="{FF2B5EF4-FFF2-40B4-BE49-F238E27FC236}">
                <a16:creationId xmlns:a16="http://schemas.microsoft.com/office/drawing/2014/main" id="{6816097E-D537-5163-D0B6-49580F7FE81F}"/>
              </a:ext>
            </a:extLst>
          </p:cNvPr>
          <p:cNvSpPr/>
          <p:nvPr/>
        </p:nvSpPr>
        <p:spPr>
          <a:xfrm>
            <a:off x="352080" y="1377744"/>
            <a:ext cx="83361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s-ES" sz="2800" b="1" spc="-1" noProof="0" dirty="0">
                <a:solidFill>
                  <a:schemeClr val="tx1">
                    <a:lumMod val="75000"/>
                    <a:lumOff val="25000"/>
                  </a:schemeClr>
                </a:solidFill>
                <a:latin typeface="TT Wellingtons DemiBold" panose="02000503020000020004" pitchFamily="2" charset="77"/>
              </a:rPr>
              <a:t>Fechas relevantes</a:t>
            </a:r>
          </a:p>
        </p:txBody>
      </p:sp>
      <p:sp>
        <p:nvSpPr>
          <p:cNvPr id="5" name="CustomShape 2">
            <a:extLst>
              <a:ext uri="{FF2B5EF4-FFF2-40B4-BE49-F238E27FC236}">
                <a16:creationId xmlns:a16="http://schemas.microsoft.com/office/drawing/2014/main" id="{C557F2BE-0780-1187-5363-387CE4033DFD}"/>
              </a:ext>
            </a:extLst>
          </p:cNvPr>
          <p:cNvSpPr/>
          <p:nvPr/>
        </p:nvSpPr>
        <p:spPr>
          <a:xfrm>
            <a:off x="352080" y="2404086"/>
            <a:ext cx="11520130" cy="269678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457200" indent="-457200" algn="just">
              <a:lnSpc>
                <a:spcPct val="100000"/>
              </a:lnSpc>
              <a:spcBef>
                <a:spcPts val="20"/>
              </a:spcBef>
              <a:buFont typeface="Arial" panose="020B0604020202020204" pitchFamily="34" charset="0"/>
              <a:buChar char="•"/>
            </a:pPr>
            <a:endParaRPr lang="es-ES" sz="1800" dirty="0">
              <a:latin typeface="Calibri "/>
              <a:cs typeface="Poppins" pitchFamily="2" charset="77"/>
            </a:endParaRPr>
          </a:p>
        </p:txBody>
      </p:sp>
      <p:graphicFrame>
        <p:nvGraphicFramePr>
          <p:cNvPr id="2" name="Tabla 3">
            <a:extLst>
              <a:ext uri="{FF2B5EF4-FFF2-40B4-BE49-F238E27FC236}">
                <a16:creationId xmlns:a16="http://schemas.microsoft.com/office/drawing/2014/main" id="{17930711-BA65-761F-A8FF-B1D2AD9DA26B}"/>
              </a:ext>
            </a:extLst>
          </p:cNvPr>
          <p:cNvGraphicFramePr>
            <a:graphicFrameLocks noGrp="1"/>
          </p:cNvGraphicFramePr>
          <p:nvPr>
            <p:extLst>
              <p:ext uri="{D42A27DB-BD31-4B8C-83A1-F6EECF244321}">
                <p14:modId xmlns:p14="http://schemas.microsoft.com/office/powerpoint/2010/main" val="2107965360"/>
              </p:ext>
            </p:extLst>
          </p:nvPr>
        </p:nvGraphicFramePr>
        <p:xfrm>
          <a:off x="4634737" y="2400874"/>
          <a:ext cx="2922525" cy="1854200"/>
        </p:xfrm>
        <a:graphic>
          <a:graphicData uri="http://schemas.openxmlformats.org/drawingml/2006/table">
            <a:tbl>
              <a:tblPr firstRow="1" bandRow="1">
                <a:tableStyleId>{5C22544A-7EE6-4342-B048-85BDC9FD1C3A}</a:tableStyleId>
              </a:tblPr>
              <a:tblGrid>
                <a:gridCol w="917893">
                  <a:extLst>
                    <a:ext uri="{9D8B030D-6E8A-4147-A177-3AD203B41FA5}">
                      <a16:colId xmlns:a16="http://schemas.microsoft.com/office/drawing/2014/main" val="3110647669"/>
                    </a:ext>
                  </a:extLst>
                </a:gridCol>
                <a:gridCol w="2004632">
                  <a:extLst>
                    <a:ext uri="{9D8B030D-6E8A-4147-A177-3AD203B41FA5}">
                      <a16:colId xmlns:a16="http://schemas.microsoft.com/office/drawing/2014/main" val="153861139"/>
                    </a:ext>
                  </a:extLst>
                </a:gridCol>
              </a:tblGrid>
              <a:tr h="370840">
                <a:tc>
                  <a:txBody>
                    <a:bodyPr/>
                    <a:lstStyle/>
                    <a:p>
                      <a:r>
                        <a:rPr lang="es-ES" sz="1400" dirty="0">
                          <a:latin typeface="Calibri "/>
                          <a:cs typeface="Poppins" panose="00000500000000000000" pitchFamily="2" charset="0"/>
                        </a:rPr>
                        <a:t>Actividad</a:t>
                      </a:r>
                      <a:endParaRPr lang="en-US" sz="1400" dirty="0">
                        <a:latin typeface="Calibri "/>
                        <a:cs typeface="Poppins" panose="00000500000000000000" pitchFamily="2" charset="0"/>
                      </a:endParaRPr>
                    </a:p>
                  </a:txBody>
                  <a:tcPr/>
                </a:tc>
                <a:tc>
                  <a:txBody>
                    <a:bodyPr/>
                    <a:lstStyle/>
                    <a:p>
                      <a:r>
                        <a:rPr lang="es-ES" sz="1400" dirty="0">
                          <a:latin typeface="Calibri "/>
                          <a:cs typeface="Poppins" panose="00000500000000000000" pitchFamily="2" charset="0"/>
                        </a:rPr>
                        <a:t>Detalle</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3214525700"/>
                  </a:ext>
                </a:extLst>
              </a:tr>
              <a:tr h="370840">
                <a:tc>
                  <a:txBody>
                    <a:bodyPr/>
                    <a:lstStyle/>
                    <a:p>
                      <a:r>
                        <a:rPr lang="es-ES" sz="1400" dirty="0">
                          <a:latin typeface="Calibri "/>
                          <a:cs typeface="Poppins" panose="00000500000000000000" pitchFamily="2" charset="0"/>
                        </a:rPr>
                        <a:t>Clase 1</a:t>
                      </a:r>
                      <a:endParaRPr lang="en-US" sz="1400" dirty="0">
                        <a:latin typeface="Calibri "/>
                        <a:cs typeface="Poppins" panose="00000500000000000000" pitchFamily="2" charset="0"/>
                      </a:endParaRPr>
                    </a:p>
                  </a:txBody>
                  <a:tcPr/>
                </a:tc>
                <a:tc>
                  <a:txBody>
                    <a:bodyPr/>
                    <a:lstStyle/>
                    <a:p>
                      <a:r>
                        <a:rPr lang="es-ES" sz="1400" dirty="0">
                          <a:latin typeface="Calibri "/>
                          <a:cs typeface="Poppins" panose="00000500000000000000" pitchFamily="2" charset="0"/>
                        </a:rPr>
                        <a:t>Generación de grupos</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2382146069"/>
                  </a:ext>
                </a:extLst>
              </a:tr>
              <a:tr h="370840">
                <a:tc>
                  <a:txBody>
                    <a:bodyPr/>
                    <a:lstStyle/>
                    <a:p>
                      <a:r>
                        <a:rPr lang="es-ES" sz="1400" dirty="0">
                          <a:latin typeface="Calibri "/>
                          <a:cs typeface="Poppins" panose="00000500000000000000" pitchFamily="2" charset="0"/>
                        </a:rPr>
                        <a:t>Clase 2</a:t>
                      </a:r>
                      <a:endParaRPr lang="en-US" sz="1400" dirty="0">
                        <a:latin typeface="Calibri "/>
                        <a:cs typeface="Poppins" panose="00000500000000000000" pitchFamily="2"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s-ES" sz="1400" dirty="0">
                          <a:latin typeface="Calibri "/>
                          <a:cs typeface="Poppins" panose="00000500000000000000" pitchFamily="2" charset="0"/>
                        </a:rPr>
                        <a:t>Caso formativo en clases</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2408892115"/>
                  </a:ext>
                </a:extLst>
              </a:tr>
              <a:tr h="370840">
                <a:tc>
                  <a:txBody>
                    <a:bodyPr/>
                    <a:lstStyle/>
                    <a:p>
                      <a:r>
                        <a:rPr lang="es-ES" sz="1400" dirty="0">
                          <a:latin typeface="Calibri "/>
                          <a:cs typeface="Poppins" panose="00000500000000000000" pitchFamily="2" charset="0"/>
                        </a:rPr>
                        <a:t>Clase 3</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endParaRPr lang="en-US" sz="1400" dirty="0">
                        <a:latin typeface="Calibri "/>
                        <a:cs typeface="Poppins" panose="00000500000000000000" pitchFamily="2" charset="0"/>
                      </a:endParaRPr>
                    </a:p>
                  </a:txBody>
                  <a:tcPr/>
                </a:tc>
                <a:extLst>
                  <a:ext uri="{0D108BD9-81ED-4DB2-BD59-A6C34878D82A}">
                    <a16:rowId xmlns:a16="http://schemas.microsoft.com/office/drawing/2014/main" val="742442855"/>
                  </a:ext>
                </a:extLst>
              </a:tr>
              <a:tr h="370840">
                <a:tc>
                  <a:txBody>
                    <a:bodyPr/>
                    <a:lstStyle/>
                    <a:p>
                      <a:r>
                        <a:rPr lang="es-ES" sz="1400" dirty="0">
                          <a:latin typeface="Calibri "/>
                          <a:cs typeface="Poppins" panose="00000500000000000000" pitchFamily="2" charset="0"/>
                        </a:rPr>
                        <a:t>Clase 4</a:t>
                      </a:r>
                      <a:endParaRPr lang="en-US" sz="1400" dirty="0">
                        <a:latin typeface="Calibri "/>
                        <a:cs typeface="Poppins" panose="00000500000000000000" pitchFamily="2" charset="0"/>
                      </a:endParaRP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s-ES" sz="1400" dirty="0">
                          <a:latin typeface="Calibri "/>
                          <a:cs typeface="Poppins" panose="00000500000000000000" pitchFamily="2" charset="0"/>
                        </a:rPr>
                        <a:t>Caso sumativo en clases</a:t>
                      </a:r>
                      <a:endParaRPr lang="en-US" sz="1400" dirty="0">
                        <a:latin typeface="Calibri "/>
                        <a:cs typeface="Poppins" panose="00000500000000000000" pitchFamily="2" charset="0"/>
                      </a:endParaRPr>
                    </a:p>
                  </a:txBody>
                  <a:tcPr/>
                </a:tc>
                <a:extLst>
                  <a:ext uri="{0D108BD9-81ED-4DB2-BD59-A6C34878D82A}">
                    <a16:rowId xmlns:a16="http://schemas.microsoft.com/office/drawing/2014/main" val="541233380"/>
                  </a:ext>
                </a:extLst>
              </a:tr>
            </a:tbl>
          </a:graphicData>
        </a:graphic>
      </p:graphicFrame>
    </p:spTree>
    <p:extLst>
      <p:ext uri="{BB962C8B-B14F-4D97-AF65-F5344CB8AC3E}">
        <p14:creationId xmlns:p14="http://schemas.microsoft.com/office/powerpoint/2010/main" val="25778007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0034D9"/>
        </a:solidFill>
        <a:effectLst/>
      </p:bgPr>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5821B569-96F7-90A0-0468-AA5B2544D8E7}"/>
              </a:ext>
            </a:extLst>
          </p:cNvPr>
          <p:cNvPicPr>
            <a:picLocks noChangeAspect="1"/>
          </p:cNvPicPr>
          <p:nvPr/>
        </p:nvPicPr>
        <p:blipFill>
          <a:blip r:embed="rId2">
            <a:alphaModFix amt="10000"/>
          </a:blip>
          <a:stretch>
            <a:fillRect/>
          </a:stretch>
        </p:blipFill>
        <p:spPr>
          <a:xfrm>
            <a:off x="1101437" y="-2208"/>
            <a:ext cx="9518072" cy="6864953"/>
          </a:xfrm>
          <a:prstGeom prst="rect">
            <a:avLst/>
          </a:prstGeom>
        </p:spPr>
      </p:pic>
      <p:pic>
        <p:nvPicPr>
          <p:cNvPr id="2" name="Imagen 1">
            <a:extLst>
              <a:ext uri="{FF2B5EF4-FFF2-40B4-BE49-F238E27FC236}">
                <a16:creationId xmlns:a16="http://schemas.microsoft.com/office/drawing/2014/main" id="{7CAC839E-3191-D254-0197-178399341A19}"/>
              </a:ext>
            </a:extLst>
          </p:cNvPr>
          <p:cNvPicPr>
            <a:picLocks noChangeAspect="1"/>
          </p:cNvPicPr>
          <p:nvPr/>
        </p:nvPicPr>
        <p:blipFill>
          <a:blip r:embed="rId3"/>
          <a:stretch>
            <a:fillRect/>
          </a:stretch>
        </p:blipFill>
        <p:spPr>
          <a:xfrm>
            <a:off x="3807214" y="3047936"/>
            <a:ext cx="4577567" cy="759883"/>
          </a:xfrm>
          <a:prstGeom prst="rect">
            <a:avLst/>
          </a:prstGeom>
        </p:spPr>
      </p:pic>
      <p:pic>
        <p:nvPicPr>
          <p:cNvPr id="9" name="Imagen 8">
            <a:extLst>
              <a:ext uri="{FF2B5EF4-FFF2-40B4-BE49-F238E27FC236}">
                <a16:creationId xmlns:a16="http://schemas.microsoft.com/office/drawing/2014/main" id="{C4B33A5B-C356-85A5-B065-D0F9F102E0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52468" y="5181583"/>
            <a:ext cx="3487057" cy="494434"/>
          </a:xfrm>
          <a:prstGeom prst="rect">
            <a:avLst/>
          </a:prstGeom>
        </p:spPr>
      </p:pic>
      <p:sp>
        <p:nvSpPr>
          <p:cNvPr id="3" name="CuadroTexto 2">
            <a:extLst>
              <a:ext uri="{FF2B5EF4-FFF2-40B4-BE49-F238E27FC236}">
                <a16:creationId xmlns:a16="http://schemas.microsoft.com/office/drawing/2014/main" id="{FDF4C6F9-E4EC-022C-FADA-AE01526403FC}"/>
              </a:ext>
            </a:extLst>
          </p:cNvPr>
          <p:cNvSpPr txBox="1"/>
          <p:nvPr/>
        </p:nvSpPr>
        <p:spPr>
          <a:xfrm>
            <a:off x="581886" y="4293890"/>
            <a:ext cx="11028219" cy="461665"/>
          </a:xfrm>
          <a:prstGeom prst="rect">
            <a:avLst/>
          </a:prstGeom>
          <a:noFill/>
        </p:spPr>
        <p:txBody>
          <a:bodyPr wrap="square" rtlCol="0">
            <a:spAutoFit/>
          </a:bodyPr>
          <a:lstStyle/>
          <a:p>
            <a:pPr algn="ctr"/>
            <a:r>
              <a:rPr lang="es-CL" sz="2400" b="1" dirty="0" err="1">
                <a:solidFill>
                  <a:schemeClr val="bg1"/>
                </a:solidFill>
                <a:latin typeface="TT Wellingtons" panose="020B0103030000020004" pitchFamily="34" charset="0"/>
              </a:rPr>
              <a:t>unegocios.uchile.cl</a:t>
            </a:r>
            <a:endParaRPr lang="es-CL" sz="2400" b="1" dirty="0">
              <a:solidFill>
                <a:schemeClr val="bg1"/>
              </a:solidFill>
              <a:latin typeface="TT Wellingtons" panose="020B0103030000020004" pitchFamily="34" charset="0"/>
            </a:endParaRPr>
          </a:p>
        </p:txBody>
      </p:sp>
    </p:spTree>
    <p:extLst>
      <p:ext uri="{BB962C8B-B14F-4D97-AF65-F5344CB8AC3E}">
        <p14:creationId xmlns:p14="http://schemas.microsoft.com/office/powerpoint/2010/main" val="373978741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437</TotalTime>
  <Words>2922</Words>
  <Application>Microsoft Office PowerPoint</Application>
  <PresentationFormat>Panorámica</PresentationFormat>
  <Paragraphs>377</Paragraphs>
  <Slides>41</Slides>
  <Notes>0</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41</vt:i4>
      </vt:variant>
    </vt:vector>
  </HeadingPairs>
  <TitlesOfParts>
    <vt:vector size="52" baseType="lpstr">
      <vt:lpstr>Aptos</vt:lpstr>
      <vt:lpstr>Arial</vt:lpstr>
      <vt:lpstr>Calibri</vt:lpstr>
      <vt:lpstr>Calibri </vt:lpstr>
      <vt:lpstr>Calibri Light</vt:lpstr>
      <vt:lpstr>Cambria Math</vt:lpstr>
      <vt:lpstr>Colibri</vt:lpstr>
      <vt:lpstr>Poppins</vt:lpstr>
      <vt:lpstr>TT Wellingtons</vt:lpstr>
      <vt:lpstr>TT Wellingtons DemiBold</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Carolina Castro Devivo</dc:creator>
  <cp:lastModifiedBy>Sebastian EgaÃ±a SantibaÃ±ez</cp:lastModifiedBy>
  <cp:revision>21</cp:revision>
  <dcterms:created xsi:type="dcterms:W3CDTF">2023-05-02T20:09:29Z</dcterms:created>
  <dcterms:modified xsi:type="dcterms:W3CDTF">2025-09-01T21:22:14Z</dcterms:modified>
</cp:coreProperties>
</file>